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801600" cy="9601200" type="A3"/>
  <p:notesSz cx="6784975" cy="985678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  <a:srgbClr val="C0504D"/>
    <a:srgbClr val="FF6600"/>
    <a:srgbClr val="FFFFCC"/>
    <a:srgbClr val="3399FF"/>
    <a:srgbClr val="0066CC"/>
    <a:srgbClr val="3366FF"/>
    <a:srgbClr val="FFFF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93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896" y="110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438" y="2982913"/>
            <a:ext cx="10880725" cy="205740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875" y="5440363"/>
            <a:ext cx="8959850" cy="2454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BA409-1064-4FB0-B248-72623E29743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52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C683F-963F-4CE7-BEE3-F733A00BFC6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66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8" y="6169025"/>
            <a:ext cx="10880725" cy="19081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8" y="4068763"/>
            <a:ext cx="10880725" cy="21002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2CA02-5FF4-4CB3-BBDC-E732233ECD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00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9763" y="2239963"/>
            <a:ext cx="5684837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77000" y="2239963"/>
            <a:ext cx="5684838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B93FC-D40F-48A2-B493-D181DDCF283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36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9763" y="2149475"/>
            <a:ext cx="5656262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9763" y="3044825"/>
            <a:ext cx="5656262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2400" y="2149475"/>
            <a:ext cx="5659438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2400" y="3044825"/>
            <a:ext cx="5659438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B9881-D9D8-4C87-82EA-8FC4F47B0C8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93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A1AF3-0286-47F4-806E-C99AF309494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49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A70BE-114D-4FF9-B5B3-717942FA58E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37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9763" y="382588"/>
            <a:ext cx="4211637" cy="16271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388" y="382588"/>
            <a:ext cx="7156450" cy="81946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9763" y="2009775"/>
            <a:ext cx="4211637" cy="6567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C7AB5-E75B-43F7-87B3-CE03D5F209D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69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838" y="6721475"/>
            <a:ext cx="7680325" cy="7921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838" y="857250"/>
            <a:ext cx="7680325" cy="5761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838" y="7513638"/>
            <a:ext cx="7680325" cy="1127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39E76-52D1-4D06-9C3E-5A531271DD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06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89604-47A6-4D90-B62B-486D3EDF615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57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2113" y="384175"/>
            <a:ext cx="2879725" cy="819308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39763" y="384175"/>
            <a:ext cx="8489950" cy="819308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9F3FCF-09DF-46E6-A61E-5D81F8A128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14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9763" y="384175"/>
            <a:ext cx="115220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2239963"/>
            <a:ext cx="11522075" cy="633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9763" y="8743950"/>
            <a:ext cx="29876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defTabSz="1279525">
              <a:defRPr sz="20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563" y="8743950"/>
            <a:ext cx="40544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ctr" defTabSz="1279525">
              <a:defRPr sz="20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163" y="8743950"/>
            <a:ext cx="29876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r" defTabSz="1279525">
              <a:defRPr sz="2000"/>
            </a:lvl1pPr>
          </a:lstStyle>
          <a:p>
            <a:pPr>
              <a:defRPr/>
            </a:pPr>
            <a:fld id="{6B99FFD8-7DF2-404D-837E-6A2B412161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2pPr>
      <a:lvl3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3pPr>
      <a:lvl4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4pPr>
      <a:lvl5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5pPr>
      <a:lvl6pPr marL="4572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6pPr>
      <a:lvl7pPr marL="9144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7pPr>
      <a:lvl8pPr marL="13716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8pPr>
      <a:lvl9pPr marL="18288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9pPr>
    </p:titleStyle>
    <p:bodyStyle>
      <a:lvl1pPr marL="479425" indent="-47942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45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00050" algn="l" defTabSz="1279525" rtl="0" eaLnBrk="0" fontAlgn="base" hangingPunct="0">
        <a:spcBef>
          <a:spcPct val="20000"/>
        </a:spcBef>
        <a:spcAft>
          <a:spcPct val="0"/>
        </a:spcAft>
        <a:buChar char="–"/>
        <a:defRPr sz="3900">
          <a:solidFill>
            <a:schemeClr val="tx1"/>
          </a:solidFill>
          <a:latin typeface="+mn-lt"/>
        </a:defRPr>
      </a:lvl2pPr>
      <a:lvl3pPr marL="1600200" indent="-32067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</a:defRPr>
      </a:lvl3pPr>
      <a:lvl4pPr marL="2239963" indent="-319088" algn="l" defTabSz="1279525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4pPr>
      <a:lvl5pPr marL="2879725" indent="-319088" algn="l" defTabSz="1279525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5pPr>
      <a:lvl6pPr marL="33369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6pPr>
      <a:lvl7pPr marL="37941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7pPr>
      <a:lvl8pPr marL="42513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8pPr>
      <a:lvl9pPr marL="47085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png"/><Relationship Id="rId5" Type="http://schemas.openxmlformats.org/officeDocument/2006/relationships/image" Target="../media/image2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à coins arrondis 102"/>
          <p:cNvSpPr/>
          <p:nvPr/>
        </p:nvSpPr>
        <p:spPr bwMode="auto">
          <a:xfrm>
            <a:off x="179277" y="5208695"/>
            <a:ext cx="1368000" cy="26369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/>
          </a:p>
        </p:txBody>
      </p:sp>
      <p:sp>
        <p:nvSpPr>
          <p:cNvPr id="301" name="Rectangle à coins arrondis 102"/>
          <p:cNvSpPr/>
          <p:nvPr/>
        </p:nvSpPr>
        <p:spPr bwMode="auto">
          <a:xfrm>
            <a:off x="2084176" y="5220584"/>
            <a:ext cx="1368000" cy="26369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/>
          </a:p>
        </p:txBody>
      </p:sp>
      <p:sp>
        <p:nvSpPr>
          <p:cNvPr id="242" name="Rectangle à coins arrondis 102"/>
          <p:cNvSpPr/>
          <p:nvPr/>
        </p:nvSpPr>
        <p:spPr bwMode="auto">
          <a:xfrm>
            <a:off x="4096424" y="5201475"/>
            <a:ext cx="2294824" cy="2680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/>
          </a:p>
        </p:txBody>
      </p:sp>
      <p:sp>
        <p:nvSpPr>
          <p:cNvPr id="2053" name="Rectangle 75"/>
          <p:cNvSpPr>
            <a:spLocks noChangeArrowheads="1"/>
          </p:cNvSpPr>
          <p:nvPr/>
        </p:nvSpPr>
        <p:spPr bwMode="auto">
          <a:xfrm>
            <a:off x="92554" y="1775345"/>
            <a:ext cx="2621821" cy="284163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4" name="ZoneTexte 114"/>
          <p:cNvSpPr txBox="1">
            <a:spLocks noChangeArrowheads="1"/>
          </p:cNvSpPr>
          <p:nvPr/>
        </p:nvSpPr>
        <p:spPr bwMode="auto">
          <a:xfrm>
            <a:off x="4926446" y="163513"/>
            <a:ext cx="3093170" cy="400050"/>
          </a:xfrm>
          <a:prstGeom prst="rect">
            <a:avLst/>
          </a:prstGeom>
          <a:solidFill>
            <a:srgbClr val="3399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2000" b="1" u="sng" dirty="0">
                <a:solidFill>
                  <a:schemeClr val="bg1"/>
                </a:solidFill>
                <a:latin typeface="Calibri" pitchFamily="34" charset="0"/>
              </a:rPr>
              <a:t>LOI TRAPEZE</a:t>
            </a:r>
          </a:p>
        </p:txBody>
      </p:sp>
      <p:sp>
        <p:nvSpPr>
          <p:cNvPr id="2055" name="Text Box 246"/>
          <p:cNvSpPr txBox="1">
            <a:spLocks noChangeArrowheads="1"/>
          </p:cNvSpPr>
          <p:nvPr/>
        </p:nvSpPr>
        <p:spPr bwMode="auto">
          <a:xfrm>
            <a:off x="-22225" y="11113"/>
            <a:ext cx="23907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1279525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1279525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1279525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1279525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400" i="1" u="sng" dirty="0">
                <a:solidFill>
                  <a:schemeClr val="bg2"/>
                </a:solidFill>
                <a:latin typeface="Calibri" pitchFamily="34" charset="0"/>
              </a:rPr>
              <a:t>ATS - Lycée R.DOISNEAU</a:t>
            </a:r>
          </a:p>
        </p:txBody>
      </p: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6472050" y="919163"/>
            <a:ext cx="144463" cy="84963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2059" name="Rectangle 75"/>
          <p:cNvSpPr>
            <a:spLocks noChangeArrowheads="1"/>
          </p:cNvSpPr>
          <p:nvPr/>
        </p:nvSpPr>
        <p:spPr bwMode="auto">
          <a:xfrm>
            <a:off x="79836" y="947326"/>
            <a:ext cx="1057275" cy="276225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0" name="ZoneTexte 21"/>
          <p:cNvSpPr txBox="1">
            <a:spLocks noChangeArrowheads="1"/>
          </p:cNvSpPr>
          <p:nvPr/>
        </p:nvSpPr>
        <p:spPr bwMode="auto">
          <a:xfrm>
            <a:off x="0" y="916496"/>
            <a:ext cx="1734731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Objectifs</a:t>
            </a:r>
          </a:p>
        </p:txBody>
      </p:sp>
      <p:sp>
        <p:nvSpPr>
          <p:cNvPr id="2061" name="ZoneTexte 99"/>
          <p:cNvSpPr txBox="1">
            <a:spLocks noChangeArrowheads="1"/>
          </p:cNvSpPr>
          <p:nvPr/>
        </p:nvSpPr>
        <p:spPr bwMode="auto">
          <a:xfrm>
            <a:off x="-7938" y="1217201"/>
            <a:ext cx="64087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dirty="0">
                <a:latin typeface="Calibri" pitchFamily="34" charset="0"/>
              </a:rPr>
              <a:t>Pour les mouvements élémentaires,  on peut déterminer les 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</a:rPr>
              <a:t>équations horaires du mouvement</a:t>
            </a:r>
            <a:r>
              <a:rPr lang="fr-FR" sz="1400" b="1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063" name="ZoneTexte 21"/>
          <p:cNvSpPr txBox="1">
            <a:spLocks noChangeArrowheads="1"/>
          </p:cNvSpPr>
          <p:nvPr/>
        </p:nvSpPr>
        <p:spPr bwMode="auto">
          <a:xfrm>
            <a:off x="41755" y="1740421"/>
            <a:ext cx="27264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Mouvement de translation </a:t>
            </a:r>
          </a:p>
        </p:txBody>
      </p:sp>
      <p:sp>
        <p:nvSpPr>
          <p:cNvPr id="2064" name="Rectangle 121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65" name="Rectangle 123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66" name="Rectangle 125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67" name="Rectangle 129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68" name="Rectangle 135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69" name="Rectangle 159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70" name="Rectangle 106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81" name="Text Box 308"/>
          <p:cNvSpPr txBox="1">
            <a:spLocks noChangeArrowheads="1"/>
          </p:cNvSpPr>
          <p:nvPr/>
        </p:nvSpPr>
        <p:spPr bwMode="auto">
          <a:xfrm>
            <a:off x="6608024" y="6266932"/>
            <a:ext cx="210993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400" b="1" dirty="0">
                <a:solidFill>
                  <a:srgbClr val="E46C0A"/>
                </a:solidFill>
                <a:latin typeface="Calibri" pitchFamily="34" charset="0"/>
                <a:sym typeface="Wingdings" pitchFamily="2" charset="2"/>
              </a:rPr>
              <a:t> Aire t</a:t>
            </a:r>
            <a:r>
              <a:rPr lang="fr-FR" sz="1400" b="1" dirty="0">
                <a:solidFill>
                  <a:srgbClr val="E46C0A"/>
                </a:solidFill>
                <a:latin typeface="Calibri" pitchFamily="34" charset="0"/>
              </a:rPr>
              <a:t>riangle rectangle</a:t>
            </a:r>
          </a:p>
        </p:txBody>
      </p:sp>
      <p:sp>
        <p:nvSpPr>
          <p:cNvPr id="2094" name="Rectangle 148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097" name="Rectangle 150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03" name="Rectangle 174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05" name="Rectangle 176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11" name="Rectangle 180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13" name="Rectangle 182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19" name="Rectangle 186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21" name="Rectangle 188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28" name="Rectangle 192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30" name="Rectangle 194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35" name="Rectangle 198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37" name="Rectangle 200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46" name="Rectangle 204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48" name="Rectangle 206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53" name="Rectangle 210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55" name="Rectangle 212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61" name="Rectangle 216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63" name="Rectangle 218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69" name="Rectangle 222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71" name="Rectangle 224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175" name="Text Box 355"/>
          <p:cNvSpPr txBox="1">
            <a:spLocks noChangeArrowheads="1"/>
          </p:cNvSpPr>
          <p:nvPr/>
        </p:nvSpPr>
        <p:spPr bwMode="auto">
          <a:xfrm>
            <a:off x="-1" y="2070269"/>
            <a:ext cx="173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Uniforme</a:t>
            </a:r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 (MTU)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66" name="ZoneTexte 365"/>
          <p:cNvSpPr txBox="1">
            <a:spLocks noChangeArrowheads="1"/>
          </p:cNvSpPr>
          <p:nvPr/>
        </p:nvSpPr>
        <p:spPr bwMode="auto">
          <a:xfrm>
            <a:off x="-10378" y="2324588"/>
            <a:ext cx="64111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itchFamily="34" charset="0"/>
              </a:rPr>
              <a:t>Mouvement de translation rectiligne pour lequel la </a:t>
            </a:r>
            <a:r>
              <a:rPr lang="fr-FR" sz="1400" b="1" dirty="0">
                <a:latin typeface="Calibri" pitchFamily="34" charset="0"/>
              </a:rPr>
              <a:t>vitesse V</a:t>
            </a:r>
            <a:r>
              <a:rPr lang="fr-FR" sz="1400" b="1" baseline="-25000" dirty="0">
                <a:latin typeface="Calibri" pitchFamily="34" charset="0"/>
              </a:rPr>
              <a:t>0</a:t>
            </a:r>
            <a:r>
              <a:rPr lang="fr-FR" sz="1400" b="1" dirty="0">
                <a:latin typeface="Calibri" pitchFamily="34" charset="0"/>
              </a:rPr>
              <a:t> </a:t>
            </a:r>
            <a:r>
              <a:rPr lang="fr-FR" sz="1400" dirty="0">
                <a:latin typeface="Calibri" pitchFamily="34" charset="0"/>
              </a:rPr>
              <a:t>est constante</a:t>
            </a:r>
          </a:p>
        </p:txBody>
      </p:sp>
      <p:sp>
        <p:nvSpPr>
          <p:cNvPr id="193" name="AutoShape 2"/>
          <p:cNvSpPr>
            <a:spLocks noChangeArrowheads="1"/>
          </p:cNvSpPr>
          <p:nvPr/>
        </p:nvSpPr>
        <p:spPr bwMode="auto">
          <a:xfrm>
            <a:off x="1839892" y="2632365"/>
            <a:ext cx="72000" cy="1656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194" name="AutoShape 2"/>
          <p:cNvSpPr>
            <a:spLocks noChangeArrowheads="1"/>
          </p:cNvSpPr>
          <p:nvPr/>
        </p:nvSpPr>
        <p:spPr bwMode="auto">
          <a:xfrm>
            <a:off x="3975134" y="2632365"/>
            <a:ext cx="72000" cy="1656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195" name="ZoneTexte 194"/>
          <p:cNvSpPr txBox="1">
            <a:spLocks noChangeArrowheads="1"/>
          </p:cNvSpPr>
          <p:nvPr/>
        </p:nvSpPr>
        <p:spPr bwMode="auto">
          <a:xfrm>
            <a:off x="4615" y="2632365"/>
            <a:ext cx="18500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Accélération</a:t>
            </a:r>
          </a:p>
          <a:p>
            <a:pPr algn="ctr" eaLnBrk="1" hangingPunct="1"/>
            <a:r>
              <a:rPr lang="fr-FR" sz="1400" dirty="0">
                <a:latin typeface="Calibri" pitchFamily="34" charset="0"/>
              </a:rPr>
              <a:t>a(t) = 0</a:t>
            </a:r>
          </a:p>
        </p:txBody>
      </p:sp>
      <p:sp>
        <p:nvSpPr>
          <p:cNvPr id="196" name="ZoneTexte 195"/>
          <p:cNvSpPr txBox="1">
            <a:spLocks noChangeArrowheads="1"/>
          </p:cNvSpPr>
          <p:nvPr/>
        </p:nvSpPr>
        <p:spPr bwMode="auto">
          <a:xfrm>
            <a:off x="1962796" y="2642496"/>
            <a:ext cx="1997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Vitesse</a:t>
            </a:r>
          </a:p>
        </p:txBody>
      </p:sp>
      <p:sp>
        <p:nvSpPr>
          <p:cNvPr id="197" name="ZoneTexte 196"/>
          <p:cNvSpPr txBox="1">
            <a:spLocks noChangeArrowheads="1"/>
          </p:cNvSpPr>
          <p:nvPr/>
        </p:nvSpPr>
        <p:spPr bwMode="auto">
          <a:xfrm>
            <a:off x="4196822" y="2642496"/>
            <a:ext cx="1997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Position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1918552" y="2908591"/>
            <a:ext cx="2005318" cy="1484488"/>
            <a:chOff x="2228260" y="2893843"/>
            <a:chExt cx="2005318" cy="1484488"/>
          </a:xfrm>
        </p:grpSpPr>
        <p:cxnSp>
          <p:nvCxnSpPr>
            <p:cNvPr id="5" name="AutoShape 10119"/>
            <p:cNvCxnSpPr>
              <a:cxnSpLocks noChangeShapeType="1"/>
            </p:cNvCxnSpPr>
            <p:nvPr/>
          </p:nvCxnSpPr>
          <p:spPr bwMode="auto">
            <a:xfrm flipV="1">
              <a:off x="2545557" y="3160456"/>
              <a:ext cx="0" cy="9001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AutoShape 10120"/>
            <p:cNvCxnSpPr>
              <a:cxnSpLocks noChangeShapeType="1"/>
            </p:cNvCxnSpPr>
            <p:nvPr/>
          </p:nvCxnSpPr>
          <p:spPr bwMode="auto">
            <a:xfrm flipV="1">
              <a:off x="2545557" y="4055806"/>
              <a:ext cx="138826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AutoShape 10124"/>
            <p:cNvCxnSpPr>
              <a:cxnSpLocks noChangeShapeType="1"/>
            </p:cNvCxnSpPr>
            <p:nvPr/>
          </p:nvCxnSpPr>
          <p:spPr bwMode="auto">
            <a:xfrm>
              <a:off x="2840832" y="4031994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AutoShape 10125"/>
            <p:cNvCxnSpPr>
              <a:cxnSpLocks noChangeShapeType="1"/>
            </p:cNvCxnSpPr>
            <p:nvPr/>
          </p:nvCxnSpPr>
          <p:spPr bwMode="auto">
            <a:xfrm>
              <a:off x="3498057" y="4031994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10126"/>
            <p:cNvCxnSpPr>
              <a:cxnSpLocks noChangeShapeType="1"/>
            </p:cNvCxnSpPr>
            <p:nvPr/>
          </p:nvCxnSpPr>
          <p:spPr bwMode="auto">
            <a:xfrm>
              <a:off x="2840832" y="3479544"/>
              <a:ext cx="657225" cy="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10127"/>
            <p:cNvCxnSpPr>
              <a:cxnSpLocks noChangeShapeType="1"/>
            </p:cNvCxnSpPr>
            <p:nvPr/>
          </p:nvCxnSpPr>
          <p:spPr bwMode="auto">
            <a:xfrm flipV="1">
              <a:off x="2840832" y="3479544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10128"/>
            <p:cNvCxnSpPr>
              <a:cxnSpLocks noChangeShapeType="1"/>
            </p:cNvCxnSpPr>
            <p:nvPr/>
          </p:nvCxnSpPr>
          <p:spPr bwMode="auto">
            <a:xfrm flipV="1">
              <a:off x="3498057" y="3489069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0130"/>
            <p:cNvCxnSpPr>
              <a:cxnSpLocks noChangeShapeType="1"/>
            </p:cNvCxnSpPr>
            <p:nvPr/>
          </p:nvCxnSpPr>
          <p:spPr bwMode="auto">
            <a:xfrm flipV="1">
              <a:off x="2507457" y="3474781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10121"/>
            <p:cNvSpPr txBox="1">
              <a:spLocks noChangeArrowheads="1"/>
            </p:cNvSpPr>
            <p:nvPr/>
          </p:nvSpPr>
          <p:spPr bwMode="auto">
            <a:xfrm>
              <a:off x="3919253" y="3913823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 Box 10131"/>
            <p:cNvSpPr txBox="1">
              <a:spLocks noChangeArrowheads="1"/>
            </p:cNvSpPr>
            <p:nvPr/>
          </p:nvSpPr>
          <p:spPr bwMode="auto">
            <a:xfrm>
              <a:off x="2228260" y="3320432"/>
              <a:ext cx="4365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373447" y="2893843"/>
              <a:ext cx="11637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v(t) = </a:t>
              </a:r>
              <a:r>
                <a:rPr lang="fr-FR" sz="1400" dirty="0" err="1">
                  <a:solidFill>
                    <a:srgbClr val="000000"/>
                  </a:solidFill>
                  <a:latin typeface="Calibri" pitchFamily="34" charset="0"/>
                </a:rPr>
                <a:t>cte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 = V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18" name="Text Box 10123"/>
            <p:cNvSpPr txBox="1">
              <a:spLocks noChangeArrowheads="1"/>
            </p:cNvSpPr>
            <p:nvPr/>
          </p:nvSpPr>
          <p:spPr bwMode="auto">
            <a:xfrm>
              <a:off x="2698417" y="4070554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5" name="Groupe 24"/>
          <p:cNvGrpSpPr/>
          <p:nvPr/>
        </p:nvGrpSpPr>
        <p:grpSpPr>
          <a:xfrm>
            <a:off x="4026114" y="2901008"/>
            <a:ext cx="2166705" cy="1496834"/>
            <a:chOff x="4306326" y="2886260"/>
            <a:chExt cx="2166705" cy="1496834"/>
          </a:xfrm>
        </p:grpSpPr>
        <p:sp>
          <p:nvSpPr>
            <p:cNvPr id="19" name="Rectangle 18"/>
            <p:cNvSpPr/>
            <p:nvPr/>
          </p:nvSpPr>
          <p:spPr>
            <a:xfrm>
              <a:off x="4447724" y="2886260"/>
              <a:ext cx="1454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x(t) = V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(t-t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)+X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cxnSp>
          <p:nvCxnSpPr>
            <p:cNvPr id="29" name="AutoShape 10135"/>
            <p:cNvCxnSpPr>
              <a:cxnSpLocks noChangeShapeType="1"/>
            </p:cNvCxnSpPr>
            <p:nvPr/>
          </p:nvCxnSpPr>
          <p:spPr bwMode="auto">
            <a:xfrm flipV="1">
              <a:off x="4624699" y="3172029"/>
              <a:ext cx="0" cy="8985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10136"/>
            <p:cNvCxnSpPr>
              <a:cxnSpLocks noChangeShapeType="1"/>
            </p:cNvCxnSpPr>
            <p:nvPr/>
          </p:nvCxnSpPr>
          <p:spPr bwMode="auto">
            <a:xfrm>
              <a:off x="4624699" y="4070554"/>
              <a:ext cx="143986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10140"/>
            <p:cNvCxnSpPr>
              <a:cxnSpLocks noChangeShapeType="1"/>
            </p:cNvCxnSpPr>
            <p:nvPr/>
          </p:nvCxnSpPr>
          <p:spPr bwMode="auto">
            <a:xfrm>
              <a:off x="4919974" y="4041979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10141"/>
            <p:cNvCxnSpPr>
              <a:cxnSpLocks noChangeShapeType="1"/>
            </p:cNvCxnSpPr>
            <p:nvPr/>
          </p:nvCxnSpPr>
          <p:spPr bwMode="auto">
            <a:xfrm>
              <a:off x="5577199" y="4041979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0142"/>
            <p:cNvCxnSpPr>
              <a:cxnSpLocks noChangeShapeType="1"/>
            </p:cNvCxnSpPr>
            <p:nvPr/>
          </p:nvCxnSpPr>
          <p:spPr bwMode="auto">
            <a:xfrm flipV="1">
              <a:off x="4919974" y="3489529"/>
              <a:ext cx="657225" cy="39370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AutoShape 10143"/>
            <p:cNvCxnSpPr>
              <a:cxnSpLocks noChangeShapeType="1"/>
            </p:cNvCxnSpPr>
            <p:nvPr/>
          </p:nvCxnSpPr>
          <p:spPr bwMode="auto">
            <a:xfrm flipV="1">
              <a:off x="4919974" y="3880054"/>
              <a:ext cx="0" cy="1793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10144"/>
            <p:cNvCxnSpPr>
              <a:cxnSpLocks noChangeShapeType="1"/>
            </p:cNvCxnSpPr>
            <p:nvPr/>
          </p:nvCxnSpPr>
          <p:spPr bwMode="auto">
            <a:xfrm flipV="1">
              <a:off x="5577199" y="3499054"/>
              <a:ext cx="0" cy="576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10146"/>
            <p:cNvCxnSpPr>
              <a:cxnSpLocks noChangeShapeType="1"/>
            </p:cNvCxnSpPr>
            <p:nvPr/>
          </p:nvCxnSpPr>
          <p:spPr bwMode="auto">
            <a:xfrm flipV="1">
              <a:off x="4586599" y="3871656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10148"/>
            <p:cNvCxnSpPr>
              <a:cxnSpLocks noChangeShapeType="1"/>
            </p:cNvCxnSpPr>
            <p:nvPr/>
          </p:nvCxnSpPr>
          <p:spPr bwMode="auto">
            <a:xfrm>
              <a:off x="4615174" y="3883229"/>
              <a:ext cx="3048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Freeform 10149"/>
            <p:cNvSpPr>
              <a:spLocks/>
            </p:cNvSpPr>
            <p:nvPr/>
          </p:nvSpPr>
          <p:spPr bwMode="auto">
            <a:xfrm>
              <a:off x="5118412" y="3254579"/>
              <a:ext cx="452437" cy="409575"/>
            </a:xfrm>
            <a:custGeom>
              <a:avLst/>
              <a:gdLst>
                <a:gd name="T0" fmla="*/ 1536 w 1536"/>
                <a:gd name="T1" fmla="*/ 0 h 645"/>
                <a:gd name="T2" fmla="*/ 228 w 1536"/>
                <a:gd name="T3" fmla="*/ 225 h 645"/>
                <a:gd name="T4" fmla="*/ 168 w 1536"/>
                <a:gd name="T5" fmla="*/ 645 h 6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6" h="645">
                  <a:moveTo>
                    <a:pt x="1536" y="0"/>
                  </a:moveTo>
                  <a:cubicBezTo>
                    <a:pt x="996" y="59"/>
                    <a:pt x="456" y="118"/>
                    <a:pt x="228" y="225"/>
                  </a:cubicBezTo>
                  <a:cubicBezTo>
                    <a:pt x="0" y="332"/>
                    <a:pt x="84" y="488"/>
                    <a:pt x="168" y="645"/>
                  </a:cubicBezTo>
                </a:path>
              </a:pathLst>
            </a:custGeom>
            <a:noFill/>
            <a:ln w="9525" cap="rnd">
              <a:solidFill>
                <a:srgbClr val="548DD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22" name="AutoShape 10146"/>
            <p:cNvCxnSpPr>
              <a:cxnSpLocks noChangeShapeType="1"/>
            </p:cNvCxnSpPr>
            <p:nvPr/>
          </p:nvCxnSpPr>
          <p:spPr bwMode="auto">
            <a:xfrm flipV="1">
              <a:off x="4570724" y="3486354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10148"/>
            <p:cNvCxnSpPr>
              <a:cxnSpLocks noChangeShapeType="1"/>
            </p:cNvCxnSpPr>
            <p:nvPr/>
          </p:nvCxnSpPr>
          <p:spPr bwMode="auto">
            <a:xfrm flipV="1">
              <a:off x="4599299" y="3484767"/>
              <a:ext cx="9715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 Box 10150"/>
            <p:cNvSpPr txBox="1">
              <a:spLocks noChangeArrowheads="1"/>
            </p:cNvSpPr>
            <p:nvPr/>
          </p:nvSpPr>
          <p:spPr bwMode="auto">
            <a:xfrm>
              <a:off x="5558574" y="3115439"/>
              <a:ext cx="9144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548DD4"/>
                  </a:solidFill>
                  <a:effectLst/>
                  <a:latin typeface="Calibri" pitchFamily="34" charset="0"/>
                  <a:cs typeface="Arial" pitchFamily="34" charset="0"/>
                </a:rPr>
                <a:t>Pente V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rgbClr val="548DD4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9" name="Text Box 10121"/>
            <p:cNvSpPr txBox="1">
              <a:spLocks noChangeArrowheads="1"/>
            </p:cNvSpPr>
            <p:nvPr/>
          </p:nvSpPr>
          <p:spPr bwMode="auto">
            <a:xfrm>
              <a:off x="6027482" y="3917586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2" name="Text Box 10123"/>
            <p:cNvSpPr txBox="1">
              <a:spLocks noChangeArrowheads="1"/>
            </p:cNvSpPr>
            <p:nvPr/>
          </p:nvSpPr>
          <p:spPr bwMode="auto">
            <a:xfrm>
              <a:off x="4767574" y="4075317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3" name="Text Box 10131"/>
            <p:cNvSpPr txBox="1">
              <a:spLocks noChangeArrowheads="1"/>
            </p:cNvSpPr>
            <p:nvPr/>
          </p:nvSpPr>
          <p:spPr bwMode="auto">
            <a:xfrm>
              <a:off x="4306326" y="3722711"/>
              <a:ext cx="4365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X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34" name="Text Box 355"/>
          <p:cNvSpPr txBox="1">
            <a:spLocks noChangeArrowheads="1"/>
          </p:cNvSpPr>
          <p:nvPr/>
        </p:nvSpPr>
        <p:spPr bwMode="auto">
          <a:xfrm>
            <a:off x="4614" y="4364133"/>
            <a:ext cx="27097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Uniformément varié</a:t>
            </a:r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 (MTUV)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35" name="ZoneTexte 234"/>
          <p:cNvSpPr txBox="1">
            <a:spLocks noChangeArrowheads="1"/>
          </p:cNvSpPr>
          <p:nvPr/>
        </p:nvSpPr>
        <p:spPr bwMode="auto">
          <a:xfrm>
            <a:off x="-5189" y="4596333"/>
            <a:ext cx="64111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itchFamily="34" charset="0"/>
              </a:rPr>
              <a:t>Mouvement de translation rectiligne pour lequel </a:t>
            </a:r>
            <a:r>
              <a:rPr lang="fr-FR" sz="1400" b="1" dirty="0">
                <a:latin typeface="Calibri" pitchFamily="34" charset="0"/>
              </a:rPr>
              <a:t>l’accélération A</a:t>
            </a:r>
            <a:r>
              <a:rPr lang="fr-FR" sz="1400" b="1" baseline="-25000" dirty="0">
                <a:latin typeface="Calibri" pitchFamily="34" charset="0"/>
              </a:rPr>
              <a:t>0</a:t>
            </a:r>
            <a:r>
              <a:rPr lang="fr-FR" sz="1400" b="1" dirty="0">
                <a:latin typeface="Calibri" pitchFamily="34" charset="0"/>
              </a:rPr>
              <a:t> </a:t>
            </a:r>
            <a:r>
              <a:rPr lang="fr-FR" sz="1400" dirty="0">
                <a:latin typeface="Calibri" pitchFamily="34" charset="0"/>
              </a:rPr>
              <a:t>est constante</a:t>
            </a:r>
          </a:p>
        </p:txBody>
      </p:sp>
      <p:sp>
        <p:nvSpPr>
          <p:cNvPr id="236" name="ZoneTexte 235"/>
          <p:cNvSpPr txBox="1">
            <a:spLocks noChangeArrowheads="1"/>
          </p:cNvSpPr>
          <p:nvPr/>
        </p:nvSpPr>
        <p:spPr bwMode="auto">
          <a:xfrm>
            <a:off x="9804" y="4904110"/>
            <a:ext cx="1797183" cy="31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Accélération</a:t>
            </a:r>
          </a:p>
        </p:txBody>
      </p:sp>
      <p:sp>
        <p:nvSpPr>
          <p:cNvPr id="238" name="ZoneTexte 237"/>
          <p:cNvSpPr txBox="1">
            <a:spLocks noChangeArrowheads="1"/>
          </p:cNvSpPr>
          <p:nvPr/>
        </p:nvSpPr>
        <p:spPr bwMode="auto">
          <a:xfrm>
            <a:off x="1953237" y="4914241"/>
            <a:ext cx="1997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Vitesse</a:t>
            </a:r>
          </a:p>
        </p:txBody>
      </p:sp>
      <p:sp>
        <p:nvSpPr>
          <p:cNvPr id="239" name="ZoneTexte 238"/>
          <p:cNvSpPr txBox="1">
            <a:spLocks noChangeArrowheads="1"/>
          </p:cNvSpPr>
          <p:nvPr/>
        </p:nvSpPr>
        <p:spPr bwMode="auto">
          <a:xfrm>
            <a:off x="4216759" y="4914241"/>
            <a:ext cx="1997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400" dirty="0">
                <a:latin typeface="Calibri" pitchFamily="34" charset="0"/>
              </a:rPr>
              <a:t>Position</a:t>
            </a:r>
          </a:p>
        </p:txBody>
      </p:sp>
      <p:sp>
        <p:nvSpPr>
          <p:cNvPr id="240" name="AutoShape 2"/>
          <p:cNvSpPr>
            <a:spLocks noChangeArrowheads="1"/>
          </p:cNvSpPr>
          <p:nvPr/>
        </p:nvSpPr>
        <p:spPr bwMode="auto">
          <a:xfrm>
            <a:off x="1832902" y="4904110"/>
            <a:ext cx="72000" cy="1656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245" name="AutoShape 2"/>
          <p:cNvSpPr>
            <a:spLocks noChangeArrowheads="1"/>
          </p:cNvSpPr>
          <p:nvPr/>
        </p:nvSpPr>
        <p:spPr bwMode="auto">
          <a:xfrm>
            <a:off x="3982892" y="4904110"/>
            <a:ext cx="72000" cy="1656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grpSp>
        <p:nvGrpSpPr>
          <p:cNvPr id="28" name="Groupe 27"/>
          <p:cNvGrpSpPr/>
          <p:nvPr/>
        </p:nvGrpSpPr>
        <p:grpSpPr>
          <a:xfrm>
            <a:off x="-7938" y="5160531"/>
            <a:ext cx="1899832" cy="1545067"/>
            <a:chOff x="-7938" y="4836075"/>
            <a:chExt cx="1899832" cy="1545067"/>
          </a:xfrm>
        </p:grpSpPr>
        <p:sp>
          <p:nvSpPr>
            <p:cNvPr id="26" name="Rectangle 25"/>
            <p:cNvSpPr/>
            <p:nvPr/>
          </p:nvSpPr>
          <p:spPr>
            <a:xfrm>
              <a:off x="136780" y="4836075"/>
              <a:ext cx="14314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a(t) = </a:t>
              </a:r>
              <a:r>
                <a:rPr lang="fr-FR" sz="1400" dirty="0" err="1">
                  <a:solidFill>
                    <a:srgbClr val="000000"/>
                  </a:solidFill>
                  <a:latin typeface="Calibri" pitchFamily="34" charset="0"/>
                </a:rPr>
                <a:t>cte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 = A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 &gt; 0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cxnSp>
          <p:nvCxnSpPr>
            <p:cNvPr id="113" name="AutoShape 10168"/>
            <p:cNvCxnSpPr>
              <a:cxnSpLocks noChangeShapeType="1"/>
            </p:cNvCxnSpPr>
            <p:nvPr/>
          </p:nvCxnSpPr>
          <p:spPr bwMode="auto">
            <a:xfrm flipV="1">
              <a:off x="367221" y="5162546"/>
              <a:ext cx="0" cy="9001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AutoShape 10169"/>
            <p:cNvCxnSpPr>
              <a:cxnSpLocks noChangeShapeType="1"/>
            </p:cNvCxnSpPr>
            <p:nvPr/>
          </p:nvCxnSpPr>
          <p:spPr bwMode="auto">
            <a:xfrm>
              <a:off x="367221" y="6062659"/>
              <a:ext cx="12240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AutoShape 10173"/>
            <p:cNvCxnSpPr>
              <a:cxnSpLocks noChangeShapeType="1"/>
            </p:cNvCxnSpPr>
            <p:nvPr/>
          </p:nvCxnSpPr>
          <p:spPr bwMode="auto">
            <a:xfrm>
              <a:off x="662496" y="6034084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AutoShape 10174"/>
            <p:cNvCxnSpPr>
              <a:cxnSpLocks noChangeShapeType="1"/>
            </p:cNvCxnSpPr>
            <p:nvPr/>
          </p:nvCxnSpPr>
          <p:spPr bwMode="auto">
            <a:xfrm>
              <a:off x="1319721" y="6034084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10175"/>
            <p:cNvCxnSpPr>
              <a:cxnSpLocks noChangeShapeType="1"/>
            </p:cNvCxnSpPr>
            <p:nvPr/>
          </p:nvCxnSpPr>
          <p:spPr bwMode="auto">
            <a:xfrm>
              <a:off x="662496" y="5481634"/>
              <a:ext cx="657225" cy="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AutoShape 10176"/>
            <p:cNvCxnSpPr>
              <a:cxnSpLocks noChangeShapeType="1"/>
            </p:cNvCxnSpPr>
            <p:nvPr/>
          </p:nvCxnSpPr>
          <p:spPr bwMode="auto">
            <a:xfrm flipV="1">
              <a:off x="662496" y="5481634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10177"/>
            <p:cNvCxnSpPr>
              <a:cxnSpLocks noChangeShapeType="1"/>
            </p:cNvCxnSpPr>
            <p:nvPr/>
          </p:nvCxnSpPr>
          <p:spPr bwMode="auto">
            <a:xfrm flipV="1">
              <a:off x="1319721" y="5491159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4" name="AutoShape 10179"/>
            <p:cNvCxnSpPr>
              <a:cxnSpLocks noChangeShapeType="1"/>
            </p:cNvCxnSpPr>
            <p:nvPr/>
          </p:nvCxnSpPr>
          <p:spPr bwMode="auto">
            <a:xfrm flipV="1">
              <a:off x="329121" y="5476871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8" name="Text Box 10121"/>
            <p:cNvSpPr txBox="1">
              <a:spLocks noChangeArrowheads="1"/>
            </p:cNvSpPr>
            <p:nvPr/>
          </p:nvSpPr>
          <p:spPr bwMode="auto">
            <a:xfrm>
              <a:off x="1577569" y="5908770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9" name="Text Box 10123"/>
            <p:cNvSpPr txBox="1">
              <a:spLocks noChangeArrowheads="1"/>
            </p:cNvSpPr>
            <p:nvPr/>
          </p:nvSpPr>
          <p:spPr bwMode="auto">
            <a:xfrm>
              <a:off x="494221" y="6073365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-7938" y="5286563"/>
              <a:ext cx="34977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A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  <a:endParaRPr lang="fr-FR" sz="1400" dirty="0"/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1902289" y="5167751"/>
            <a:ext cx="2107445" cy="1537778"/>
            <a:chOff x="2241966" y="5728821"/>
            <a:chExt cx="2107445" cy="1537778"/>
          </a:xfrm>
        </p:grpSpPr>
        <p:sp>
          <p:nvSpPr>
            <p:cNvPr id="253" name="Rectangle 252"/>
            <p:cNvSpPr/>
            <p:nvPr/>
          </p:nvSpPr>
          <p:spPr>
            <a:xfrm>
              <a:off x="2376150" y="5728821"/>
              <a:ext cx="14686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v(t) = A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(t-t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)+V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cxnSp>
          <p:nvCxnSpPr>
            <p:cNvPr id="254" name="AutoShape 10135"/>
            <p:cNvCxnSpPr>
              <a:cxnSpLocks noChangeShapeType="1"/>
            </p:cNvCxnSpPr>
            <p:nvPr/>
          </p:nvCxnSpPr>
          <p:spPr bwMode="auto">
            <a:xfrm flipV="1">
              <a:off x="2560339" y="6055534"/>
              <a:ext cx="0" cy="8985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AutoShape 10136"/>
            <p:cNvCxnSpPr>
              <a:cxnSpLocks noChangeShapeType="1"/>
            </p:cNvCxnSpPr>
            <p:nvPr/>
          </p:nvCxnSpPr>
          <p:spPr bwMode="auto">
            <a:xfrm>
              <a:off x="2560339" y="6954059"/>
              <a:ext cx="12240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8" name="AutoShape 10140"/>
            <p:cNvCxnSpPr>
              <a:cxnSpLocks noChangeShapeType="1"/>
            </p:cNvCxnSpPr>
            <p:nvPr/>
          </p:nvCxnSpPr>
          <p:spPr bwMode="auto">
            <a:xfrm>
              <a:off x="2855614" y="6925484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1" name="AutoShape 10141"/>
            <p:cNvCxnSpPr>
              <a:cxnSpLocks noChangeShapeType="1"/>
            </p:cNvCxnSpPr>
            <p:nvPr/>
          </p:nvCxnSpPr>
          <p:spPr bwMode="auto">
            <a:xfrm>
              <a:off x="3512839" y="6925484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" name="AutoShape 10142"/>
            <p:cNvCxnSpPr>
              <a:cxnSpLocks noChangeShapeType="1"/>
            </p:cNvCxnSpPr>
            <p:nvPr/>
          </p:nvCxnSpPr>
          <p:spPr bwMode="auto">
            <a:xfrm flipV="1">
              <a:off x="2855614" y="6373034"/>
              <a:ext cx="657225" cy="39370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AutoShape 10143"/>
            <p:cNvCxnSpPr>
              <a:cxnSpLocks noChangeShapeType="1"/>
            </p:cNvCxnSpPr>
            <p:nvPr/>
          </p:nvCxnSpPr>
          <p:spPr bwMode="auto">
            <a:xfrm flipV="1">
              <a:off x="2855614" y="6763559"/>
              <a:ext cx="0" cy="1793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7" name="AutoShape 10144"/>
            <p:cNvCxnSpPr>
              <a:cxnSpLocks noChangeShapeType="1"/>
            </p:cNvCxnSpPr>
            <p:nvPr/>
          </p:nvCxnSpPr>
          <p:spPr bwMode="auto">
            <a:xfrm flipV="1">
              <a:off x="3512839" y="6382559"/>
              <a:ext cx="0" cy="576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8" name="AutoShape 10146"/>
            <p:cNvCxnSpPr>
              <a:cxnSpLocks noChangeShapeType="1"/>
            </p:cNvCxnSpPr>
            <p:nvPr/>
          </p:nvCxnSpPr>
          <p:spPr bwMode="auto">
            <a:xfrm flipV="1">
              <a:off x="2522239" y="6755161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9" name="AutoShape 10148"/>
            <p:cNvCxnSpPr>
              <a:cxnSpLocks noChangeShapeType="1"/>
            </p:cNvCxnSpPr>
            <p:nvPr/>
          </p:nvCxnSpPr>
          <p:spPr bwMode="auto">
            <a:xfrm>
              <a:off x="2550814" y="6751986"/>
              <a:ext cx="3048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0" name="Freeform 10149"/>
            <p:cNvSpPr>
              <a:spLocks/>
            </p:cNvSpPr>
            <p:nvPr/>
          </p:nvSpPr>
          <p:spPr bwMode="auto">
            <a:xfrm>
              <a:off x="3054052" y="6138084"/>
              <a:ext cx="636202" cy="409575"/>
            </a:xfrm>
            <a:custGeom>
              <a:avLst/>
              <a:gdLst>
                <a:gd name="T0" fmla="*/ 1536 w 1536"/>
                <a:gd name="T1" fmla="*/ 0 h 645"/>
                <a:gd name="T2" fmla="*/ 228 w 1536"/>
                <a:gd name="T3" fmla="*/ 225 h 645"/>
                <a:gd name="T4" fmla="*/ 168 w 1536"/>
                <a:gd name="T5" fmla="*/ 645 h 6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6" h="645">
                  <a:moveTo>
                    <a:pt x="1536" y="0"/>
                  </a:moveTo>
                  <a:cubicBezTo>
                    <a:pt x="996" y="59"/>
                    <a:pt x="456" y="118"/>
                    <a:pt x="228" y="225"/>
                  </a:cubicBezTo>
                  <a:cubicBezTo>
                    <a:pt x="0" y="332"/>
                    <a:pt x="84" y="488"/>
                    <a:pt x="168" y="645"/>
                  </a:cubicBezTo>
                </a:path>
              </a:pathLst>
            </a:custGeom>
            <a:noFill/>
            <a:ln w="9525" cap="rnd">
              <a:solidFill>
                <a:srgbClr val="548DD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271" name="AutoShape 10146"/>
            <p:cNvCxnSpPr>
              <a:cxnSpLocks noChangeShapeType="1"/>
            </p:cNvCxnSpPr>
            <p:nvPr/>
          </p:nvCxnSpPr>
          <p:spPr bwMode="auto">
            <a:xfrm flipV="1">
              <a:off x="2506364" y="6369859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2" name="AutoShape 10148"/>
            <p:cNvCxnSpPr>
              <a:cxnSpLocks noChangeShapeType="1"/>
            </p:cNvCxnSpPr>
            <p:nvPr/>
          </p:nvCxnSpPr>
          <p:spPr bwMode="auto">
            <a:xfrm flipV="1">
              <a:off x="2534939" y="6368272"/>
              <a:ext cx="9715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3" name="Text Box 10150"/>
            <p:cNvSpPr txBox="1">
              <a:spLocks noChangeArrowheads="1"/>
            </p:cNvSpPr>
            <p:nvPr/>
          </p:nvSpPr>
          <p:spPr bwMode="auto">
            <a:xfrm>
              <a:off x="3685939" y="5998944"/>
              <a:ext cx="66347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548DD4"/>
                  </a:solidFill>
                  <a:effectLst/>
                  <a:latin typeface="Calibri" pitchFamily="34" charset="0"/>
                  <a:cs typeface="Arial" pitchFamily="34" charset="0"/>
                </a:rPr>
                <a:t>Pente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548DD4"/>
                  </a:solidFill>
                  <a:effectLst/>
                  <a:latin typeface="Calibri" pitchFamily="34" charset="0"/>
                  <a:cs typeface="Arial" pitchFamily="34" charset="0"/>
                </a:rPr>
                <a:t>A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rgbClr val="548DD4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r>
                <a:rPr kumimoji="0" lang="fr-FR" altLang="fr-FR" sz="1400" b="0" i="0" u="none" strike="noStrike" cap="none" normalizeH="0" dirty="0">
                  <a:ln>
                    <a:noFill/>
                  </a:ln>
                  <a:solidFill>
                    <a:srgbClr val="548DD4"/>
                  </a:solidFill>
                  <a:effectLst/>
                  <a:latin typeface="Times New Roman" pitchFamily="18" charset="0"/>
                  <a:cs typeface="Arial" pitchFamily="34" charset="0"/>
                </a:rPr>
                <a:t> &gt; 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4" name="Text Box 10121"/>
            <p:cNvSpPr txBox="1">
              <a:spLocks noChangeArrowheads="1"/>
            </p:cNvSpPr>
            <p:nvPr/>
          </p:nvSpPr>
          <p:spPr bwMode="auto">
            <a:xfrm>
              <a:off x="3771398" y="6801091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5" name="Text Box 10123"/>
            <p:cNvSpPr txBox="1">
              <a:spLocks noChangeArrowheads="1"/>
            </p:cNvSpPr>
            <p:nvPr/>
          </p:nvSpPr>
          <p:spPr bwMode="auto">
            <a:xfrm>
              <a:off x="2703214" y="6958822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6" name="Text Box 10131"/>
            <p:cNvSpPr txBox="1">
              <a:spLocks noChangeArrowheads="1"/>
            </p:cNvSpPr>
            <p:nvPr/>
          </p:nvSpPr>
          <p:spPr bwMode="auto">
            <a:xfrm>
              <a:off x="2241966" y="6606216"/>
              <a:ext cx="4365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3991499" y="5164451"/>
            <a:ext cx="2492991" cy="1551865"/>
            <a:chOff x="3991499" y="4839995"/>
            <a:chExt cx="2492991" cy="1551865"/>
          </a:xfrm>
        </p:grpSpPr>
        <p:cxnSp>
          <p:nvCxnSpPr>
            <p:cNvPr id="3170" name="AutoShape 10202"/>
            <p:cNvCxnSpPr>
              <a:cxnSpLocks noChangeShapeType="1"/>
            </p:cNvCxnSpPr>
            <p:nvPr/>
          </p:nvCxnSpPr>
          <p:spPr bwMode="auto">
            <a:xfrm flipV="1">
              <a:off x="4388730" y="5145077"/>
              <a:ext cx="0" cy="9366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1" name="AutoShape 10203"/>
            <p:cNvCxnSpPr>
              <a:cxnSpLocks noChangeShapeType="1"/>
            </p:cNvCxnSpPr>
            <p:nvPr/>
          </p:nvCxnSpPr>
          <p:spPr bwMode="auto">
            <a:xfrm>
              <a:off x="4388730" y="6076940"/>
              <a:ext cx="143986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2" name="AutoShape 10204"/>
            <p:cNvCxnSpPr>
              <a:cxnSpLocks noChangeShapeType="1"/>
            </p:cNvCxnSpPr>
            <p:nvPr/>
          </p:nvCxnSpPr>
          <p:spPr bwMode="auto">
            <a:xfrm>
              <a:off x="4684005" y="6048365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3" name="AutoShape 10205"/>
            <p:cNvCxnSpPr>
              <a:cxnSpLocks noChangeShapeType="1"/>
            </p:cNvCxnSpPr>
            <p:nvPr/>
          </p:nvCxnSpPr>
          <p:spPr bwMode="auto">
            <a:xfrm>
              <a:off x="5341230" y="6048365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4" name="AutoShape 10206"/>
            <p:cNvCxnSpPr>
              <a:cxnSpLocks noChangeShapeType="1"/>
            </p:cNvCxnSpPr>
            <p:nvPr/>
          </p:nvCxnSpPr>
          <p:spPr bwMode="auto">
            <a:xfrm flipV="1">
              <a:off x="4684005" y="5886440"/>
              <a:ext cx="0" cy="1793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" name="AutoShape 10207"/>
            <p:cNvCxnSpPr>
              <a:cxnSpLocks noChangeShapeType="1"/>
            </p:cNvCxnSpPr>
            <p:nvPr/>
          </p:nvCxnSpPr>
          <p:spPr bwMode="auto">
            <a:xfrm flipV="1">
              <a:off x="5341230" y="5305415"/>
              <a:ext cx="0" cy="7731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" name="AutoShape 10209"/>
            <p:cNvCxnSpPr>
              <a:cxnSpLocks noChangeShapeType="1"/>
            </p:cNvCxnSpPr>
            <p:nvPr/>
          </p:nvCxnSpPr>
          <p:spPr bwMode="auto">
            <a:xfrm flipV="1">
              <a:off x="4350630" y="5886440"/>
              <a:ext cx="7143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9" name="AutoShape 10211"/>
            <p:cNvCxnSpPr>
              <a:cxnSpLocks noChangeShapeType="1"/>
            </p:cNvCxnSpPr>
            <p:nvPr/>
          </p:nvCxnSpPr>
          <p:spPr bwMode="auto">
            <a:xfrm>
              <a:off x="4379205" y="5886440"/>
              <a:ext cx="3048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Freeform 10213"/>
            <p:cNvSpPr>
              <a:spLocks/>
            </p:cNvSpPr>
            <p:nvPr/>
          </p:nvSpPr>
          <p:spPr bwMode="auto">
            <a:xfrm>
              <a:off x="4684005" y="5305415"/>
              <a:ext cx="657225" cy="577850"/>
            </a:xfrm>
            <a:custGeom>
              <a:avLst/>
              <a:gdLst>
                <a:gd name="T0" fmla="*/ 0 w 1035"/>
                <a:gd name="T1" fmla="*/ 577215 h 1361"/>
                <a:gd name="T2" fmla="*/ 203200 w 1035"/>
                <a:gd name="T3" fmla="*/ 481366 h 1361"/>
                <a:gd name="T4" fmla="*/ 544830 w 1035"/>
                <a:gd name="T5" fmla="*/ 191698 h 1361"/>
                <a:gd name="T6" fmla="*/ 657225 w 1035"/>
                <a:gd name="T7" fmla="*/ 0 h 13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5" h="1361">
                  <a:moveTo>
                    <a:pt x="0" y="1361"/>
                  </a:moveTo>
                  <a:cubicBezTo>
                    <a:pt x="88" y="1323"/>
                    <a:pt x="177" y="1286"/>
                    <a:pt x="320" y="1135"/>
                  </a:cubicBezTo>
                  <a:cubicBezTo>
                    <a:pt x="463" y="984"/>
                    <a:pt x="739" y="641"/>
                    <a:pt x="858" y="452"/>
                  </a:cubicBezTo>
                  <a:cubicBezTo>
                    <a:pt x="977" y="263"/>
                    <a:pt x="1006" y="131"/>
                    <a:pt x="1035" y="0"/>
                  </a:cubicBezTo>
                </a:path>
              </a:pathLst>
            </a:cu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3182" name="AutoShape 10214"/>
            <p:cNvCxnSpPr>
              <a:cxnSpLocks noChangeShapeType="1"/>
            </p:cNvCxnSpPr>
            <p:nvPr/>
          </p:nvCxnSpPr>
          <p:spPr bwMode="auto">
            <a:xfrm flipV="1">
              <a:off x="4674480" y="5754677"/>
              <a:ext cx="403225" cy="1460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Freeform 10215"/>
            <p:cNvSpPr>
              <a:spLocks/>
            </p:cNvSpPr>
            <p:nvPr/>
          </p:nvSpPr>
          <p:spPr bwMode="auto">
            <a:xfrm>
              <a:off x="4855455" y="5724515"/>
              <a:ext cx="927100" cy="179387"/>
            </a:xfrm>
            <a:custGeom>
              <a:avLst/>
              <a:gdLst>
                <a:gd name="T0" fmla="*/ 927735 w 1461"/>
                <a:gd name="T1" fmla="*/ 0 h 283"/>
                <a:gd name="T2" fmla="*/ 312420 w 1461"/>
                <a:gd name="T3" fmla="*/ 155575 h 283"/>
                <a:gd name="T4" fmla="*/ 0 w 1461"/>
                <a:gd name="T5" fmla="*/ 143510 h 2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1" h="283">
                  <a:moveTo>
                    <a:pt x="1461" y="0"/>
                  </a:moveTo>
                  <a:cubicBezTo>
                    <a:pt x="1098" y="103"/>
                    <a:pt x="735" y="207"/>
                    <a:pt x="492" y="245"/>
                  </a:cubicBezTo>
                  <a:cubicBezTo>
                    <a:pt x="249" y="283"/>
                    <a:pt x="124" y="254"/>
                    <a:pt x="0" y="226"/>
                  </a:cubicBezTo>
                </a:path>
              </a:pathLst>
            </a:custGeom>
            <a:noFill/>
            <a:ln w="9525" cap="rnd">
              <a:solidFill>
                <a:srgbClr val="548DD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39" name="AutoShape 10209"/>
            <p:cNvCxnSpPr>
              <a:cxnSpLocks noChangeShapeType="1"/>
            </p:cNvCxnSpPr>
            <p:nvPr/>
          </p:nvCxnSpPr>
          <p:spPr bwMode="auto">
            <a:xfrm flipV="1">
              <a:off x="4339518" y="5305415"/>
              <a:ext cx="7143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10211"/>
            <p:cNvCxnSpPr>
              <a:cxnSpLocks noChangeShapeType="1"/>
            </p:cNvCxnSpPr>
            <p:nvPr/>
          </p:nvCxnSpPr>
          <p:spPr bwMode="auto">
            <a:xfrm>
              <a:off x="4368093" y="5305415"/>
              <a:ext cx="96837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4" name="Rectangle 283"/>
            <p:cNvSpPr/>
            <p:nvPr/>
          </p:nvSpPr>
          <p:spPr>
            <a:xfrm>
              <a:off x="3991499" y="4839995"/>
              <a:ext cx="24929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x(t) = ½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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A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(t-t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)²+V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(t-t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)+X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  <a:sym typeface="Symbol"/>
                </a:rPr>
                <a:t>0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85" name="Text Box 10131"/>
            <p:cNvSpPr txBox="1">
              <a:spLocks noChangeArrowheads="1"/>
            </p:cNvSpPr>
            <p:nvPr/>
          </p:nvSpPr>
          <p:spPr bwMode="auto">
            <a:xfrm>
              <a:off x="4054892" y="5732551"/>
              <a:ext cx="4365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X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6" name="Text Box 10123"/>
            <p:cNvSpPr txBox="1">
              <a:spLocks noChangeArrowheads="1"/>
            </p:cNvSpPr>
            <p:nvPr/>
          </p:nvSpPr>
          <p:spPr bwMode="auto">
            <a:xfrm>
              <a:off x="4537955" y="6084083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7" name="Text Box 10121"/>
            <p:cNvSpPr txBox="1">
              <a:spLocks noChangeArrowheads="1"/>
            </p:cNvSpPr>
            <p:nvPr/>
          </p:nvSpPr>
          <p:spPr bwMode="auto">
            <a:xfrm>
              <a:off x="5828593" y="5927877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8" name="Text Box 10150"/>
            <p:cNvSpPr txBox="1">
              <a:spLocks noChangeArrowheads="1"/>
            </p:cNvSpPr>
            <p:nvPr/>
          </p:nvSpPr>
          <p:spPr bwMode="auto">
            <a:xfrm>
              <a:off x="5476791" y="5419770"/>
              <a:ext cx="9144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548DD4"/>
                  </a:solidFill>
                  <a:effectLst/>
                  <a:latin typeface="Calibri" pitchFamily="34" charset="0"/>
                  <a:cs typeface="Arial" pitchFamily="34" charset="0"/>
                </a:rPr>
                <a:t>Pente V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rgbClr val="548DD4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0" name="Rectangle 75"/>
          <p:cNvSpPr>
            <a:spLocks noChangeArrowheads="1"/>
          </p:cNvSpPr>
          <p:nvPr/>
        </p:nvSpPr>
        <p:spPr bwMode="auto">
          <a:xfrm>
            <a:off x="6689827" y="1010831"/>
            <a:ext cx="2400049" cy="30363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91" name="ZoneTexte 21"/>
          <p:cNvSpPr txBox="1">
            <a:spLocks noChangeArrowheads="1"/>
          </p:cNvSpPr>
          <p:nvPr/>
        </p:nvSpPr>
        <p:spPr bwMode="auto">
          <a:xfrm>
            <a:off x="6639027" y="975907"/>
            <a:ext cx="24807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Mouvement de rotation</a:t>
            </a:r>
          </a:p>
        </p:txBody>
      </p:sp>
      <p:sp>
        <p:nvSpPr>
          <p:cNvPr id="292" name="Text Box 355"/>
          <p:cNvSpPr txBox="1">
            <a:spLocks noChangeArrowheads="1"/>
          </p:cNvSpPr>
          <p:nvPr/>
        </p:nvSpPr>
        <p:spPr bwMode="auto">
          <a:xfrm>
            <a:off x="6630720" y="1304928"/>
            <a:ext cx="17095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Uniforme</a:t>
            </a:r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 (MRU)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93" name="ZoneTexte 292"/>
          <p:cNvSpPr txBox="1">
            <a:spLocks noChangeArrowheads="1"/>
          </p:cNvSpPr>
          <p:nvPr/>
        </p:nvSpPr>
        <p:spPr bwMode="auto">
          <a:xfrm>
            <a:off x="6620342" y="1559247"/>
            <a:ext cx="2915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itchFamily="34" charset="0"/>
              </a:rPr>
              <a:t>Mouvement de rotation pour lequel la </a:t>
            </a:r>
            <a:r>
              <a:rPr lang="fr-FR" sz="1400" b="1" dirty="0">
                <a:latin typeface="Calibri" pitchFamily="34" charset="0"/>
              </a:rPr>
              <a:t>vitesse angulaire </a:t>
            </a:r>
            <a:r>
              <a:rPr lang="fr-FR" sz="1400" b="1" dirty="0">
                <a:latin typeface="Calibri" pitchFamily="34" charset="0"/>
                <a:sym typeface="Symbol"/>
              </a:rPr>
              <a:t></a:t>
            </a:r>
            <a:r>
              <a:rPr lang="fr-FR" sz="1400" b="1" baseline="-25000" dirty="0">
                <a:latin typeface="Calibri" pitchFamily="34" charset="0"/>
                <a:sym typeface="Symbol"/>
              </a:rPr>
              <a:t>0</a:t>
            </a:r>
            <a:r>
              <a:rPr lang="fr-FR" sz="1400" b="1" dirty="0">
                <a:latin typeface="Calibri" pitchFamily="34" charset="0"/>
                <a:sym typeface="Symbol"/>
              </a:rPr>
              <a:t> </a:t>
            </a:r>
            <a:r>
              <a:rPr lang="fr-FR" sz="1400" dirty="0">
                <a:latin typeface="Calibri" pitchFamily="34" charset="0"/>
              </a:rPr>
              <a:t>est constante</a:t>
            </a:r>
          </a:p>
        </p:txBody>
      </p:sp>
      <p:graphicFrame>
        <p:nvGraphicFramePr>
          <p:cNvPr id="48" name="Obje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255889"/>
              </p:ext>
            </p:extLst>
          </p:nvPr>
        </p:nvGraphicFramePr>
        <p:xfrm>
          <a:off x="7150586" y="2081701"/>
          <a:ext cx="16795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" name="Equation" r:id="rId2" imgW="1473120" imgH="711000" progId="Equation.DSMT4">
                  <p:embed/>
                </p:oleObj>
              </mc:Choice>
              <mc:Fallback>
                <p:oleObj name="Equation" r:id="rId2" imgW="1473120" imgH="711000" progId="Equation.DSMT4">
                  <p:embed/>
                  <p:pic>
                    <p:nvPicPr>
                      <p:cNvPr id="0" name="Picture 1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586" y="2081701"/>
                        <a:ext cx="1679575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" name="AutoShape 2"/>
          <p:cNvSpPr>
            <a:spLocks noChangeArrowheads="1"/>
          </p:cNvSpPr>
          <p:nvPr/>
        </p:nvSpPr>
        <p:spPr bwMode="auto">
          <a:xfrm>
            <a:off x="9514010" y="1426409"/>
            <a:ext cx="72000" cy="1800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algn="tl" rotWithShape="0">
                    <a:srgbClr val="000000">
                      <a:alpha val="39999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graphicFrame>
        <p:nvGraphicFramePr>
          <p:cNvPr id="297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620799"/>
              </p:ext>
            </p:extLst>
          </p:nvPr>
        </p:nvGraphicFramePr>
        <p:xfrm>
          <a:off x="455107" y="6670878"/>
          <a:ext cx="2257012" cy="53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" name="Equation" r:id="rId4" imgW="1574640" imgH="406080" progId="Equation.DSMT4">
                  <p:embed/>
                </p:oleObj>
              </mc:Choice>
              <mc:Fallback>
                <p:oleObj name="Equation" r:id="rId4" imgW="1574640" imgH="406080" progId="Equation.DSMT4">
                  <p:embed/>
                  <p:pic>
                    <p:nvPicPr>
                      <p:cNvPr id="0" name="Picture 1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07" y="6670878"/>
                        <a:ext cx="2257012" cy="53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" name="ZoneTexte 299"/>
          <p:cNvSpPr txBox="1">
            <a:spLocks noChangeArrowheads="1"/>
          </p:cNvSpPr>
          <p:nvPr/>
        </p:nvSpPr>
        <p:spPr bwMode="auto">
          <a:xfrm>
            <a:off x="-19871" y="6774086"/>
            <a:ext cx="8284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itchFamily="34" charset="0"/>
              </a:rPr>
              <a:t>avec</a:t>
            </a:r>
          </a:p>
        </p:txBody>
      </p:sp>
      <p:sp>
        <p:nvSpPr>
          <p:cNvPr id="303" name="Text Box 355"/>
          <p:cNvSpPr txBox="1">
            <a:spLocks noChangeArrowheads="1"/>
          </p:cNvSpPr>
          <p:nvPr/>
        </p:nvSpPr>
        <p:spPr bwMode="auto">
          <a:xfrm>
            <a:off x="9599692" y="1303126"/>
            <a:ext cx="255420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Uniformément varié</a:t>
            </a:r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 (MRUV)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04" name="ZoneTexte 303"/>
          <p:cNvSpPr txBox="1">
            <a:spLocks noChangeArrowheads="1"/>
          </p:cNvSpPr>
          <p:nvPr/>
        </p:nvSpPr>
        <p:spPr bwMode="auto">
          <a:xfrm>
            <a:off x="9599693" y="1557445"/>
            <a:ext cx="32019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itchFamily="34" charset="0"/>
              </a:rPr>
              <a:t>Mouvement de rotation pour lequel l’</a:t>
            </a:r>
            <a:r>
              <a:rPr lang="fr-FR" sz="1400" b="1" dirty="0">
                <a:latin typeface="Calibri" pitchFamily="34" charset="0"/>
              </a:rPr>
              <a:t>accélération angulaire </a:t>
            </a:r>
            <a:r>
              <a:rPr lang="fr-FR" sz="1400" b="1" dirty="0">
                <a:latin typeface="Calibri" pitchFamily="34" charset="0"/>
                <a:sym typeface="Symbol"/>
              </a:rPr>
              <a:t></a:t>
            </a:r>
            <a:r>
              <a:rPr lang="fr-FR" sz="1400" b="1" baseline="-25000" dirty="0">
                <a:latin typeface="Calibri" pitchFamily="34" charset="0"/>
                <a:sym typeface="Symbol"/>
              </a:rPr>
              <a:t>0</a:t>
            </a:r>
            <a:r>
              <a:rPr lang="fr-FR" sz="1400" b="1" dirty="0">
                <a:latin typeface="Calibri" pitchFamily="34" charset="0"/>
                <a:sym typeface="Symbol"/>
              </a:rPr>
              <a:t> </a:t>
            </a:r>
            <a:r>
              <a:rPr lang="fr-FR" sz="1400" dirty="0">
                <a:latin typeface="Calibri" pitchFamily="34" charset="0"/>
              </a:rPr>
              <a:t>est constante</a:t>
            </a:r>
          </a:p>
        </p:txBody>
      </p:sp>
      <p:graphicFrame>
        <p:nvGraphicFramePr>
          <p:cNvPr id="49" name="Obje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338721"/>
              </p:ext>
            </p:extLst>
          </p:nvPr>
        </p:nvGraphicFramePr>
        <p:xfrm>
          <a:off x="9996416" y="2028138"/>
          <a:ext cx="26924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" name="Equation" r:id="rId6" imgW="2361960" imgH="1066680" progId="Equation.DSMT4">
                  <p:embed/>
                </p:oleObj>
              </mc:Choice>
              <mc:Fallback>
                <p:oleObj name="Equation" r:id="rId6" imgW="2361960" imgH="1066680" progId="Equation.DSMT4">
                  <p:embed/>
                  <p:pic>
                    <p:nvPicPr>
                      <p:cNvPr id="0" name="Picture 1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6416" y="2028138"/>
                        <a:ext cx="2692400" cy="1216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" name="Rectangle 75"/>
          <p:cNvSpPr>
            <a:spLocks noChangeArrowheads="1"/>
          </p:cNvSpPr>
          <p:nvPr/>
        </p:nvSpPr>
        <p:spPr bwMode="auto">
          <a:xfrm>
            <a:off x="6683324" y="3240485"/>
            <a:ext cx="2180458" cy="276225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6" name="ZoneTexte 21"/>
          <p:cNvSpPr txBox="1">
            <a:spLocks noChangeArrowheads="1"/>
          </p:cNvSpPr>
          <p:nvPr/>
        </p:nvSpPr>
        <p:spPr bwMode="auto">
          <a:xfrm>
            <a:off x="6659574" y="3209320"/>
            <a:ext cx="24607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Résolution graphique</a:t>
            </a:r>
          </a:p>
        </p:txBody>
      </p:sp>
      <p:sp>
        <p:nvSpPr>
          <p:cNvPr id="307" name="ZoneTexte 99"/>
          <p:cNvSpPr txBox="1">
            <a:spLocks noChangeArrowheads="1"/>
          </p:cNvSpPr>
          <p:nvPr/>
        </p:nvSpPr>
        <p:spPr bwMode="auto">
          <a:xfrm>
            <a:off x="6616514" y="3516375"/>
            <a:ext cx="61850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dirty="0">
                <a:latin typeface="Calibri" pitchFamily="34" charset="0"/>
              </a:rPr>
              <a:t>Connaissant l’évolution de la vitesse au cours du temps, on connaît alors la position du solide étudié</a:t>
            </a:r>
            <a:endParaRPr lang="fr-FR" sz="14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grpSp>
        <p:nvGrpSpPr>
          <p:cNvPr id="56" name="Groupe 55"/>
          <p:cNvGrpSpPr/>
          <p:nvPr/>
        </p:nvGrpSpPr>
        <p:grpSpPr>
          <a:xfrm>
            <a:off x="6958208" y="3988020"/>
            <a:ext cx="2318518" cy="1755462"/>
            <a:chOff x="6545263" y="1695196"/>
            <a:chExt cx="2318518" cy="1755462"/>
          </a:xfrm>
        </p:grpSpPr>
        <p:sp>
          <p:nvSpPr>
            <p:cNvPr id="244" name="ZoneTexte 43"/>
            <p:cNvSpPr txBox="1">
              <a:spLocks noChangeArrowheads="1"/>
            </p:cNvSpPr>
            <p:nvPr/>
          </p:nvSpPr>
          <p:spPr bwMode="auto">
            <a:xfrm>
              <a:off x="6553200" y="3142881"/>
              <a:ext cx="231058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5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5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5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5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5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fr-FR" sz="1400" dirty="0">
                  <a:latin typeface="Calibri" pitchFamily="34" charset="0"/>
                </a:rPr>
                <a:t>Loi de vitesse trapézoïdale</a:t>
              </a:r>
              <a:endParaRPr lang="fr-FR" sz="1400" i="1" dirty="0">
                <a:latin typeface="Calibri" pitchFamily="34" charset="0"/>
              </a:endParaRPr>
            </a:p>
          </p:txBody>
        </p:sp>
        <p:cxnSp>
          <p:nvCxnSpPr>
            <p:cNvPr id="29882" name="AutoShape 10402"/>
            <p:cNvCxnSpPr>
              <a:cxnSpLocks noChangeShapeType="1"/>
            </p:cNvCxnSpPr>
            <p:nvPr/>
          </p:nvCxnSpPr>
          <p:spPr bwMode="auto">
            <a:xfrm flipV="1">
              <a:off x="6994474" y="1951541"/>
              <a:ext cx="0" cy="9001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83" name="AutoShape 10403"/>
            <p:cNvCxnSpPr>
              <a:cxnSpLocks noChangeShapeType="1"/>
            </p:cNvCxnSpPr>
            <p:nvPr/>
          </p:nvCxnSpPr>
          <p:spPr bwMode="auto">
            <a:xfrm>
              <a:off x="6994474" y="2850066"/>
              <a:ext cx="143986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87" name="AutoShape 10407"/>
            <p:cNvCxnSpPr>
              <a:cxnSpLocks noChangeShapeType="1"/>
            </p:cNvCxnSpPr>
            <p:nvPr/>
          </p:nvCxnSpPr>
          <p:spPr bwMode="auto">
            <a:xfrm>
              <a:off x="7289749" y="2821491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88" name="AutoShape 10408"/>
            <p:cNvCxnSpPr>
              <a:cxnSpLocks noChangeShapeType="1"/>
            </p:cNvCxnSpPr>
            <p:nvPr/>
          </p:nvCxnSpPr>
          <p:spPr bwMode="auto">
            <a:xfrm>
              <a:off x="7946974" y="2821491"/>
              <a:ext cx="0" cy="714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89" name="AutoShape 10409"/>
            <p:cNvCxnSpPr>
              <a:cxnSpLocks noChangeShapeType="1"/>
            </p:cNvCxnSpPr>
            <p:nvPr/>
          </p:nvCxnSpPr>
          <p:spPr bwMode="auto">
            <a:xfrm>
              <a:off x="7289749" y="2269041"/>
              <a:ext cx="657225" cy="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90" name="AutoShape 10410"/>
            <p:cNvCxnSpPr>
              <a:cxnSpLocks noChangeShapeType="1"/>
            </p:cNvCxnSpPr>
            <p:nvPr/>
          </p:nvCxnSpPr>
          <p:spPr bwMode="auto">
            <a:xfrm flipV="1">
              <a:off x="7289749" y="2269041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91" name="AutoShape 10411"/>
            <p:cNvCxnSpPr>
              <a:cxnSpLocks noChangeShapeType="1"/>
            </p:cNvCxnSpPr>
            <p:nvPr/>
          </p:nvCxnSpPr>
          <p:spPr bwMode="auto">
            <a:xfrm flipV="1">
              <a:off x="7946974" y="2278566"/>
              <a:ext cx="0" cy="5762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93" name="AutoShape 10413"/>
            <p:cNvCxnSpPr>
              <a:cxnSpLocks noChangeShapeType="1"/>
            </p:cNvCxnSpPr>
            <p:nvPr/>
          </p:nvCxnSpPr>
          <p:spPr bwMode="auto">
            <a:xfrm flipV="1">
              <a:off x="6956374" y="2265866"/>
              <a:ext cx="7143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95" name="AutoShape 10415"/>
            <p:cNvCxnSpPr>
              <a:cxnSpLocks noChangeShapeType="1"/>
            </p:cNvCxnSpPr>
            <p:nvPr/>
          </p:nvCxnSpPr>
          <p:spPr bwMode="auto">
            <a:xfrm flipV="1">
              <a:off x="6994474" y="2265866"/>
              <a:ext cx="295275" cy="584200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97" name="AutoShape 10417"/>
            <p:cNvCxnSpPr>
              <a:cxnSpLocks noChangeShapeType="1"/>
            </p:cNvCxnSpPr>
            <p:nvPr/>
          </p:nvCxnSpPr>
          <p:spPr bwMode="auto">
            <a:xfrm>
              <a:off x="7946974" y="2265866"/>
              <a:ext cx="295275" cy="588962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8" name="Text Box 10121"/>
            <p:cNvSpPr txBox="1">
              <a:spLocks noChangeArrowheads="1"/>
            </p:cNvSpPr>
            <p:nvPr/>
          </p:nvSpPr>
          <p:spPr bwMode="auto">
            <a:xfrm>
              <a:off x="8453960" y="2697764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9" name="Text Box 10123"/>
            <p:cNvSpPr txBox="1">
              <a:spLocks noChangeArrowheads="1"/>
            </p:cNvSpPr>
            <p:nvPr/>
          </p:nvSpPr>
          <p:spPr bwMode="auto">
            <a:xfrm>
              <a:off x="7132586" y="2857209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1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0" name="Text Box 10123"/>
            <p:cNvSpPr txBox="1">
              <a:spLocks noChangeArrowheads="1"/>
            </p:cNvSpPr>
            <p:nvPr/>
          </p:nvSpPr>
          <p:spPr bwMode="auto">
            <a:xfrm>
              <a:off x="7789811" y="2845303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2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1" name="Text Box 10123"/>
            <p:cNvSpPr txBox="1">
              <a:spLocks noChangeArrowheads="1"/>
            </p:cNvSpPr>
            <p:nvPr/>
          </p:nvSpPr>
          <p:spPr bwMode="auto">
            <a:xfrm>
              <a:off x="8045399" y="2861586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3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2" name="Text Box 10131"/>
            <p:cNvSpPr txBox="1">
              <a:spLocks noChangeArrowheads="1"/>
            </p:cNvSpPr>
            <p:nvPr/>
          </p:nvSpPr>
          <p:spPr bwMode="auto">
            <a:xfrm>
              <a:off x="6545263" y="2115152"/>
              <a:ext cx="4365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6778082" y="1695196"/>
              <a:ext cx="43633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v(t)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</p:grpSp>
      <p:sp>
        <p:nvSpPr>
          <p:cNvPr id="58" name="Flèche droite 29880"/>
          <p:cNvSpPr>
            <a:spLocks noChangeArrowheads="1"/>
          </p:cNvSpPr>
          <p:nvPr/>
        </p:nvSpPr>
        <p:spPr bwMode="auto">
          <a:xfrm>
            <a:off x="9176259" y="4760302"/>
            <a:ext cx="431800" cy="179388"/>
          </a:xfrm>
          <a:prstGeom prst="rightArrow">
            <a:avLst>
              <a:gd name="adj1" fmla="val 50000"/>
              <a:gd name="adj2" fmla="val 60177"/>
            </a:avLst>
          </a:prstGeom>
          <a:solidFill>
            <a:srgbClr val="C6D9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pSp>
        <p:nvGrpSpPr>
          <p:cNvPr id="62" name="Groupe 61"/>
          <p:cNvGrpSpPr/>
          <p:nvPr/>
        </p:nvGrpSpPr>
        <p:grpSpPr>
          <a:xfrm>
            <a:off x="9789513" y="3775139"/>
            <a:ext cx="2253797" cy="1707588"/>
            <a:chOff x="9376568" y="1541307"/>
            <a:chExt cx="2253797" cy="1707588"/>
          </a:xfrm>
        </p:grpSpPr>
        <p:cxnSp>
          <p:nvCxnSpPr>
            <p:cNvPr id="29901" name="AutoShape 10437"/>
            <p:cNvCxnSpPr>
              <a:cxnSpLocks noChangeShapeType="1"/>
            </p:cNvCxnSpPr>
            <p:nvPr/>
          </p:nvCxnSpPr>
          <p:spPr bwMode="auto">
            <a:xfrm flipV="1">
              <a:off x="9873405" y="1826421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02" name="AutoShape 10438"/>
            <p:cNvCxnSpPr>
              <a:cxnSpLocks noChangeShapeType="1"/>
            </p:cNvCxnSpPr>
            <p:nvPr/>
          </p:nvCxnSpPr>
          <p:spPr bwMode="auto">
            <a:xfrm>
              <a:off x="9873405" y="2915446"/>
              <a:ext cx="143986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06" name="AutoShape 10442"/>
            <p:cNvCxnSpPr>
              <a:cxnSpLocks noChangeShapeType="1"/>
            </p:cNvCxnSpPr>
            <p:nvPr/>
          </p:nvCxnSpPr>
          <p:spPr bwMode="auto">
            <a:xfrm>
              <a:off x="10168680" y="2886871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07" name="AutoShape 10443"/>
            <p:cNvCxnSpPr>
              <a:cxnSpLocks noChangeShapeType="1"/>
            </p:cNvCxnSpPr>
            <p:nvPr/>
          </p:nvCxnSpPr>
          <p:spPr bwMode="auto">
            <a:xfrm>
              <a:off x="10825905" y="2886871"/>
              <a:ext cx="0" cy="71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08" name="AutoShape 10444"/>
            <p:cNvCxnSpPr>
              <a:cxnSpLocks noChangeShapeType="1"/>
            </p:cNvCxnSpPr>
            <p:nvPr/>
          </p:nvCxnSpPr>
          <p:spPr bwMode="auto">
            <a:xfrm flipV="1">
              <a:off x="10168680" y="2797971"/>
              <a:ext cx="0" cy="1127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09" name="AutoShape 10445"/>
            <p:cNvCxnSpPr>
              <a:cxnSpLocks noChangeShapeType="1"/>
            </p:cNvCxnSpPr>
            <p:nvPr/>
          </p:nvCxnSpPr>
          <p:spPr bwMode="auto">
            <a:xfrm flipV="1">
              <a:off x="10825905" y="2229646"/>
              <a:ext cx="0" cy="7207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12" name="AutoShape 10448"/>
            <p:cNvCxnSpPr>
              <a:cxnSpLocks noChangeShapeType="1"/>
            </p:cNvCxnSpPr>
            <p:nvPr/>
          </p:nvCxnSpPr>
          <p:spPr bwMode="auto">
            <a:xfrm flipV="1">
              <a:off x="10168680" y="2245521"/>
              <a:ext cx="657225" cy="550863"/>
            </a:xfrm>
            <a:prstGeom prst="straightConnector1">
              <a:avLst/>
            </a:pr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9" name="Freeform 10452"/>
            <p:cNvSpPr>
              <a:spLocks/>
            </p:cNvSpPr>
            <p:nvPr/>
          </p:nvSpPr>
          <p:spPr bwMode="auto">
            <a:xfrm>
              <a:off x="9873405" y="2797971"/>
              <a:ext cx="295275" cy="115888"/>
            </a:xfrm>
            <a:custGeom>
              <a:avLst/>
              <a:gdLst>
                <a:gd name="T0" fmla="*/ 0 w 465"/>
                <a:gd name="T1" fmla="*/ 178 h 183"/>
                <a:gd name="T2" fmla="*/ 203 w 465"/>
                <a:gd name="T3" fmla="*/ 153 h 183"/>
                <a:gd name="T4" fmla="*/ 465 w 465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5" h="183">
                  <a:moveTo>
                    <a:pt x="0" y="178"/>
                  </a:moveTo>
                  <a:cubicBezTo>
                    <a:pt x="62" y="180"/>
                    <a:pt x="125" y="183"/>
                    <a:pt x="203" y="153"/>
                  </a:cubicBezTo>
                  <a:cubicBezTo>
                    <a:pt x="281" y="123"/>
                    <a:pt x="373" y="61"/>
                    <a:pt x="465" y="0"/>
                  </a:cubicBezTo>
                </a:path>
              </a:pathLst>
            </a:cu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0453"/>
            <p:cNvSpPr>
              <a:spLocks/>
            </p:cNvSpPr>
            <p:nvPr/>
          </p:nvSpPr>
          <p:spPr bwMode="auto">
            <a:xfrm flipH="1" flipV="1">
              <a:off x="10816380" y="2137571"/>
              <a:ext cx="295275" cy="117475"/>
            </a:xfrm>
            <a:custGeom>
              <a:avLst/>
              <a:gdLst>
                <a:gd name="T0" fmla="*/ 0 w 465"/>
                <a:gd name="T1" fmla="*/ 178 h 183"/>
                <a:gd name="T2" fmla="*/ 203 w 465"/>
                <a:gd name="T3" fmla="*/ 153 h 183"/>
                <a:gd name="T4" fmla="*/ 465 w 465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5" h="183">
                  <a:moveTo>
                    <a:pt x="0" y="178"/>
                  </a:moveTo>
                  <a:cubicBezTo>
                    <a:pt x="62" y="180"/>
                    <a:pt x="125" y="183"/>
                    <a:pt x="203" y="153"/>
                  </a:cubicBezTo>
                  <a:cubicBezTo>
                    <a:pt x="281" y="123"/>
                    <a:pt x="373" y="61"/>
                    <a:pt x="465" y="0"/>
                  </a:cubicBezTo>
                </a:path>
              </a:pathLst>
            </a:custGeom>
            <a:noFill/>
            <a:ln w="25400">
              <a:solidFill>
                <a:srgbClr val="548D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cxnSp>
          <p:nvCxnSpPr>
            <p:cNvPr id="29918" name="AutoShape 10454"/>
            <p:cNvCxnSpPr>
              <a:cxnSpLocks noChangeShapeType="1"/>
            </p:cNvCxnSpPr>
            <p:nvPr/>
          </p:nvCxnSpPr>
          <p:spPr bwMode="auto">
            <a:xfrm flipH="1">
              <a:off x="9873405" y="2245521"/>
              <a:ext cx="9525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19" name="AutoShape 10455"/>
            <p:cNvCxnSpPr>
              <a:cxnSpLocks noChangeShapeType="1"/>
            </p:cNvCxnSpPr>
            <p:nvPr/>
          </p:nvCxnSpPr>
          <p:spPr bwMode="auto">
            <a:xfrm flipH="1">
              <a:off x="9863880" y="2788446"/>
              <a:ext cx="3048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21" name="AutoShape 10457"/>
            <p:cNvCxnSpPr>
              <a:cxnSpLocks noChangeShapeType="1"/>
            </p:cNvCxnSpPr>
            <p:nvPr/>
          </p:nvCxnSpPr>
          <p:spPr bwMode="auto">
            <a:xfrm flipH="1">
              <a:off x="9863880" y="2131221"/>
              <a:ext cx="124777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22" name="AutoShape 10458"/>
            <p:cNvCxnSpPr>
              <a:cxnSpLocks noChangeShapeType="1"/>
            </p:cNvCxnSpPr>
            <p:nvPr/>
          </p:nvCxnSpPr>
          <p:spPr bwMode="auto">
            <a:xfrm flipV="1">
              <a:off x="11111655" y="2150271"/>
              <a:ext cx="0" cy="7920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0" name="Text Box 10121"/>
            <p:cNvSpPr txBox="1">
              <a:spLocks noChangeArrowheads="1"/>
            </p:cNvSpPr>
            <p:nvPr/>
          </p:nvSpPr>
          <p:spPr bwMode="auto">
            <a:xfrm>
              <a:off x="11316040" y="2768701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1" name="Text Box 10123"/>
            <p:cNvSpPr txBox="1">
              <a:spLocks noChangeArrowheads="1"/>
            </p:cNvSpPr>
            <p:nvPr/>
          </p:nvSpPr>
          <p:spPr bwMode="auto">
            <a:xfrm>
              <a:off x="10954492" y="2927857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3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2" name="Text Box 10123"/>
            <p:cNvSpPr txBox="1">
              <a:spLocks noChangeArrowheads="1"/>
            </p:cNvSpPr>
            <p:nvPr/>
          </p:nvSpPr>
          <p:spPr bwMode="auto">
            <a:xfrm>
              <a:off x="10640167" y="2941118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2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3" name="Text Box 10123"/>
            <p:cNvSpPr txBox="1">
              <a:spLocks noChangeArrowheads="1"/>
            </p:cNvSpPr>
            <p:nvPr/>
          </p:nvSpPr>
          <p:spPr bwMode="auto">
            <a:xfrm>
              <a:off x="10012258" y="2931755"/>
              <a:ext cx="3143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r>
                <a:rPr kumimoji="0" lang="fr-FR" altLang="fr-FR" sz="1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1</a:t>
              </a:r>
              <a:endParaRPr kumimoji="0" lang="fr-FR" altLang="fr-FR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9645711" y="1541307"/>
              <a:ext cx="43633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x(t)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9379359" y="2623734"/>
              <a:ext cx="49404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1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)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9379359" y="2126656"/>
              <a:ext cx="49404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2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)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9376568" y="1964611"/>
              <a:ext cx="4940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/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x(t</a:t>
              </a:r>
              <a:r>
                <a:rPr lang="fr-FR" sz="1400" baseline="-25000" dirty="0">
                  <a:solidFill>
                    <a:srgbClr val="000000"/>
                  </a:solidFill>
                  <a:latin typeface="Calibri" pitchFamily="34" charset="0"/>
                </a:rPr>
                <a:t>3</a:t>
              </a:r>
              <a:r>
                <a:rPr lang="fr-FR" sz="1400" dirty="0">
                  <a:solidFill>
                    <a:srgbClr val="000000"/>
                  </a:solidFill>
                  <a:latin typeface="Calibri" pitchFamily="34" charset="0"/>
                </a:rPr>
                <a:t>)</a:t>
              </a:r>
              <a:endParaRPr lang="fr-FR" sz="1400" baseline="-25000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</p:grpSp>
      <p:sp>
        <p:nvSpPr>
          <p:cNvPr id="349" name="ZoneTexte 99"/>
          <p:cNvSpPr txBox="1">
            <a:spLocks noChangeArrowheads="1"/>
          </p:cNvSpPr>
          <p:nvPr/>
        </p:nvSpPr>
        <p:spPr bwMode="auto">
          <a:xfrm>
            <a:off x="6616514" y="5746559"/>
            <a:ext cx="6177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dirty="0">
                <a:latin typeface="Calibri" pitchFamily="34" charset="0"/>
              </a:rPr>
              <a:t>La vitesse étant la dérivée de la position, l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</a:rPr>
              <a:t>a distance parcourue x(t) correspond à l’aire sous le profil de vitesse v(t)</a:t>
            </a:r>
          </a:p>
        </p:txBody>
      </p:sp>
      <p:pic>
        <p:nvPicPr>
          <p:cNvPr id="3356" name="Picture 130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431" y="6555897"/>
            <a:ext cx="1883899" cy="123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2" name="Text Box 308"/>
          <p:cNvSpPr txBox="1">
            <a:spLocks noChangeArrowheads="1"/>
          </p:cNvSpPr>
          <p:nvPr/>
        </p:nvSpPr>
        <p:spPr bwMode="auto">
          <a:xfrm>
            <a:off x="9225029" y="6271672"/>
            <a:ext cx="17589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400" b="1" dirty="0">
                <a:solidFill>
                  <a:srgbClr val="E46C0A"/>
                </a:solidFill>
                <a:latin typeface="Calibri" pitchFamily="34" charset="0"/>
                <a:sym typeface="Wingdings" pitchFamily="2" charset="2"/>
              </a:rPr>
              <a:t> Aire t</a:t>
            </a:r>
            <a:r>
              <a:rPr lang="fr-FR" sz="1400" b="1" dirty="0">
                <a:solidFill>
                  <a:srgbClr val="E46C0A"/>
                </a:solidFill>
                <a:latin typeface="Calibri" pitchFamily="34" charset="0"/>
              </a:rPr>
              <a:t>rapèze</a:t>
            </a:r>
          </a:p>
        </p:txBody>
      </p:sp>
      <p:pic>
        <p:nvPicPr>
          <p:cNvPr id="3360" name="Picture 13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82" y="7844592"/>
            <a:ext cx="1205596" cy="39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4" name="Picture 13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232" y="6555897"/>
            <a:ext cx="8001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5" name="Picture 131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734" y="7882902"/>
            <a:ext cx="808160" cy="379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9" name="Connecteur droit avec flèche 198"/>
          <p:cNvCxnSpPr/>
          <p:nvPr/>
        </p:nvCxnSpPr>
        <p:spPr bwMode="auto">
          <a:xfrm flipV="1">
            <a:off x="2385656" y="8963025"/>
            <a:ext cx="3862744" cy="35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1" name="Connecteur droit avec flèche 200"/>
          <p:cNvCxnSpPr/>
          <p:nvPr/>
        </p:nvCxnSpPr>
        <p:spPr bwMode="auto">
          <a:xfrm rot="16200000" flipV="1">
            <a:off x="1202803" y="8431200"/>
            <a:ext cx="2340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Connecteur droit 202"/>
          <p:cNvCxnSpPr/>
          <p:nvPr/>
        </p:nvCxnSpPr>
        <p:spPr bwMode="auto">
          <a:xfrm rot="16200000" flipH="1">
            <a:off x="2267880" y="8138367"/>
            <a:ext cx="1656000" cy="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Connecteur droit 204"/>
          <p:cNvCxnSpPr/>
          <p:nvPr/>
        </p:nvCxnSpPr>
        <p:spPr bwMode="auto">
          <a:xfrm rot="5400000">
            <a:off x="3864450" y="8222778"/>
            <a:ext cx="2520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Connecteur droit 206"/>
          <p:cNvCxnSpPr/>
          <p:nvPr/>
        </p:nvCxnSpPr>
        <p:spPr bwMode="auto">
          <a:xfrm rot="5400000">
            <a:off x="4588350" y="8232299"/>
            <a:ext cx="2520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8" name="Text Box 10123"/>
          <p:cNvSpPr txBox="1">
            <a:spLocks noChangeArrowheads="1"/>
          </p:cNvSpPr>
          <p:nvPr/>
        </p:nvSpPr>
        <p:spPr bwMode="auto">
          <a:xfrm>
            <a:off x="2954389" y="8976595"/>
            <a:ext cx="314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r>
              <a:rPr lang="fr-FR" altLang="fr-FR" sz="1400" baseline="-25000" dirty="0">
                <a:latin typeface="Calibri" pitchFamily="34" charset="0"/>
                <a:cs typeface="Arial" pitchFamily="34" charset="0"/>
              </a:rPr>
              <a:t>1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 Box 10123"/>
          <p:cNvSpPr txBox="1">
            <a:spLocks noChangeArrowheads="1"/>
          </p:cNvSpPr>
          <p:nvPr/>
        </p:nvSpPr>
        <p:spPr bwMode="auto">
          <a:xfrm>
            <a:off x="4824133" y="8976594"/>
            <a:ext cx="314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r>
              <a:rPr lang="fr-FR" altLang="fr-FR" sz="1400" baseline="-25000" dirty="0">
                <a:latin typeface="Calibri" pitchFamily="34" charset="0"/>
                <a:cs typeface="Arial" pitchFamily="34" charset="0"/>
              </a:rPr>
              <a:t>2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 Box 10123"/>
          <p:cNvSpPr txBox="1">
            <a:spLocks noChangeArrowheads="1"/>
          </p:cNvSpPr>
          <p:nvPr/>
        </p:nvSpPr>
        <p:spPr bwMode="auto">
          <a:xfrm>
            <a:off x="5793123" y="8967070"/>
            <a:ext cx="314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r>
              <a:rPr lang="fr-FR" altLang="fr-FR" sz="1400" baseline="-25000" dirty="0">
                <a:latin typeface="Calibri" pitchFamily="34" charset="0"/>
                <a:cs typeface="Arial" pitchFamily="34" charset="0"/>
              </a:rPr>
              <a:t>3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 Box 10121"/>
          <p:cNvSpPr txBox="1">
            <a:spLocks noChangeArrowheads="1"/>
          </p:cNvSpPr>
          <p:nvPr/>
        </p:nvSpPr>
        <p:spPr bwMode="auto">
          <a:xfrm>
            <a:off x="6191396" y="8810863"/>
            <a:ext cx="314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1929264" y="7166607"/>
            <a:ext cx="4475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  <a:latin typeface="Calibri" pitchFamily="34" charset="0"/>
              </a:rPr>
              <a:t>a(t)</a:t>
            </a:r>
            <a:endParaRPr lang="fr-FR" sz="1400" b="1" dirty="0">
              <a:solidFill>
                <a:srgbClr val="FF0000"/>
              </a:solidFill>
            </a:endParaRPr>
          </a:p>
        </p:txBody>
      </p:sp>
      <p:cxnSp>
        <p:nvCxnSpPr>
          <p:cNvPr id="214" name="Connecteur droit 213"/>
          <p:cNvCxnSpPr/>
          <p:nvPr/>
        </p:nvCxnSpPr>
        <p:spPr bwMode="auto">
          <a:xfrm>
            <a:off x="2385657" y="8475264"/>
            <a:ext cx="7200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" name="Connecteur droit 214"/>
          <p:cNvCxnSpPr/>
          <p:nvPr/>
        </p:nvCxnSpPr>
        <p:spPr bwMode="auto">
          <a:xfrm flipV="1">
            <a:off x="3111261" y="8966581"/>
            <a:ext cx="1980000" cy="227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7" name="Connecteur droit 216"/>
          <p:cNvCxnSpPr/>
          <p:nvPr/>
        </p:nvCxnSpPr>
        <p:spPr bwMode="auto">
          <a:xfrm>
            <a:off x="5103836" y="9487471"/>
            <a:ext cx="7200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1" name="Rectangle 220"/>
          <p:cNvSpPr/>
          <p:nvPr/>
        </p:nvSpPr>
        <p:spPr>
          <a:xfrm>
            <a:off x="2011504" y="8315555"/>
            <a:ext cx="349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Calibri" pitchFamily="34" charset="0"/>
              </a:rPr>
              <a:t>A</a:t>
            </a:r>
            <a:r>
              <a:rPr lang="fr-FR" sz="1400" baseline="-25000" dirty="0">
                <a:solidFill>
                  <a:srgbClr val="FF0000"/>
                </a:solidFill>
                <a:latin typeface="Calibri" pitchFamily="34" charset="0"/>
              </a:rPr>
              <a:t>0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24" name="Connecteur droit 223"/>
          <p:cNvCxnSpPr/>
          <p:nvPr/>
        </p:nvCxnSpPr>
        <p:spPr bwMode="auto">
          <a:xfrm rot="10800000">
            <a:off x="2372010" y="9492016"/>
            <a:ext cx="271590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" name="Rectangle 224"/>
          <p:cNvSpPr/>
          <p:nvPr/>
        </p:nvSpPr>
        <p:spPr>
          <a:xfrm>
            <a:off x="2013778" y="9293423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Calibri" pitchFamily="34" charset="0"/>
              </a:rPr>
              <a:t>-A</a:t>
            </a:r>
            <a:r>
              <a:rPr lang="fr-FR" sz="1400" baseline="-25000" dirty="0">
                <a:solidFill>
                  <a:srgbClr val="FF0000"/>
                </a:solidFill>
                <a:latin typeface="Calibri" pitchFamily="34" charset="0"/>
              </a:rPr>
              <a:t>0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26" name="AutoShape 10142"/>
          <p:cNvCxnSpPr>
            <a:cxnSpLocks noChangeShapeType="1"/>
          </p:cNvCxnSpPr>
          <p:nvPr/>
        </p:nvCxnSpPr>
        <p:spPr bwMode="auto">
          <a:xfrm rot="5400000" flipH="1" flipV="1">
            <a:off x="2267235" y="8136685"/>
            <a:ext cx="939903" cy="743603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0" name="AutoShape 10142"/>
          <p:cNvCxnSpPr>
            <a:cxnSpLocks noChangeShapeType="1"/>
          </p:cNvCxnSpPr>
          <p:nvPr/>
        </p:nvCxnSpPr>
        <p:spPr bwMode="auto">
          <a:xfrm flipV="1">
            <a:off x="3104639" y="8052181"/>
            <a:ext cx="2016000" cy="485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3" name="Connecteur droit 242"/>
          <p:cNvCxnSpPr/>
          <p:nvPr/>
        </p:nvCxnSpPr>
        <p:spPr bwMode="auto">
          <a:xfrm rot="10800000" flipV="1">
            <a:off x="2397692" y="8054450"/>
            <a:ext cx="68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66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7" name="Rectangle 246"/>
          <p:cNvSpPr/>
          <p:nvPr/>
        </p:nvSpPr>
        <p:spPr>
          <a:xfrm>
            <a:off x="2013778" y="7894749"/>
            <a:ext cx="349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rgbClr val="006600"/>
                </a:solidFill>
                <a:latin typeface="Calibri" pitchFamily="34" charset="0"/>
              </a:rPr>
              <a:t>V</a:t>
            </a:r>
            <a:r>
              <a:rPr lang="fr-FR" sz="1400" baseline="-25000" dirty="0">
                <a:solidFill>
                  <a:srgbClr val="006600"/>
                </a:solidFill>
                <a:latin typeface="Calibri" pitchFamily="34" charset="0"/>
              </a:rPr>
              <a:t>0</a:t>
            </a:r>
            <a:endParaRPr lang="fr-FR" sz="1400" dirty="0">
              <a:solidFill>
                <a:srgbClr val="006600"/>
              </a:solidFill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1917888" y="7373599"/>
            <a:ext cx="4475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006600"/>
                </a:solidFill>
                <a:latin typeface="Calibri" pitchFamily="34" charset="0"/>
              </a:rPr>
              <a:t>v(t)</a:t>
            </a:r>
            <a:endParaRPr lang="fr-FR" sz="1400" b="1" dirty="0">
              <a:solidFill>
                <a:srgbClr val="006600"/>
              </a:solidFill>
            </a:endParaRPr>
          </a:p>
        </p:txBody>
      </p:sp>
      <p:sp>
        <p:nvSpPr>
          <p:cNvPr id="251" name="Freeform 10213"/>
          <p:cNvSpPr>
            <a:spLocks/>
          </p:cNvSpPr>
          <p:nvPr/>
        </p:nvSpPr>
        <p:spPr bwMode="auto">
          <a:xfrm>
            <a:off x="2369087" y="8756108"/>
            <a:ext cx="726448" cy="206596"/>
          </a:xfrm>
          <a:custGeom>
            <a:avLst/>
            <a:gdLst>
              <a:gd name="T0" fmla="*/ 0 w 1035"/>
              <a:gd name="T1" fmla="*/ 577215 h 1361"/>
              <a:gd name="T2" fmla="*/ 203200 w 1035"/>
              <a:gd name="T3" fmla="*/ 481366 h 1361"/>
              <a:gd name="T4" fmla="*/ 544830 w 1035"/>
              <a:gd name="T5" fmla="*/ 191698 h 1361"/>
              <a:gd name="T6" fmla="*/ 657225 w 1035"/>
              <a:gd name="T7" fmla="*/ 0 h 1361"/>
              <a:gd name="T8" fmla="*/ 0 60000 65536"/>
              <a:gd name="T9" fmla="*/ 0 60000 65536"/>
              <a:gd name="T10" fmla="*/ 0 60000 65536"/>
              <a:gd name="T11" fmla="*/ 0 60000 65536"/>
              <a:gd name="connsiteX0" fmla="*/ 0 w 1035"/>
              <a:gd name="connsiteY0" fmla="*/ 1361 h 1361"/>
              <a:gd name="connsiteX1" fmla="*/ 320 w 1035"/>
              <a:gd name="connsiteY1" fmla="*/ 1135 h 1361"/>
              <a:gd name="connsiteX2" fmla="*/ 858 w 1035"/>
              <a:gd name="connsiteY2" fmla="*/ 452 h 1361"/>
              <a:gd name="connsiteX3" fmla="*/ 1035 w 1035"/>
              <a:gd name="connsiteY3" fmla="*/ 0 h 1361"/>
              <a:gd name="connsiteX0" fmla="*/ 0 w 1035"/>
              <a:gd name="connsiteY0" fmla="*/ 1361 h 1361"/>
              <a:gd name="connsiteX1" fmla="*/ 320 w 1035"/>
              <a:gd name="connsiteY1" fmla="*/ 1135 h 1361"/>
              <a:gd name="connsiteX2" fmla="*/ 738 w 1035"/>
              <a:gd name="connsiteY2" fmla="*/ 715 h 1361"/>
              <a:gd name="connsiteX3" fmla="*/ 1035 w 1035"/>
              <a:gd name="connsiteY3" fmla="*/ 0 h 1361"/>
              <a:gd name="connsiteX0" fmla="*/ 0 w 1035"/>
              <a:gd name="connsiteY0" fmla="*/ 1361 h 1361"/>
              <a:gd name="connsiteX1" fmla="*/ 440 w 1035"/>
              <a:gd name="connsiteY1" fmla="*/ 1135 h 1361"/>
              <a:gd name="connsiteX2" fmla="*/ 738 w 1035"/>
              <a:gd name="connsiteY2" fmla="*/ 715 h 1361"/>
              <a:gd name="connsiteX3" fmla="*/ 1035 w 1035"/>
              <a:gd name="connsiteY3" fmla="*/ 0 h 1361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738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738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7"/>
              <a:gd name="connsiteX1" fmla="*/ 134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134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533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533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5" h="1077">
                <a:moveTo>
                  <a:pt x="0" y="1076"/>
                </a:moveTo>
                <a:cubicBezTo>
                  <a:pt x="1" y="1070"/>
                  <a:pt x="131" y="1077"/>
                  <a:pt x="220" y="1039"/>
                </a:cubicBezTo>
                <a:cubicBezTo>
                  <a:pt x="309" y="1001"/>
                  <a:pt x="431" y="951"/>
                  <a:pt x="533" y="850"/>
                </a:cubicBezTo>
                <a:cubicBezTo>
                  <a:pt x="635" y="749"/>
                  <a:pt x="748" y="572"/>
                  <a:pt x="832" y="430"/>
                </a:cubicBezTo>
                <a:cubicBezTo>
                  <a:pt x="916" y="288"/>
                  <a:pt x="1006" y="131"/>
                  <a:pt x="1035" y="0"/>
                </a:cubicBezTo>
              </a:path>
            </a:pathLst>
          </a:cu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cxnSp>
        <p:nvCxnSpPr>
          <p:cNvPr id="255" name="AutoShape 10142"/>
          <p:cNvCxnSpPr>
            <a:cxnSpLocks noChangeShapeType="1"/>
          </p:cNvCxnSpPr>
          <p:nvPr/>
        </p:nvCxnSpPr>
        <p:spPr bwMode="auto">
          <a:xfrm flipV="1">
            <a:off x="3089827" y="7572330"/>
            <a:ext cx="2037798" cy="1190150"/>
          </a:xfrm>
          <a:prstGeom prst="straightConnector1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0" name="Freeform 10213"/>
          <p:cNvSpPr>
            <a:spLocks/>
          </p:cNvSpPr>
          <p:nvPr/>
        </p:nvSpPr>
        <p:spPr bwMode="auto">
          <a:xfrm flipH="1" flipV="1">
            <a:off x="5105937" y="7384508"/>
            <a:ext cx="726448" cy="206596"/>
          </a:xfrm>
          <a:custGeom>
            <a:avLst/>
            <a:gdLst>
              <a:gd name="T0" fmla="*/ 0 w 1035"/>
              <a:gd name="T1" fmla="*/ 577215 h 1361"/>
              <a:gd name="T2" fmla="*/ 203200 w 1035"/>
              <a:gd name="T3" fmla="*/ 481366 h 1361"/>
              <a:gd name="T4" fmla="*/ 544830 w 1035"/>
              <a:gd name="T5" fmla="*/ 191698 h 1361"/>
              <a:gd name="T6" fmla="*/ 657225 w 1035"/>
              <a:gd name="T7" fmla="*/ 0 h 1361"/>
              <a:gd name="T8" fmla="*/ 0 60000 65536"/>
              <a:gd name="T9" fmla="*/ 0 60000 65536"/>
              <a:gd name="T10" fmla="*/ 0 60000 65536"/>
              <a:gd name="T11" fmla="*/ 0 60000 65536"/>
              <a:gd name="connsiteX0" fmla="*/ 0 w 1035"/>
              <a:gd name="connsiteY0" fmla="*/ 1361 h 1361"/>
              <a:gd name="connsiteX1" fmla="*/ 320 w 1035"/>
              <a:gd name="connsiteY1" fmla="*/ 1135 h 1361"/>
              <a:gd name="connsiteX2" fmla="*/ 858 w 1035"/>
              <a:gd name="connsiteY2" fmla="*/ 452 h 1361"/>
              <a:gd name="connsiteX3" fmla="*/ 1035 w 1035"/>
              <a:gd name="connsiteY3" fmla="*/ 0 h 1361"/>
              <a:gd name="connsiteX0" fmla="*/ 0 w 1035"/>
              <a:gd name="connsiteY0" fmla="*/ 1361 h 1361"/>
              <a:gd name="connsiteX1" fmla="*/ 320 w 1035"/>
              <a:gd name="connsiteY1" fmla="*/ 1135 h 1361"/>
              <a:gd name="connsiteX2" fmla="*/ 738 w 1035"/>
              <a:gd name="connsiteY2" fmla="*/ 715 h 1361"/>
              <a:gd name="connsiteX3" fmla="*/ 1035 w 1035"/>
              <a:gd name="connsiteY3" fmla="*/ 0 h 1361"/>
              <a:gd name="connsiteX0" fmla="*/ 0 w 1035"/>
              <a:gd name="connsiteY0" fmla="*/ 1361 h 1361"/>
              <a:gd name="connsiteX1" fmla="*/ 440 w 1035"/>
              <a:gd name="connsiteY1" fmla="*/ 1135 h 1361"/>
              <a:gd name="connsiteX2" fmla="*/ 738 w 1035"/>
              <a:gd name="connsiteY2" fmla="*/ 715 h 1361"/>
              <a:gd name="connsiteX3" fmla="*/ 1035 w 1035"/>
              <a:gd name="connsiteY3" fmla="*/ 0 h 1361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738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738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6"/>
              <a:gd name="connsiteX1" fmla="*/ 440 w 1035"/>
              <a:gd name="connsiteY1" fmla="*/ 850 h 1076"/>
              <a:gd name="connsiteX2" fmla="*/ 832 w 1035"/>
              <a:gd name="connsiteY2" fmla="*/ 430 h 1076"/>
              <a:gd name="connsiteX3" fmla="*/ 1035 w 1035"/>
              <a:gd name="connsiteY3" fmla="*/ 0 h 1076"/>
              <a:gd name="connsiteX0" fmla="*/ 0 w 1035"/>
              <a:gd name="connsiteY0" fmla="*/ 1076 h 1077"/>
              <a:gd name="connsiteX1" fmla="*/ 134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134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440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533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  <a:gd name="connsiteX0" fmla="*/ 0 w 1035"/>
              <a:gd name="connsiteY0" fmla="*/ 1076 h 1077"/>
              <a:gd name="connsiteX1" fmla="*/ 220 w 1035"/>
              <a:gd name="connsiteY1" fmla="*/ 1039 h 1077"/>
              <a:gd name="connsiteX2" fmla="*/ 533 w 1035"/>
              <a:gd name="connsiteY2" fmla="*/ 850 h 1077"/>
              <a:gd name="connsiteX3" fmla="*/ 832 w 1035"/>
              <a:gd name="connsiteY3" fmla="*/ 430 h 1077"/>
              <a:gd name="connsiteX4" fmla="*/ 1035 w 1035"/>
              <a:gd name="connsiteY4" fmla="*/ 0 h 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5" h="1077">
                <a:moveTo>
                  <a:pt x="0" y="1076"/>
                </a:moveTo>
                <a:cubicBezTo>
                  <a:pt x="1" y="1070"/>
                  <a:pt x="131" y="1077"/>
                  <a:pt x="220" y="1039"/>
                </a:cubicBezTo>
                <a:cubicBezTo>
                  <a:pt x="309" y="1001"/>
                  <a:pt x="431" y="951"/>
                  <a:pt x="533" y="850"/>
                </a:cubicBezTo>
                <a:cubicBezTo>
                  <a:pt x="635" y="749"/>
                  <a:pt x="748" y="572"/>
                  <a:pt x="832" y="430"/>
                </a:cubicBezTo>
                <a:cubicBezTo>
                  <a:pt x="916" y="288"/>
                  <a:pt x="1006" y="131"/>
                  <a:pt x="1035" y="0"/>
                </a:cubicBezTo>
              </a:path>
            </a:pathLst>
          </a:cu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80" name="Rectangle 279"/>
          <p:cNvSpPr/>
          <p:nvPr/>
        </p:nvSpPr>
        <p:spPr>
          <a:xfrm>
            <a:off x="1917888" y="7583149"/>
            <a:ext cx="4475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0000CC"/>
                </a:solidFill>
                <a:latin typeface="Calibri" pitchFamily="34" charset="0"/>
              </a:rPr>
              <a:t>x(t)</a:t>
            </a:r>
            <a:endParaRPr lang="fr-FR" sz="1400" b="1" dirty="0">
              <a:solidFill>
                <a:srgbClr val="0000CC"/>
              </a:solidFill>
            </a:endParaRPr>
          </a:p>
        </p:txBody>
      </p:sp>
      <p:cxnSp>
        <p:nvCxnSpPr>
          <p:cNvPr id="289" name="AutoShape 10142"/>
          <p:cNvCxnSpPr>
            <a:cxnSpLocks noChangeShapeType="1"/>
          </p:cNvCxnSpPr>
          <p:nvPr/>
        </p:nvCxnSpPr>
        <p:spPr bwMode="auto">
          <a:xfrm rot="16200000" flipV="1">
            <a:off x="5019960" y="8146210"/>
            <a:ext cx="939903" cy="743603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5" name="Text Box 308"/>
          <p:cNvSpPr txBox="1">
            <a:spLocks noChangeArrowheads="1"/>
          </p:cNvSpPr>
          <p:nvPr/>
        </p:nvSpPr>
        <p:spPr bwMode="auto">
          <a:xfrm>
            <a:off x="0" y="7185597"/>
            <a:ext cx="20193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400" b="1" dirty="0">
                <a:solidFill>
                  <a:srgbClr val="E46C0A"/>
                </a:solidFill>
                <a:latin typeface="Calibri" pitchFamily="34" charset="0"/>
                <a:sym typeface="Wingdings" pitchFamily="2" charset="2"/>
              </a:rPr>
              <a:t> Trapèze des vitesses</a:t>
            </a:r>
            <a:endParaRPr lang="fr-FR" sz="1400" b="1" dirty="0">
              <a:solidFill>
                <a:srgbClr val="E46C0A"/>
              </a:solidFill>
              <a:latin typeface="Calibri" pitchFamily="34" charset="0"/>
            </a:endParaRPr>
          </a:p>
        </p:txBody>
      </p:sp>
      <p:sp>
        <p:nvSpPr>
          <p:cNvPr id="308" name="Rectangle 307"/>
          <p:cNvSpPr/>
          <p:nvPr/>
        </p:nvSpPr>
        <p:spPr>
          <a:xfrm>
            <a:off x="2335411" y="7263140"/>
            <a:ext cx="78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cs typeface="Arial" charset="0"/>
              </a:rPr>
              <a:t>MTUV</a:t>
            </a:r>
          </a:p>
          <a:p>
            <a:pPr algn="ctr"/>
            <a:r>
              <a:rPr lang="fr-FR" sz="1400" dirty="0">
                <a:latin typeface="Calibri" pitchFamily="34" charset="0"/>
                <a:cs typeface="Arial" charset="0"/>
              </a:rPr>
              <a:t>accéléré</a:t>
            </a:r>
            <a:endParaRPr lang="fr-FR" sz="1400" dirty="0"/>
          </a:p>
        </p:txBody>
      </p:sp>
      <p:sp>
        <p:nvSpPr>
          <p:cNvPr id="310" name="Rectangle 309"/>
          <p:cNvSpPr/>
          <p:nvPr/>
        </p:nvSpPr>
        <p:spPr>
          <a:xfrm>
            <a:off x="3859411" y="7367915"/>
            <a:ext cx="542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cs typeface="Arial" charset="0"/>
              </a:rPr>
              <a:t>MTU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078611" y="6863090"/>
            <a:ext cx="8154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cs typeface="Arial" charset="0"/>
              </a:rPr>
              <a:t>MTUV</a:t>
            </a:r>
          </a:p>
          <a:p>
            <a:pPr algn="ctr"/>
            <a:r>
              <a:rPr lang="fr-FR" sz="1400" dirty="0">
                <a:latin typeface="Calibri" pitchFamily="34" charset="0"/>
                <a:cs typeface="Arial" charset="0"/>
              </a:rPr>
              <a:t>décéléré</a:t>
            </a:r>
            <a:endParaRPr lang="fr-FR" sz="1400" dirty="0"/>
          </a:p>
        </p:txBody>
      </p:sp>
      <p:sp>
        <p:nvSpPr>
          <p:cNvPr id="314" name="ZoneTexte 99"/>
          <p:cNvSpPr txBox="1">
            <a:spLocks noChangeArrowheads="1"/>
          </p:cNvSpPr>
          <p:nvPr/>
        </p:nvSpPr>
        <p:spPr bwMode="auto">
          <a:xfrm>
            <a:off x="8043343" y="8323083"/>
            <a:ext cx="1482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dirty="0">
                <a:latin typeface="Calibri" pitchFamily="34" charset="0"/>
              </a:rPr>
              <a:t>3,6 km/h = 1 m/s</a:t>
            </a:r>
            <a:endParaRPr lang="fr-FR" sz="1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15" name="Rectangle 75"/>
          <p:cNvSpPr>
            <a:spLocks noChangeArrowheads="1"/>
          </p:cNvSpPr>
          <p:nvPr/>
        </p:nvSpPr>
        <p:spPr bwMode="auto">
          <a:xfrm>
            <a:off x="6684572" y="8320776"/>
            <a:ext cx="1340074" cy="302962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6" name="ZoneTexte 21"/>
          <p:cNvSpPr txBox="1">
            <a:spLocks noChangeArrowheads="1"/>
          </p:cNvSpPr>
          <p:nvPr/>
        </p:nvSpPr>
        <p:spPr bwMode="auto">
          <a:xfrm>
            <a:off x="6633772" y="8317384"/>
            <a:ext cx="13908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Conversion</a:t>
            </a:r>
          </a:p>
        </p:txBody>
      </p:sp>
      <p:sp>
        <p:nvSpPr>
          <p:cNvPr id="231" name="ZoneTexte 99"/>
          <p:cNvSpPr txBox="1">
            <a:spLocks noChangeArrowheads="1"/>
          </p:cNvSpPr>
          <p:nvPr/>
        </p:nvSpPr>
        <p:spPr bwMode="auto">
          <a:xfrm>
            <a:off x="0" y="7513786"/>
            <a:ext cx="857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b="1" dirty="0">
                <a:latin typeface="Calibri" pitchFamily="34" charset="0"/>
              </a:rPr>
              <a:t>t</a:t>
            </a:r>
            <a:r>
              <a:rPr lang="fr-FR" sz="1400" b="1" baseline="-25000" dirty="0">
                <a:latin typeface="Calibri" pitchFamily="34" charset="0"/>
              </a:rPr>
              <a:t>0</a:t>
            </a:r>
            <a:r>
              <a:rPr lang="fr-FR" sz="1400" b="1" dirty="0">
                <a:latin typeface="Calibri" pitchFamily="34" charset="0"/>
              </a:rPr>
              <a:t> = 0</a:t>
            </a:r>
            <a:endParaRPr lang="fr-FR" sz="1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37" name="ZoneTexte 99"/>
          <p:cNvSpPr txBox="1">
            <a:spLocks noChangeArrowheads="1"/>
          </p:cNvSpPr>
          <p:nvPr/>
        </p:nvSpPr>
        <p:spPr bwMode="auto">
          <a:xfrm>
            <a:off x="8043343" y="8770758"/>
            <a:ext cx="35676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fr-FR" sz="1400" dirty="0">
                <a:latin typeface="Calibri" pitchFamily="34" charset="0"/>
              </a:rPr>
              <a:t>Pour la plupart des mouvement, on a </a:t>
            </a:r>
            <a:r>
              <a:rPr lang="fr-FR" sz="1400" b="1" dirty="0">
                <a:latin typeface="Calibri" pitchFamily="34" charset="0"/>
              </a:rPr>
              <a:t>t</a:t>
            </a:r>
            <a:r>
              <a:rPr lang="fr-FR" sz="1400" b="1" baseline="-25000" dirty="0">
                <a:latin typeface="Calibri" pitchFamily="34" charset="0"/>
              </a:rPr>
              <a:t>0</a:t>
            </a:r>
            <a:r>
              <a:rPr lang="fr-FR" sz="1400" b="1" dirty="0">
                <a:latin typeface="Calibri" pitchFamily="34" charset="0"/>
              </a:rPr>
              <a:t> = 0</a:t>
            </a:r>
            <a:endParaRPr lang="fr-FR" sz="14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41" name="Rectangle 75"/>
          <p:cNvSpPr>
            <a:spLocks noChangeArrowheads="1"/>
          </p:cNvSpPr>
          <p:nvPr/>
        </p:nvSpPr>
        <p:spPr bwMode="auto">
          <a:xfrm>
            <a:off x="6684572" y="8768451"/>
            <a:ext cx="1340074" cy="302962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46" name="ZoneTexte 21"/>
          <p:cNvSpPr txBox="1">
            <a:spLocks noChangeArrowheads="1"/>
          </p:cNvSpPr>
          <p:nvPr/>
        </p:nvSpPr>
        <p:spPr bwMode="auto">
          <a:xfrm>
            <a:off x="6633772" y="8765059"/>
            <a:ext cx="13908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Remarque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" grpId="0"/>
      <p:bldP spid="195" grpId="0"/>
      <p:bldP spid="196" grpId="0"/>
      <p:bldP spid="197" grpId="0"/>
      <p:bldP spid="235" grpId="0"/>
      <p:bldP spid="236" grpId="0"/>
      <p:bldP spid="238" grpId="0"/>
      <p:bldP spid="239" grpId="0"/>
      <p:bldP spid="293" grpId="0"/>
      <p:bldP spid="300" grpId="0"/>
      <p:bldP spid="304" grpId="0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336</Words>
  <Application>Microsoft Office PowerPoint</Application>
  <PresentationFormat>A3 (297 x 420 mm)</PresentationFormat>
  <Paragraphs>87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Modèle par défaut</vt:lpstr>
      <vt:lpstr>Equation</vt:lpstr>
      <vt:lpstr>Présentation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jack</dc:creator>
  <cp:lastModifiedBy>Thomas Lusseau</cp:lastModifiedBy>
  <cp:revision>128</cp:revision>
  <cp:lastPrinted>2014-10-03T09:11:12Z</cp:lastPrinted>
  <dcterms:created xsi:type="dcterms:W3CDTF">2008-03-06T09:11:14Z</dcterms:created>
  <dcterms:modified xsi:type="dcterms:W3CDTF">2025-03-30T19:06:48Z</dcterms:modified>
</cp:coreProperties>
</file>