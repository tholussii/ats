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8" r:id="rId2"/>
  </p:sldIdLst>
  <p:sldSz cx="12801600" cy="9601200" type="A3"/>
  <p:notesSz cx="7099300" cy="10234613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5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5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5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5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5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5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5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5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5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24">
          <p15:clr>
            <a:srgbClr val="A4A3A4"/>
          </p15:clr>
        </p15:guide>
        <p15:guide id="2" pos="403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0000FF"/>
    <a:srgbClr val="FF66CC"/>
    <a:srgbClr val="00CC00"/>
    <a:srgbClr val="FF6600"/>
    <a:srgbClr val="CC0000"/>
    <a:srgbClr val="E9F4F5"/>
    <a:srgbClr val="CCECFF"/>
    <a:srgbClr val="FFFFCC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40" autoAdjust="0"/>
    <p:restoredTop sz="95972" autoAdjust="0"/>
  </p:normalViewPr>
  <p:slideViewPr>
    <p:cSldViewPr snapToGrid="0">
      <p:cViewPr varScale="1">
        <p:scale>
          <a:sx n="57" d="100"/>
          <a:sy n="57" d="100"/>
        </p:scale>
        <p:origin x="1704" y="38"/>
      </p:cViewPr>
      <p:guideLst>
        <p:guide orient="horz" pos="3024"/>
        <p:guide pos="403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3C483C-ED65-4179-AC48-B12DDC9AA33C}" type="datetimeFigureOut">
              <a:rPr lang="fr-FR" smtClean="0"/>
              <a:pPr/>
              <a:t>30/03/2025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DF8F2E-09AA-4C84-9ED8-0FE96BA9D9F1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5271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60438" y="2982913"/>
            <a:ext cx="10880725" cy="2057400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920875" y="5440363"/>
            <a:ext cx="8959850" cy="24542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83B5B1-293A-4D46-9B13-F809DFE06A5B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39E08D-6BBD-4ECD-B397-D34AC03A79CB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11238" y="6169025"/>
            <a:ext cx="10880725" cy="19081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011238" y="4068763"/>
            <a:ext cx="10880725" cy="2100262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76811A-6120-4802-85C0-0B29DC220DB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39763" y="2239963"/>
            <a:ext cx="5684837" cy="6337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477000" y="2239963"/>
            <a:ext cx="5684838" cy="6337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A0E52A-426E-4188-8EED-CC859BDF732C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39763" y="2149475"/>
            <a:ext cx="5656262" cy="895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39763" y="3044825"/>
            <a:ext cx="5656262" cy="55324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502400" y="2149475"/>
            <a:ext cx="5659438" cy="895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502400" y="3044825"/>
            <a:ext cx="5659438" cy="55324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B2E58B-57AF-4F0D-917C-B6E7D5F16E4F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456461-FBCF-4F1D-8D29-E50AE79020F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4B2C92-76BE-4DB0-884C-FF53CB706A8D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9763" y="382588"/>
            <a:ext cx="4211637" cy="16271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5388" y="382588"/>
            <a:ext cx="7156450" cy="81946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39763" y="2009775"/>
            <a:ext cx="4211637" cy="65674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663771-D479-4586-AABF-1109CB5AA70D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09838" y="6721475"/>
            <a:ext cx="7680325" cy="79216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509838" y="857250"/>
            <a:ext cx="7680325" cy="57610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509838" y="7513638"/>
            <a:ext cx="7680325" cy="11271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156C06-EC1D-4D4C-B6D4-A6DB1CB2162D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61CB25-4F15-44F2-B4A1-0D9FC60AE38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9282113" y="384175"/>
            <a:ext cx="2879725" cy="8193088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39763" y="384175"/>
            <a:ext cx="8489950" cy="819308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03C3E6-4E4A-40FF-99C2-CB4A733912A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39763" y="384175"/>
            <a:ext cx="11522075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28016" tIns="64008" rIns="128016" bIns="6400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 style du titre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39763" y="2239963"/>
            <a:ext cx="11522075" cy="633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28016" tIns="64008" rIns="128016" bIns="6400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39763" y="8743950"/>
            <a:ext cx="2987675" cy="66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28016" tIns="64008" rIns="128016" bIns="64008" numCol="1" anchor="t" anchorCtr="0" compatLnSpc="1">
            <a:prstTxWarp prst="textNoShape">
              <a:avLst/>
            </a:prstTxWarp>
          </a:bodyPr>
          <a:lstStyle>
            <a:lvl1pPr>
              <a:defRPr sz="2000">
                <a:latin typeface="Arial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373563" y="8743950"/>
            <a:ext cx="4054475" cy="66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28016" tIns="64008" rIns="128016" bIns="64008" numCol="1" anchor="t" anchorCtr="0" compatLnSpc="1">
            <a:prstTxWarp prst="textNoShape">
              <a:avLst/>
            </a:prstTxWarp>
          </a:bodyPr>
          <a:lstStyle>
            <a:lvl1pPr algn="ctr">
              <a:defRPr sz="2000">
                <a:latin typeface="Arial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74163" y="8743950"/>
            <a:ext cx="2987675" cy="66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28016" tIns="64008" rIns="128016" bIns="64008" numCol="1" anchor="t" anchorCtr="0" compatLnSpc="1">
            <a:prstTxWarp prst="textNoShape">
              <a:avLst/>
            </a:prstTxWarp>
          </a:bodyPr>
          <a:lstStyle>
            <a:lvl1pPr algn="r">
              <a:defRPr sz="2000">
                <a:latin typeface="Arial" pitchFamily="34" charset="0"/>
              </a:defRPr>
            </a:lvl1pPr>
          </a:lstStyle>
          <a:p>
            <a:pPr>
              <a:defRPr/>
            </a:pPr>
            <a:fld id="{DB9C811E-82DD-450B-BF93-D6789109E07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279525" rtl="0" eaLnBrk="0" fontAlgn="base" hangingPunct="0">
        <a:spcBef>
          <a:spcPct val="0"/>
        </a:spcBef>
        <a:spcAft>
          <a:spcPct val="0"/>
        </a:spcAft>
        <a:defRPr sz="62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279525" rtl="0" eaLnBrk="0" fontAlgn="base" hangingPunct="0">
        <a:spcBef>
          <a:spcPct val="0"/>
        </a:spcBef>
        <a:spcAft>
          <a:spcPct val="0"/>
        </a:spcAft>
        <a:defRPr sz="6200">
          <a:solidFill>
            <a:schemeClr val="tx2"/>
          </a:solidFill>
          <a:latin typeface="Arial" charset="0"/>
        </a:defRPr>
      </a:lvl2pPr>
      <a:lvl3pPr algn="ctr" defTabSz="1279525" rtl="0" eaLnBrk="0" fontAlgn="base" hangingPunct="0">
        <a:spcBef>
          <a:spcPct val="0"/>
        </a:spcBef>
        <a:spcAft>
          <a:spcPct val="0"/>
        </a:spcAft>
        <a:defRPr sz="6200">
          <a:solidFill>
            <a:schemeClr val="tx2"/>
          </a:solidFill>
          <a:latin typeface="Arial" charset="0"/>
        </a:defRPr>
      </a:lvl3pPr>
      <a:lvl4pPr algn="ctr" defTabSz="1279525" rtl="0" eaLnBrk="0" fontAlgn="base" hangingPunct="0">
        <a:spcBef>
          <a:spcPct val="0"/>
        </a:spcBef>
        <a:spcAft>
          <a:spcPct val="0"/>
        </a:spcAft>
        <a:defRPr sz="6200">
          <a:solidFill>
            <a:schemeClr val="tx2"/>
          </a:solidFill>
          <a:latin typeface="Arial" charset="0"/>
        </a:defRPr>
      </a:lvl4pPr>
      <a:lvl5pPr algn="ctr" defTabSz="1279525" rtl="0" eaLnBrk="0" fontAlgn="base" hangingPunct="0">
        <a:spcBef>
          <a:spcPct val="0"/>
        </a:spcBef>
        <a:spcAft>
          <a:spcPct val="0"/>
        </a:spcAft>
        <a:defRPr sz="6200">
          <a:solidFill>
            <a:schemeClr val="tx2"/>
          </a:solidFill>
          <a:latin typeface="Arial" charset="0"/>
        </a:defRPr>
      </a:lvl5pPr>
      <a:lvl6pPr marL="457200" algn="ctr" defTabSz="1279525" rtl="0" fontAlgn="base">
        <a:spcBef>
          <a:spcPct val="0"/>
        </a:spcBef>
        <a:spcAft>
          <a:spcPct val="0"/>
        </a:spcAft>
        <a:defRPr sz="6200">
          <a:solidFill>
            <a:schemeClr val="tx2"/>
          </a:solidFill>
          <a:latin typeface="Arial" charset="0"/>
        </a:defRPr>
      </a:lvl6pPr>
      <a:lvl7pPr marL="914400" algn="ctr" defTabSz="1279525" rtl="0" fontAlgn="base">
        <a:spcBef>
          <a:spcPct val="0"/>
        </a:spcBef>
        <a:spcAft>
          <a:spcPct val="0"/>
        </a:spcAft>
        <a:defRPr sz="6200">
          <a:solidFill>
            <a:schemeClr val="tx2"/>
          </a:solidFill>
          <a:latin typeface="Arial" charset="0"/>
        </a:defRPr>
      </a:lvl7pPr>
      <a:lvl8pPr marL="1371600" algn="ctr" defTabSz="1279525" rtl="0" fontAlgn="base">
        <a:spcBef>
          <a:spcPct val="0"/>
        </a:spcBef>
        <a:spcAft>
          <a:spcPct val="0"/>
        </a:spcAft>
        <a:defRPr sz="6200">
          <a:solidFill>
            <a:schemeClr val="tx2"/>
          </a:solidFill>
          <a:latin typeface="Arial" charset="0"/>
        </a:defRPr>
      </a:lvl8pPr>
      <a:lvl9pPr marL="1828800" algn="ctr" defTabSz="1279525" rtl="0" fontAlgn="base">
        <a:spcBef>
          <a:spcPct val="0"/>
        </a:spcBef>
        <a:spcAft>
          <a:spcPct val="0"/>
        </a:spcAft>
        <a:defRPr sz="6200">
          <a:solidFill>
            <a:schemeClr val="tx2"/>
          </a:solidFill>
          <a:latin typeface="Arial" charset="0"/>
        </a:defRPr>
      </a:lvl9pPr>
    </p:titleStyle>
    <p:bodyStyle>
      <a:lvl1pPr marL="479425" indent="-479425" algn="l" defTabSz="1279525" rtl="0" eaLnBrk="0" fontAlgn="base" hangingPunct="0">
        <a:spcBef>
          <a:spcPct val="20000"/>
        </a:spcBef>
        <a:spcAft>
          <a:spcPct val="0"/>
        </a:spcAft>
        <a:buChar char="•"/>
        <a:defRPr sz="4500">
          <a:solidFill>
            <a:schemeClr val="tx1"/>
          </a:solidFill>
          <a:latin typeface="+mn-lt"/>
          <a:ea typeface="+mn-ea"/>
          <a:cs typeface="+mn-cs"/>
        </a:defRPr>
      </a:lvl1pPr>
      <a:lvl2pPr marL="1039813" indent="-400050" algn="l" defTabSz="1279525" rtl="0" eaLnBrk="0" fontAlgn="base" hangingPunct="0">
        <a:spcBef>
          <a:spcPct val="20000"/>
        </a:spcBef>
        <a:spcAft>
          <a:spcPct val="0"/>
        </a:spcAft>
        <a:buChar char="–"/>
        <a:defRPr sz="3900">
          <a:solidFill>
            <a:schemeClr val="tx1"/>
          </a:solidFill>
          <a:latin typeface="+mn-lt"/>
        </a:defRPr>
      </a:lvl2pPr>
      <a:lvl3pPr marL="1600200" indent="-320675" algn="l" defTabSz="1279525" rtl="0" eaLnBrk="0" fontAlgn="base" hangingPunct="0">
        <a:spcBef>
          <a:spcPct val="20000"/>
        </a:spcBef>
        <a:spcAft>
          <a:spcPct val="0"/>
        </a:spcAft>
        <a:buChar char="•"/>
        <a:defRPr sz="3400">
          <a:solidFill>
            <a:schemeClr val="tx1"/>
          </a:solidFill>
          <a:latin typeface="+mn-lt"/>
        </a:defRPr>
      </a:lvl3pPr>
      <a:lvl4pPr marL="2239963" indent="-319088" algn="l" defTabSz="1279525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4pPr>
      <a:lvl5pPr marL="2879725" indent="-319088" algn="l" defTabSz="1279525" rtl="0" eaLnBrk="0" fontAlgn="base" hangingPunct="0">
        <a:spcBef>
          <a:spcPct val="20000"/>
        </a:spcBef>
        <a:spcAft>
          <a:spcPct val="0"/>
        </a:spcAft>
        <a:buChar char="»"/>
        <a:defRPr sz="2800">
          <a:solidFill>
            <a:schemeClr val="tx1"/>
          </a:solidFill>
          <a:latin typeface="+mn-lt"/>
        </a:defRPr>
      </a:lvl5pPr>
      <a:lvl6pPr marL="3336925" indent="-319088" algn="l" defTabSz="1279525" rtl="0" fontAlgn="base">
        <a:spcBef>
          <a:spcPct val="20000"/>
        </a:spcBef>
        <a:spcAft>
          <a:spcPct val="0"/>
        </a:spcAft>
        <a:buChar char="»"/>
        <a:defRPr sz="2800">
          <a:solidFill>
            <a:schemeClr val="tx1"/>
          </a:solidFill>
          <a:latin typeface="+mn-lt"/>
        </a:defRPr>
      </a:lvl6pPr>
      <a:lvl7pPr marL="3794125" indent="-319088" algn="l" defTabSz="1279525" rtl="0" fontAlgn="base">
        <a:spcBef>
          <a:spcPct val="20000"/>
        </a:spcBef>
        <a:spcAft>
          <a:spcPct val="0"/>
        </a:spcAft>
        <a:buChar char="»"/>
        <a:defRPr sz="2800">
          <a:solidFill>
            <a:schemeClr val="tx1"/>
          </a:solidFill>
          <a:latin typeface="+mn-lt"/>
        </a:defRPr>
      </a:lvl7pPr>
      <a:lvl8pPr marL="4251325" indent="-319088" algn="l" defTabSz="1279525" rtl="0" fontAlgn="base">
        <a:spcBef>
          <a:spcPct val="20000"/>
        </a:spcBef>
        <a:spcAft>
          <a:spcPct val="0"/>
        </a:spcAft>
        <a:buChar char="»"/>
        <a:defRPr sz="2800">
          <a:solidFill>
            <a:schemeClr val="tx1"/>
          </a:solidFill>
          <a:latin typeface="+mn-lt"/>
        </a:defRPr>
      </a:lvl8pPr>
      <a:lvl9pPr marL="4708525" indent="-319088" algn="l" defTabSz="1279525" rtl="0" fontAlgn="base">
        <a:spcBef>
          <a:spcPct val="20000"/>
        </a:spcBef>
        <a:spcAft>
          <a:spcPct val="0"/>
        </a:spcAft>
        <a:buChar char="»"/>
        <a:defRPr sz="28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.bin"/><Relationship Id="rId18" Type="http://schemas.openxmlformats.org/officeDocument/2006/relationships/image" Target="../media/image8.png"/><Relationship Id="rId26" Type="http://schemas.openxmlformats.org/officeDocument/2006/relationships/image" Target="../media/image12.wmf"/><Relationship Id="rId39" Type="http://schemas.openxmlformats.org/officeDocument/2006/relationships/image" Target="../media/image25.png"/><Relationship Id="rId21" Type="http://schemas.openxmlformats.org/officeDocument/2006/relationships/oleObject" Target="../embeddings/oleObject6.bin"/><Relationship Id="rId34" Type="http://schemas.openxmlformats.org/officeDocument/2006/relationships/image" Target="../media/image22.png"/><Relationship Id="rId7" Type="http://schemas.openxmlformats.org/officeDocument/2006/relationships/image" Target="../media/image1.png"/><Relationship Id="rId12" Type="http://schemas.openxmlformats.org/officeDocument/2006/relationships/image" Target="../media/image4.wmf"/><Relationship Id="rId17" Type="http://schemas.openxmlformats.org/officeDocument/2006/relationships/image" Target="../media/image7.wmf"/><Relationship Id="rId25" Type="http://schemas.openxmlformats.org/officeDocument/2006/relationships/oleObject" Target="../embeddings/oleObject8.bin"/><Relationship Id="rId33" Type="http://schemas.openxmlformats.org/officeDocument/2006/relationships/image" Target="../media/image21.png"/><Relationship Id="rId38" Type="http://schemas.openxmlformats.org/officeDocument/2006/relationships/image" Target="../media/image24.wmf"/><Relationship Id="rId16" Type="http://schemas.openxmlformats.org/officeDocument/2006/relationships/oleObject" Target="../embeddings/oleObject4.bin"/><Relationship Id="rId20" Type="http://schemas.openxmlformats.org/officeDocument/2006/relationships/image" Target="../media/image9.wmf"/><Relationship Id="rId29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oleObject" Target="../embeddings/oleObject2.bin"/><Relationship Id="rId24" Type="http://schemas.openxmlformats.org/officeDocument/2006/relationships/image" Target="../media/image11.wmf"/><Relationship Id="rId32" Type="http://schemas.openxmlformats.org/officeDocument/2006/relationships/image" Target="../media/image20.png"/><Relationship Id="rId37" Type="http://schemas.openxmlformats.org/officeDocument/2006/relationships/oleObject" Target="../embeddings/oleObject10.bin"/><Relationship Id="rId5" Type="http://schemas.openxmlformats.org/officeDocument/2006/relationships/image" Target="../media/image13.png"/><Relationship Id="rId15" Type="http://schemas.openxmlformats.org/officeDocument/2006/relationships/image" Target="../media/image6.png"/><Relationship Id="rId23" Type="http://schemas.openxmlformats.org/officeDocument/2006/relationships/oleObject" Target="../embeddings/oleObject7.bin"/><Relationship Id="rId28" Type="http://schemas.openxmlformats.org/officeDocument/2006/relationships/image" Target="../media/image16.png"/><Relationship Id="rId36" Type="http://schemas.openxmlformats.org/officeDocument/2006/relationships/image" Target="../media/image23.wmf"/><Relationship Id="rId10" Type="http://schemas.openxmlformats.org/officeDocument/2006/relationships/image" Target="../media/image3.wmf"/><Relationship Id="rId19" Type="http://schemas.openxmlformats.org/officeDocument/2006/relationships/oleObject" Target="../embeddings/oleObject5.bin"/><Relationship Id="rId31" Type="http://schemas.openxmlformats.org/officeDocument/2006/relationships/image" Target="../media/image19.png"/><Relationship Id="rId4" Type="http://schemas.openxmlformats.org/officeDocument/2006/relationships/image" Target="../media/image12.png"/><Relationship Id="rId9" Type="http://schemas.openxmlformats.org/officeDocument/2006/relationships/oleObject" Target="../embeddings/oleObject1.bin"/><Relationship Id="rId14" Type="http://schemas.openxmlformats.org/officeDocument/2006/relationships/image" Target="../media/image5.wmf"/><Relationship Id="rId22" Type="http://schemas.openxmlformats.org/officeDocument/2006/relationships/image" Target="../media/image10.wmf"/><Relationship Id="rId27" Type="http://schemas.openxmlformats.org/officeDocument/2006/relationships/image" Target="../media/image15.png"/><Relationship Id="rId30" Type="http://schemas.openxmlformats.org/officeDocument/2006/relationships/image" Target="../media/image18.png"/><Relationship Id="rId35" Type="http://schemas.openxmlformats.org/officeDocument/2006/relationships/oleObject" Target="../embeddings/oleObject9.bin"/><Relationship Id="rId8" Type="http://schemas.openxmlformats.org/officeDocument/2006/relationships/image" Target="../media/image2.png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9301859" y="6570002"/>
            <a:ext cx="137890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400" dirty="0">
                <a:latin typeface="Calibri" panose="020F0502020204030204" pitchFamily="34" charset="0"/>
              </a:rPr>
              <a:t>Liaisons en série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111219" y="6570002"/>
            <a:ext cx="165577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1400" dirty="0">
                <a:latin typeface="Calibri" panose="020F0502020204030204" pitchFamily="34" charset="0"/>
              </a:rPr>
              <a:t>Liaisons en parallèle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23288" y="6887201"/>
            <a:ext cx="73609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>
                <a:latin typeface="Calibri" panose="020F0502020204030204" pitchFamily="34" charset="0"/>
              </a:rPr>
              <a:t>Somme</a:t>
            </a:r>
            <a:endParaRPr lang="fr-FR" sz="1400" dirty="0"/>
          </a:p>
        </p:txBody>
      </p:sp>
      <p:sp>
        <p:nvSpPr>
          <p:cNvPr id="23" name="Rectangle 22"/>
          <p:cNvSpPr/>
          <p:nvPr/>
        </p:nvSpPr>
        <p:spPr>
          <a:xfrm>
            <a:off x="8517929" y="7229919"/>
            <a:ext cx="6731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>
                <a:latin typeface="Calibri" panose="020F0502020204030204" pitchFamily="34" charset="0"/>
              </a:rPr>
              <a:t>Egalité</a:t>
            </a:r>
            <a:endParaRPr lang="fr-FR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9205832" y="6862284"/>
                <a:ext cx="1779654" cy="3539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1">
                                      <a:latin typeface="Cambria Math"/>
                                      <a:ea typeface="Cambria Math"/>
                                    </a:rPr>
                                    <m:t>𝓥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200">
                                      <a:latin typeface="Cambria Math"/>
                                    </a:rPr>
                                    <m:t>Q</m:t>
                                  </m:r>
                                  <m:r>
                                    <a:rPr lang="fr-FR" sz="1200">
                                      <a:latin typeface="Cambria Math"/>
                                    </a:rPr>
                                    <m:t>,1/0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m:rPr>
                              <m:sty m:val="p"/>
                            </m:rPr>
                            <a:rPr lang="fr-FR" sz="1200">
                              <a:latin typeface="Cambria Math"/>
                            </a:rPr>
                            <m:t>eq</m:t>
                          </m:r>
                        </m:sub>
                      </m:sSub>
                      <m:r>
                        <a:rPr lang="fr-FR" sz="1200">
                          <a:latin typeface="Cambria Math"/>
                          <a:ea typeface="Cambria Math"/>
                        </a:rPr>
                        <m:t>=</m:t>
                      </m:r>
                      <m:sSub>
                        <m:sSubPr>
                          <m:ctrlPr>
                            <a:rPr lang="fr-FR" sz="12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200">
                              <a:latin typeface="Cambria Math"/>
                              <a:ea typeface="Cambria Math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sz="1200">
                              <a:latin typeface="Cambria Math"/>
                              <a:ea typeface="Cambria Math"/>
                            </a:rPr>
                            <m:t>i</m:t>
                          </m:r>
                        </m:sub>
                      </m:sSub>
                      <m:sSub>
                        <m:sSubPr>
                          <m:ctrlPr>
                            <a:rPr lang="fr-FR" sz="12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fr-FR" sz="12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1">
                                      <a:latin typeface="Cambria Math"/>
                                      <a:ea typeface="Cambria Math"/>
                                    </a:rPr>
                                    <m:t>𝓥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200">
                                      <a:latin typeface="Cambria Math"/>
                                      <a:ea typeface="Cambria Math"/>
                                    </a:rPr>
                                    <m:t>Q</m:t>
                                  </m:r>
                                  <m:r>
                                    <a:rPr lang="fr-FR" sz="1200">
                                      <a:latin typeface="Cambria Math"/>
                                      <a:ea typeface="Cambria Math"/>
                                    </a:rPr>
                                    <m:t>,1/0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m:rPr>
                              <m:sty m:val="p"/>
                            </m:rPr>
                            <a:rPr lang="fr-FR" sz="1200">
                              <a:latin typeface="Cambria Math"/>
                              <a:ea typeface="Cambria Math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lang="fr-FR" sz="1200" dirty="0">
                  <a:latin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5832" y="6862284"/>
                <a:ext cx="1779654" cy="353943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10982915" y="6853238"/>
                <a:ext cx="1866217" cy="3511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1">
                                      <a:latin typeface="Cambria Math"/>
                                      <a:ea typeface="Cambria Math"/>
                                    </a:rPr>
                                    <m:t>𝓣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200">
                                      <a:latin typeface="Cambria Math"/>
                                    </a:rPr>
                                    <m:t>Q</m:t>
                                  </m:r>
                                  <m:r>
                                    <a:rPr lang="fr-FR" sz="1200">
                                      <a:latin typeface="Cambria Math"/>
                                    </a:rPr>
                                    <m:t>,0→1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m:rPr>
                              <m:sty m:val="p"/>
                            </m:rPr>
                            <a:rPr lang="fr-FR" sz="1200">
                              <a:latin typeface="Cambria Math"/>
                            </a:rPr>
                            <m:t>eq</m:t>
                          </m:r>
                        </m:sub>
                      </m:sSub>
                      <m:r>
                        <a:rPr lang="fr-FR" sz="1200">
                          <a:latin typeface="Cambria Math"/>
                          <a:ea typeface="Cambria Math"/>
                        </a:rPr>
                        <m:t>=</m:t>
                      </m:r>
                      <m:sSub>
                        <m:sSubPr>
                          <m:ctrlPr>
                            <a:rPr lang="fr-FR" sz="12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200">
                              <a:latin typeface="Cambria Math"/>
                              <a:ea typeface="Cambria Math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sz="1200">
                              <a:latin typeface="Cambria Math"/>
                              <a:ea typeface="Cambria Math"/>
                            </a:rPr>
                            <m:t>i</m:t>
                          </m:r>
                        </m:sub>
                      </m:sSub>
                      <m:sSub>
                        <m:sSubPr>
                          <m:ctrlPr>
                            <a:rPr lang="fr-FR" sz="12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fr-FR" sz="12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1">
                                      <a:latin typeface="Cambria Math"/>
                                      <a:ea typeface="Cambria Math"/>
                                    </a:rPr>
                                    <m:t>𝓣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200">
                                      <a:latin typeface="Cambria Math"/>
                                    </a:rPr>
                                    <m:t>Q</m:t>
                                  </m:r>
                                  <m:r>
                                    <a:rPr lang="fr-FR" sz="1200">
                                      <a:latin typeface="Cambria Math"/>
                                    </a:rPr>
                                    <m:t>,0→1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m:rPr>
                              <m:sty m:val="p"/>
                            </m:rPr>
                            <a:rPr lang="fr-FR" sz="1200">
                              <a:latin typeface="Cambria Math"/>
                              <a:ea typeface="Cambria Math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lang="fr-FR" sz="1200" dirty="0">
                  <a:latin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2915" y="6853238"/>
                <a:ext cx="1866217" cy="35112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9213240" y="7231322"/>
                <a:ext cx="1790297" cy="3539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fr-FR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b="1">
                                    <a:latin typeface="Cambria Math"/>
                                    <a:ea typeface="Cambria Math"/>
                                  </a:rPr>
                                  <m:t>𝓣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fr-FR" sz="1200">
                                    <a:latin typeface="Cambria Math"/>
                                  </a:rPr>
                                  <m:t>Q</m:t>
                                </m:r>
                                <m:r>
                                  <a:rPr lang="fr-FR" sz="1200">
                                    <a:latin typeface="Cambria Math"/>
                                  </a:rPr>
                                  <m:t>,1/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1200">
                                    <a:latin typeface="Cambria Math"/>
                                  </a:rPr>
                                  <m:t>n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fr-FR" sz="1200">
                            <a:latin typeface="Cambria Math"/>
                          </a:rPr>
                          <m:t>eq</m:t>
                        </m:r>
                      </m:sub>
                    </m:sSub>
                  </m:oMath>
                </a14:m>
                <a:r>
                  <a:rPr lang="fr-FR" sz="1200" dirty="0">
                    <a:latin typeface="Calibri" panose="020F0502020204030204" pitchFamily="34" charset="0"/>
                  </a:rPr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fr-FR" sz="12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sz="1200" i="1"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a:rPr lang="fr-FR" sz="1200" b="1">
                                    <a:latin typeface="Cambria Math"/>
                                    <a:ea typeface="Cambria Math"/>
                                  </a:rPr>
                                  <m:t>𝓣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fr-FR" sz="1200">
                                    <a:latin typeface="Cambria Math"/>
                                    <a:ea typeface="Cambria Math"/>
                                  </a:rPr>
                                  <m:t>Q</m:t>
                                </m:r>
                                <m:r>
                                  <a:rPr lang="fr-FR" sz="1200">
                                    <a:latin typeface="Cambria Math"/>
                                    <a:ea typeface="Cambria Math"/>
                                  </a:rPr>
                                  <m:t>,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1200">
                                    <a:latin typeface="Cambria Math"/>
                                    <a:ea typeface="Cambria Math"/>
                                  </a:rPr>
                                  <m:t>i</m:t>
                                </m:r>
                                <m:r>
                                  <a:rPr lang="fr-FR" sz="1200">
                                    <a:latin typeface="Cambria Math"/>
                                    <a:ea typeface="Cambria Math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1200">
                                    <a:latin typeface="Cambria Math"/>
                                    <a:ea typeface="Cambria Math"/>
                                  </a:rPr>
                                  <m:t>i</m:t>
                                </m:r>
                                <m:r>
                                  <a:rPr lang="fr-FR" sz="1200">
                                    <a:latin typeface="Cambria Math"/>
                                    <a:ea typeface="Cambria Math"/>
                                  </a:rPr>
                                  <m:t> +1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fr-FR" sz="1200">
                            <a:latin typeface="Cambria Math"/>
                            <a:ea typeface="Cambria Math"/>
                          </a:rPr>
                          <m:t>i</m:t>
                        </m:r>
                      </m:sub>
                    </m:sSub>
                    <m:r>
                      <a:rPr lang="fr-FR" sz="1200">
                        <a:latin typeface="Cambria Math"/>
                        <a:ea typeface="Cambria Math"/>
                      </a:rPr>
                      <m:t> ∀</m:t>
                    </m:r>
                    <m:r>
                      <m:rPr>
                        <m:sty m:val="p"/>
                      </m:rPr>
                      <a:rPr lang="fr-FR" sz="1200">
                        <a:latin typeface="Cambria Math"/>
                        <a:ea typeface="Cambria Math"/>
                      </a:rPr>
                      <m:t>i</m:t>
                    </m:r>
                  </m:oMath>
                </a14:m>
                <a:endParaRPr lang="fr-FR" sz="1200" dirty="0">
                  <a:latin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3240" y="7231322"/>
                <a:ext cx="1790297" cy="353943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/>
              <p:cNvSpPr/>
              <p:nvPr/>
            </p:nvSpPr>
            <p:spPr>
              <a:xfrm>
                <a:off x="10978137" y="7229919"/>
                <a:ext cx="1819152" cy="3539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1">
                                      <a:latin typeface="Cambria Math"/>
                                      <a:ea typeface="Cambria Math"/>
                                    </a:rPr>
                                    <m:t>𝓥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200">
                                      <a:latin typeface="Cambria Math"/>
                                    </a:rPr>
                                    <m:t>Q</m:t>
                                  </m:r>
                                  <m:r>
                                    <a:rPr lang="fr-FR" sz="1200">
                                      <a:latin typeface="Cambria Math"/>
                                    </a:rPr>
                                    <m:t>,1/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 sz="1200">
                                      <a:latin typeface="Cambria Math"/>
                                    </a:rPr>
                                    <m:t>n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m:rPr>
                              <m:sty m:val="p"/>
                            </m:rPr>
                            <a:rPr lang="fr-FR" sz="1200">
                              <a:latin typeface="Cambria Math"/>
                            </a:rPr>
                            <m:t>eq</m:t>
                          </m:r>
                        </m:sub>
                      </m:sSub>
                      <m:r>
                        <m:rPr>
                          <m:nor/>
                        </m:rPr>
                        <a:rPr lang="fr-FR" sz="1200" dirty="0">
                          <a:latin typeface="Calibri" panose="020F050202020403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fr-FR" sz="12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fr-FR" sz="12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1">
                                      <a:latin typeface="Cambria Math"/>
                                      <a:ea typeface="Cambria Math"/>
                                    </a:rPr>
                                    <m:t>𝓥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200">
                                      <a:latin typeface="Cambria Math"/>
                                      <a:ea typeface="Cambria Math"/>
                                    </a:rPr>
                                    <m:t>Q</m:t>
                                  </m:r>
                                  <m:r>
                                    <a:rPr lang="fr-FR" sz="1200">
                                      <a:latin typeface="Cambria Math"/>
                                      <a:ea typeface="Cambria Math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 sz="1200">
                                      <a:latin typeface="Cambria Math"/>
                                      <a:ea typeface="Cambria Math"/>
                                    </a:rPr>
                                    <m:t>i</m:t>
                                  </m:r>
                                  <m:r>
                                    <a:rPr lang="fr-FR" sz="1200">
                                      <a:latin typeface="Cambria Math"/>
                                      <a:ea typeface="Cambria Math"/>
                                    </a:rPr>
                                    <m:t>/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 sz="1200">
                                      <a:latin typeface="Cambria Math"/>
                                      <a:ea typeface="Cambria Math"/>
                                    </a:rPr>
                                    <m:t>i</m:t>
                                  </m:r>
                                  <m:r>
                                    <a:rPr lang="fr-FR" sz="1200">
                                      <a:latin typeface="Cambria Math"/>
                                      <a:ea typeface="Cambria Math"/>
                                    </a:rPr>
                                    <m:t> +1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m:rPr>
                              <m:sty m:val="p"/>
                            </m:rPr>
                            <a:rPr lang="fr-FR" sz="1200">
                              <a:latin typeface="Cambria Math"/>
                              <a:ea typeface="Cambria Math"/>
                            </a:rPr>
                            <m:t>i</m:t>
                          </m:r>
                        </m:sub>
                      </m:sSub>
                      <m:r>
                        <a:rPr lang="fr-FR" sz="1200">
                          <a:latin typeface="Cambria Math"/>
                          <a:ea typeface="Cambria Math"/>
                        </a:rPr>
                        <m:t> ∀</m:t>
                      </m:r>
                      <m:r>
                        <m:rPr>
                          <m:sty m:val="p"/>
                        </m:rPr>
                        <a:rPr lang="fr-FR" sz="1200">
                          <a:latin typeface="Cambria Math"/>
                          <a:ea typeface="Cambria Math"/>
                        </a:rPr>
                        <m:t>i</m:t>
                      </m:r>
                    </m:oMath>
                  </m:oMathPara>
                </a14:m>
                <a:endParaRPr lang="fr-FR" sz="1200" dirty="0">
                  <a:latin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8137" y="7229919"/>
                <a:ext cx="1819152" cy="353943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3" name="Rectangle à coins arrondis 192"/>
          <p:cNvSpPr/>
          <p:nvPr/>
        </p:nvSpPr>
        <p:spPr>
          <a:xfrm>
            <a:off x="4521559" y="6343946"/>
            <a:ext cx="974286" cy="60063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rgbClr val="FF0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 i="0" dirty="0"/>
          </a:p>
        </p:txBody>
      </p:sp>
      <p:sp>
        <p:nvSpPr>
          <p:cNvPr id="434" name="Rectangle à coins arrondis 433"/>
          <p:cNvSpPr/>
          <p:nvPr/>
        </p:nvSpPr>
        <p:spPr>
          <a:xfrm>
            <a:off x="10229651" y="9257836"/>
            <a:ext cx="2505577" cy="30718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rgbClr val="FF0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 i="0" dirty="0"/>
          </a:p>
        </p:txBody>
      </p:sp>
      <p:sp>
        <p:nvSpPr>
          <p:cNvPr id="361" name="Rectangle à coins arrondis 360"/>
          <p:cNvSpPr/>
          <p:nvPr/>
        </p:nvSpPr>
        <p:spPr>
          <a:xfrm>
            <a:off x="8593672" y="3494489"/>
            <a:ext cx="1128091" cy="702077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rgbClr val="FF0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 i="0" dirty="0"/>
          </a:p>
        </p:txBody>
      </p:sp>
      <p:sp>
        <p:nvSpPr>
          <p:cNvPr id="320" name="Rectangle 319"/>
          <p:cNvSpPr/>
          <p:nvPr/>
        </p:nvSpPr>
        <p:spPr bwMode="auto">
          <a:xfrm>
            <a:off x="6491588" y="5617562"/>
            <a:ext cx="1844080" cy="720000"/>
          </a:xfrm>
          <a:prstGeom prst="rect">
            <a:avLst/>
          </a:prstGeom>
          <a:solidFill>
            <a:srgbClr val="CCEC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79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17" name="Groupe 16"/>
          <p:cNvGrpSpPr/>
          <p:nvPr/>
        </p:nvGrpSpPr>
        <p:grpSpPr>
          <a:xfrm>
            <a:off x="6788993" y="886032"/>
            <a:ext cx="1472242" cy="1580221"/>
            <a:chOff x="5682314" y="2046845"/>
            <a:chExt cx="1472242" cy="1580221"/>
          </a:xfrm>
        </p:grpSpPr>
        <p:pic>
          <p:nvPicPr>
            <p:cNvPr id="289" name="Picture 28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5682314" y="2086104"/>
              <a:ext cx="1435177" cy="1540962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/>
          </p:spPr>
        </p:pic>
        <p:sp>
          <p:nvSpPr>
            <p:cNvPr id="290" name="Line 29"/>
            <p:cNvSpPr>
              <a:spLocks noChangeShapeType="1"/>
            </p:cNvSpPr>
            <p:nvPr/>
          </p:nvSpPr>
          <p:spPr bwMode="auto">
            <a:xfrm flipH="1">
              <a:off x="6788993" y="2683355"/>
              <a:ext cx="97586" cy="10486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med" len="med"/>
            </a:ln>
            <a:effectLst/>
          </p:spPr>
          <p:txBody>
            <a:bodyPr/>
            <a:lstStyle/>
            <a:p>
              <a:endParaRPr lang="fr-FR" sz="1400" dirty="0">
                <a:latin typeface="Calibri" pitchFamily="34" charset="0"/>
              </a:endParaRPr>
            </a:p>
          </p:txBody>
        </p:sp>
        <p:sp>
          <p:nvSpPr>
            <p:cNvPr id="291" name="Text Box 30"/>
            <p:cNvSpPr txBox="1">
              <a:spLocks noChangeArrowheads="1"/>
            </p:cNvSpPr>
            <p:nvPr/>
          </p:nvSpPr>
          <p:spPr bwMode="auto">
            <a:xfrm>
              <a:off x="6751386" y="2431442"/>
              <a:ext cx="251949" cy="307777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r-FR" sz="1400" b="1" u="sng" dirty="0">
                  <a:latin typeface="Calibri" pitchFamily="34" charset="0"/>
                </a:rPr>
                <a:t>1</a:t>
              </a:r>
            </a:p>
          </p:txBody>
        </p:sp>
        <p:sp>
          <p:nvSpPr>
            <p:cNvPr id="292" name="Line 31"/>
            <p:cNvSpPr>
              <a:spLocks noChangeShapeType="1"/>
            </p:cNvSpPr>
            <p:nvPr/>
          </p:nvSpPr>
          <p:spPr bwMode="auto">
            <a:xfrm flipH="1">
              <a:off x="6886579" y="2208311"/>
              <a:ext cx="124968" cy="1437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med" len="med"/>
            </a:ln>
            <a:effectLst/>
          </p:spPr>
          <p:txBody>
            <a:bodyPr/>
            <a:lstStyle/>
            <a:p>
              <a:endParaRPr lang="fr-FR" sz="1400" dirty="0">
                <a:latin typeface="Calibri" pitchFamily="34" charset="0"/>
              </a:endParaRPr>
            </a:p>
          </p:txBody>
        </p:sp>
        <p:sp>
          <p:nvSpPr>
            <p:cNvPr id="293" name="Text Box 32"/>
            <p:cNvSpPr txBox="1">
              <a:spLocks noChangeArrowheads="1"/>
            </p:cNvSpPr>
            <p:nvPr/>
          </p:nvSpPr>
          <p:spPr bwMode="auto">
            <a:xfrm>
              <a:off x="6942671" y="2046845"/>
              <a:ext cx="211885" cy="307777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r-FR" sz="1400" b="1" u="sng" dirty="0">
                  <a:latin typeface="Calibri" pitchFamily="34" charset="0"/>
                </a:rPr>
                <a:t>3</a:t>
              </a:r>
            </a:p>
          </p:txBody>
        </p:sp>
        <p:sp>
          <p:nvSpPr>
            <p:cNvPr id="294" name="Line 33"/>
            <p:cNvSpPr>
              <a:spLocks noChangeShapeType="1"/>
            </p:cNvSpPr>
            <p:nvPr/>
          </p:nvSpPr>
          <p:spPr bwMode="auto">
            <a:xfrm>
              <a:off x="6323263" y="2329801"/>
              <a:ext cx="180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med" len="med"/>
            </a:ln>
            <a:effectLst/>
          </p:spPr>
          <p:txBody>
            <a:bodyPr/>
            <a:lstStyle/>
            <a:p>
              <a:endParaRPr lang="fr-FR" sz="1400" dirty="0">
                <a:latin typeface="Calibri" pitchFamily="34" charset="0"/>
              </a:endParaRPr>
            </a:p>
          </p:txBody>
        </p:sp>
        <p:sp>
          <p:nvSpPr>
            <p:cNvPr id="295" name="Text Box 34"/>
            <p:cNvSpPr txBox="1">
              <a:spLocks noChangeArrowheads="1"/>
            </p:cNvSpPr>
            <p:nvPr/>
          </p:nvSpPr>
          <p:spPr bwMode="auto">
            <a:xfrm>
              <a:off x="6116755" y="2169753"/>
              <a:ext cx="229571" cy="307777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r-FR" sz="1400" b="1" u="sng" dirty="0">
                  <a:latin typeface="Calibri" pitchFamily="34" charset="0"/>
                </a:rPr>
                <a:t>2</a:t>
              </a:r>
            </a:p>
          </p:txBody>
        </p:sp>
        <p:sp>
          <p:nvSpPr>
            <p:cNvPr id="296" name="Line 35"/>
            <p:cNvSpPr>
              <a:spLocks noChangeShapeType="1"/>
            </p:cNvSpPr>
            <p:nvPr/>
          </p:nvSpPr>
          <p:spPr bwMode="auto">
            <a:xfrm flipV="1">
              <a:off x="6409430" y="3270042"/>
              <a:ext cx="68596" cy="706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med" len="med"/>
            </a:ln>
            <a:effectLst/>
          </p:spPr>
          <p:txBody>
            <a:bodyPr/>
            <a:lstStyle/>
            <a:p>
              <a:endParaRPr lang="fr-FR" sz="1400" dirty="0">
                <a:latin typeface="Calibri" pitchFamily="34" charset="0"/>
              </a:endParaRPr>
            </a:p>
          </p:txBody>
        </p:sp>
        <p:sp>
          <p:nvSpPr>
            <p:cNvPr id="297" name="Text Box 36"/>
            <p:cNvSpPr txBox="1">
              <a:spLocks noChangeArrowheads="1"/>
            </p:cNvSpPr>
            <p:nvPr/>
          </p:nvSpPr>
          <p:spPr bwMode="auto">
            <a:xfrm>
              <a:off x="6192985" y="3172622"/>
              <a:ext cx="226778" cy="307777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r-FR" sz="1400" b="1" u="sng" dirty="0">
                  <a:latin typeface="Calibri" pitchFamily="34" charset="0"/>
                </a:rPr>
                <a:t>4</a:t>
              </a:r>
            </a:p>
          </p:txBody>
        </p:sp>
      </p:grpSp>
      <p:sp>
        <p:nvSpPr>
          <p:cNvPr id="284" name="Rectangle 283"/>
          <p:cNvSpPr/>
          <p:nvPr/>
        </p:nvSpPr>
        <p:spPr bwMode="auto">
          <a:xfrm>
            <a:off x="-10218" y="9090304"/>
            <a:ext cx="2657198" cy="519335"/>
          </a:xfrm>
          <a:prstGeom prst="rect">
            <a:avLst/>
          </a:prstGeom>
          <a:solidFill>
            <a:srgbClr val="CCEC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79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2686" name="Picture 638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002"/>
          <a:stretch/>
        </p:blipFill>
        <p:spPr bwMode="auto">
          <a:xfrm>
            <a:off x="3109849" y="8248826"/>
            <a:ext cx="1202663" cy="12288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3" name="Rectangle 252"/>
          <p:cNvSpPr/>
          <p:nvPr/>
        </p:nvSpPr>
        <p:spPr bwMode="auto">
          <a:xfrm>
            <a:off x="2169567" y="4246239"/>
            <a:ext cx="2056503" cy="679627"/>
          </a:xfrm>
          <a:prstGeom prst="rect">
            <a:avLst/>
          </a:prstGeom>
          <a:solidFill>
            <a:srgbClr val="CCEC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79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80" name="Rectangle 8"/>
          <p:cNvSpPr>
            <a:spLocks noChangeArrowheads="1"/>
          </p:cNvSpPr>
          <p:nvPr/>
        </p:nvSpPr>
        <p:spPr bwMode="auto">
          <a:xfrm>
            <a:off x="49268" y="828351"/>
            <a:ext cx="3073795" cy="306000"/>
          </a:xfrm>
          <a:prstGeom prst="rect">
            <a:avLst/>
          </a:prstGeom>
          <a:solidFill>
            <a:srgbClr val="FFFFCC"/>
          </a:solidFill>
          <a:ln w="19050">
            <a:solidFill>
              <a:srgbClr val="FF66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2081" name="ZoneTexte 21"/>
          <p:cNvSpPr txBox="1">
            <a:spLocks noChangeArrowheads="1"/>
          </p:cNvSpPr>
          <p:nvPr/>
        </p:nvSpPr>
        <p:spPr bwMode="auto">
          <a:xfrm>
            <a:off x="50386" y="792742"/>
            <a:ext cx="345698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1600" b="1" dirty="0">
                <a:solidFill>
                  <a:srgbClr val="00B050"/>
                </a:solidFill>
                <a:cs typeface="Arial" charset="0"/>
              </a:rPr>
              <a:t>○</a:t>
            </a:r>
            <a:r>
              <a:rPr lang="fr-FR" sz="1600" b="1" dirty="0">
                <a:solidFill>
                  <a:srgbClr val="00B050"/>
                </a:solidFill>
                <a:latin typeface="Calibri" pitchFamily="34" charset="0"/>
              </a:rPr>
              <a:t> Différentes formes de puissance</a:t>
            </a:r>
          </a:p>
        </p:txBody>
      </p:sp>
      <p:sp>
        <p:nvSpPr>
          <p:cNvPr id="1026" name="AutoShape 2"/>
          <p:cNvSpPr>
            <a:spLocks noChangeArrowheads="1"/>
          </p:cNvSpPr>
          <p:nvPr/>
        </p:nvSpPr>
        <p:spPr bwMode="auto">
          <a:xfrm>
            <a:off x="4324350" y="790575"/>
            <a:ext cx="144463" cy="849630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4F81BD"/>
              </a:gs>
              <a:gs pos="100000">
                <a:srgbClr val="DCE6F2"/>
              </a:gs>
            </a:gsLst>
            <a:lin ang="0" scaled="1"/>
          </a:gradFill>
          <a:ln w="1905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z="1800">
              <a:latin typeface="+mn-lt"/>
            </a:endParaRPr>
          </a:p>
        </p:txBody>
      </p:sp>
      <p:sp>
        <p:nvSpPr>
          <p:cNvPr id="2083" name="ZoneTexte 114"/>
          <p:cNvSpPr txBox="1">
            <a:spLocks noChangeArrowheads="1"/>
          </p:cNvSpPr>
          <p:nvPr/>
        </p:nvSpPr>
        <p:spPr bwMode="auto">
          <a:xfrm>
            <a:off x="4932603" y="47625"/>
            <a:ext cx="3106497" cy="400050"/>
          </a:xfrm>
          <a:prstGeom prst="rect">
            <a:avLst/>
          </a:prstGeom>
          <a:solidFill>
            <a:srgbClr val="3399FF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fr-FR" sz="2000" b="1" u="sng" dirty="0">
                <a:solidFill>
                  <a:schemeClr val="bg1"/>
                </a:solidFill>
                <a:latin typeface="Calibri" pitchFamily="34" charset="0"/>
              </a:rPr>
              <a:t>TRANSMETTRE L’ENERGIE</a:t>
            </a:r>
          </a:p>
        </p:txBody>
      </p:sp>
      <p:sp>
        <p:nvSpPr>
          <p:cNvPr id="2085" name="Text Box 19"/>
          <p:cNvSpPr txBox="1">
            <a:spLocks noChangeArrowheads="1"/>
          </p:cNvSpPr>
          <p:nvPr/>
        </p:nvSpPr>
        <p:spPr bwMode="auto">
          <a:xfrm>
            <a:off x="-34925" y="-1588"/>
            <a:ext cx="4392613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fr-FR" sz="1400" i="1" u="sng" dirty="0">
                <a:solidFill>
                  <a:schemeClr val="bg2"/>
                </a:solidFill>
                <a:latin typeface="Calibri" pitchFamily="34" charset="0"/>
              </a:rPr>
              <a:t>ATS - Lycée R.DOISNEAU</a:t>
            </a:r>
          </a:p>
        </p:txBody>
      </p:sp>
      <p:sp>
        <p:nvSpPr>
          <p:cNvPr id="2087" name="Rectangle 388"/>
          <p:cNvSpPr>
            <a:spLocks noChangeArrowheads="1"/>
          </p:cNvSpPr>
          <p:nvPr/>
        </p:nvSpPr>
        <p:spPr bwMode="auto">
          <a:xfrm>
            <a:off x="4528592" y="848218"/>
            <a:ext cx="2304256" cy="306000"/>
          </a:xfrm>
          <a:prstGeom prst="rect">
            <a:avLst/>
          </a:prstGeom>
          <a:solidFill>
            <a:srgbClr val="FFFFCC"/>
          </a:solidFill>
          <a:ln w="19050">
            <a:solidFill>
              <a:srgbClr val="FF66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2088" name="ZoneTexte 21"/>
          <p:cNvSpPr txBox="1">
            <a:spLocks noChangeArrowheads="1"/>
          </p:cNvSpPr>
          <p:nvPr/>
        </p:nvSpPr>
        <p:spPr bwMode="auto">
          <a:xfrm>
            <a:off x="4509541" y="815446"/>
            <a:ext cx="343585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1600" b="1" dirty="0">
                <a:solidFill>
                  <a:srgbClr val="00B050"/>
                </a:solidFill>
                <a:cs typeface="Arial" charset="0"/>
              </a:rPr>
              <a:t>○</a:t>
            </a:r>
            <a:r>
              <a:rPr lang="fr-FR" sz="1600" b="1" dirty="0">
                <a:solidFill>
                  <a:srgbClr val="00B050"/>
                </a:solidFill>
                <a:latin typeface="Calibri" pitchFamily="34" charset="0"/>
              </a:rPr>
              <a:t> Les trains épicycloïdaux</a:t>
            </a:r>
          </a:p>
        </p:txBody>
      </p:sp>
      <p:sp>
        <p:nvSpPr>
          <p:cNvPr id="2154" name="Rectangle 1075"/>
          <p:cNvSpPr>
            <a:spLocks noChangeArrowheads="1"/>
          </p:cNvSpPr>
          <p:nvPr/>
        </p:nvSpPr>
        <p:spPr bwMode="auto">
          <a:xfrm>
            <a:off x="8580090" y="4398736"/>
            <a:ext cx="2404156" cy="306000"/>
          </a:xfrm>
          <a:prstGeom prst="rect">
            <a:avLst/>
          </a:prstGeom>
          <a:solidFill>
            <a:srgbClr val="FFFFCC"/>
          </a:solidFill>
          <a:ln w="19050">
            <a:solidFill>
              <a:srgbClr val="FF66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2155" name="ZoneTexte 21"/>
          <p:cNvSpPr txBox="1">
            <a:spLocks noChangeArrowheads="1"/>
          </p:cNvSpPr>
          <p:nvPr/>
        </p:nvSpPr>
        <p:spPr bwMode="auto">
          <a:xfrm>
            <a:off x="8561040" y="4365713"/>
            <a:ext cx="30241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sz="1600" b="1" dirty="0">
                <a:solidFill>
                  <a:srgbClr val="00B050"/>
                </a:solidFill>
                <a:cs typeface="Arial" charset="0"/>
              </a:rPr>
              <a:t>○</a:t>
            </a:r>
            <a:r>
              <a:rPr lang="fr-FR" sz="1600" b="1" dirty="0">
                <a:solidFill>
                  <a:srgbClr val="00B050"/>
                </a:solidFill>
                <a:latin typeface="Calibri" pitchFamily="34" charset="0"/>
              </a:rPr>
              <a:t> Théorie des mécanismes</a:t>
            </a:r>
          </a:p>
        </p:txBody>
      </p:sp>
      <p:sp>
        <p:nvSpPr>
          <p:cNvPr id="247" name="Rectangle 1075"/>
          <p:cNvSpPr>
            <a:spLocks noChangeArrowheads="1"/>
          </p:cNvSpPr>
          <p:nvPr/>
        </p:nvSpPr>
        <p:spPr bwMode="auto">
          <a:xfrm>
            <a:off x="19050" y="3540196"/>
            <a:ext cx="1625401" cy="306000"/>
          </a:xfrm>
          <a:prstGeom prst="rect">
            <a:avLst/>
          </a:prstGeom>
          <a:solidFill>
            <a:srgbClr val="FFFFCC"/>
          </a:solidFill>
          <a:ln w="19050">
            <a:solidFill>
              <a:srgbClr val="FF66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248" name="ZoneTexte 21"/>
          <p:cNvSpPr txBox="1">
            <a:spLocks noChangeArrowheads="1"/>
          </p:cNvSpPr>
          <p:nvPr/>
        </p:nvSpPr>
        <p:spPr bwMode="auto">
          <a:xfrm>
            <a:off x="0" y="3516094"/>
            <a:ext cx="30241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sz="1600" b="1" dirty="0">
                <a:solidFill>
                  <a:srgbClr val="00B050"/>
                </a:solidFill>
                <a:cs typeface="Arial" charset="0"/>
              </a:rPr>
              <a:t>○</a:t>
            </a:r>
            <a:r>
              <a:rPr lang="fr-FR" sz="1600" b="1" dirty="0">
                <a:solidFill>
                  <a:srgbClr val="00B050"/>
                </a:solidFill>
                <a:latin typeface="Calibri" pitchFamily="34" charset="0"/>
              </a:rPr>
              <a:t> Les engrenages</a:t>
            </a:r>
          </a:p>
        </p:txBody>
      </p:sp>
      <p:sp>
        <p:nvSpPr>
          <p:cNvPr id="254" name="ZoneTexte 253"/>
          <p:cNvSpPr txBox="1"/>
          <p:nvPr/>
        </p:nvSpPr>
        <p:spPr>
          <a:xfrm>
            <a:off x="4472269" y="1175251"/>
            <a:ext cx="2196927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1400" dirty="0">
                <a:latin typeface="Calibri" pitchFamily="34" charset="0"/>
              </a:rPr>
              <a:t>Train épicycloïdal</a:t>
            </a:r>
          </a:p>
          <a:p>
            <a:pPr algn="just"/>
            <a:r>
              <a:rPr lang="fr-FR" sz="1400" dirty="0">
                <a:latin typeface="Calibri" pitchFamily="34" charset="0"/>
              </a:rPr>
              <a:t>= {planétaire d’entrée </a:t>
            </a:r>
            <a:r>
              <a:rPr lang="fr-FR" sz="1400" b="1" u="sng" dirty="0">
                <a:latin typeface="Calibri" pitchFamily="34" charset="0"/>
              </a:rPr>
              <a:t>1</a:t>
            </a:r>
            <a:endParaRPr lang="fr-FR" sz="1400" dirty="0">
              <a:latin typeface="Calibri" pitchFamily="34" charset="0"/>
            </a:endParaRPr>
          </a:p>
          <a:p>
            <a:pPr algn="just"/>
            <a:r>
              <a:rPr lang="fr-FR" sz="1400" dirty="0">
                <a:latin typeface="Calibri" pitchFamily="34" charset="0"/>
              </a:rPr>
              <a:t>+ un (ou trois) satellite(s) </a:t>
            </a:r>
            <a:r>
              <a:rPr lang="fr-FR" sz="1400" b="1" u="sng" dirty="0">
                <a:latin typeface="Calibri" pitchFamily="34" charset="0"/>
              </a:rPr>
              <a:t>2</a:t>
            </a:r>
            <a:r>
              <a:rPr lang="fr-FR" sz="1400" dirty="0">
                <a:latin typeface="Calibri" pitchFamily="34" charset="0"/>
              </a:rPr>
              <a:t> + porte-satellite </a:t>
            </a:r>
            <a:r>
              <a:rPr lang="fr-FR" sz="1400" b="1" u="sng" dirty="0">
                <a:latin typeface="Calibri" pitchFamily="34" charset="0"/>
              </a:rPr>
              <a:t>4</a:t>
            </a:r>
            <a:endParaRPr lang="fr-FR" sz="1400" dirty="0">
              <a:latin typeface="Calibri" pitchFamily="34" charset="0"/>
            </a:endParaRPr>
          </a:p>
          <a:p>
            <a:pPr algn="just"/>
            <a:r>
              <a:rPr lang="fr-FR" sz="1400" dirty="0">
                <a:latin typeface="Calibri" pitchFamily="34" charset="0"/>
              </a:rPr>
              <a:t>+ planétaire de sortie </a:t>
            </a:r>
            <a:r>
              <a:rPr lang="fr-FR" sz="1400" b="1" u="sng" dirty="0">
                <a:latin typeface="Calibri" pitchFamily="34" charset="0"/>
              </a:rPr>
              <a:t>3</a:t>
            </a:r>
            <a:r>
              <a:rPr lang="fr-FR" sz="1400" dirty="0">
                <a:latin typeface="Calibri" pitchFamily="34" charset="0"/>
              </a:rPr>
              <a:t>}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4478985" y="4391096"/>
            <a:ext cx="388678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1400" u="sng" dirty="0">
                <a:latin typeface="Calibri" pitchFamily="34" charset="0"/>
                <a:cs typeface="Calibri" pitchFamily="34" charset="0"/>
              </a:rPr>
              <a:t>Conseil</a:t>
            </a:r>
            <a:r>
              <a:rPr lang="fr-FR" sz="1400" dirty="0">
                <a:latin typeface="Calibri" pitchFamily="34" charset="0"/>
                <a:cs typeface="Calibri" pitchFamily="34" charset="0"/>
              </a:rPr>
              <a:t> : Pour déterminer </a:t>
            </a:r>
            <a:r>
              <a:rPr lang="fr-FR" sz="1400" dirty="0">
                <a:latin typeface="Calibri" pitchFamily="34" charset="0"/>
                <a:cs typeface="Calibri" pitchFamily="34" charset="0"/>
                <a:sym typeface="Symbol"/>
              </a:rPr>
              <a:t></a:t>
            </a:r>
            <a:r>
              <a:rPr lang="fr-FR" sz="1400" dirty="0">
                <a:latin typeface="Calibri" pitchFamily="34" charset="0"/>
                <a:cs typeface="Calibri" pitchFamily="34" charset="0"/>
              </a:rPr>
              <a:t>, il est intéressant de se placer sur le porte-satellite qui devient alors le solide de référence. </a:t>
            </a:r>
          </a:p>
        </p:txBody>
      </p:sp>
      <p:sp>
        <p:nvSpPr>
          <p:cNvPr id="185" name="Text Box 307"/>
          <p:cNvSpPr txBox="1">
            <a:spLocks noChangeArrowheads="1"/>
          </p:cNvSpPr>
          <p:nvPr/>
        </p:nvSpPr>
        <p:spPr bwMode="auto">
          <a:xfrm>
            <a:off x="8553882" y="7606429"/>
            <a:ext cx="1660493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fr-FR" sz="1400" b="1" i="1" dirty="0">
                <a:solidFill>
                  <a:srgbClr val="FF0000"/>
                </a:solidFill>
                <a:latin typeface="Calibri" pitchFamily="34" charset="0"/>
                <a:cs typeface="Arial" charset="0"/>
                <a:sym typeface="Wingdings 3" pitchFamily="18" charset="2"/>
              </a:rPr>
              <a:t> </a:t>
            </a:r>
            <a:r>
              <a:rPr lang="fr-FR" sz="1400" b="1" i="1" u="sng" dirty="0">
                <a:solidFill>
                  <a:srgbClr val="FF0000"/>
                </a:solidFill>
                <a:latin typeface="Calibri" pitchFamily="34" charset="0"/>
                <a:cs typeface="Arial" charset="0"/>
              </a:rPr>
              <a:t>Calcul de l’hyperstatisme</a:t>
            </a:r>
            <a:endParaRPr lang="fr-FR" sz="1400" b="1" i="1" u="sng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186" name="Text Box 307"/>
          <p:cNvSpPr txBox="1">
            <a:spLocks noChangeArrowheads="1"/>
          </p:cNvSpPr>
          <p:nvPr/>
        </p:nvSpPr>
        <p:spPr bwMode="auto">
          <a:xfrm>
            <a:off x="8534610" y="4680089"/>
            <a:ext cx="2003524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/>
            <a:r>
              <a:rPr lang="fr-FR" sz="1400" b="1" i="1" dirty="0">
                <a:solidFill>
                  <a:srgbClr val="FF0000"/>
                </a:solidFill>
                <a:latin typeface="Calibri" pitchFamily="34" charset="0"/>
                <a:cs typeface="Arial" charset="0"/>
                <a:sym typeface="Wingdings 3" pitchFamily="18" charset="2"/>
              </a:rPr>
              <a:t> </a:t>
            </a:r>
            <a:r>
              <a:rPr lang="fr-FR" sz="1400" b="1" i="1" u="sng" dirty="0">
                <a:solidFill>
                  <a:srgbClr val="FF0000"/>
                </a:solidFill>
                <a:latin typeface="Calibri" pitchFamily="34" charset="0"/>
                <a:cs typeface="Arial" charset="0"/>
              </a:rPr>
              <a:t>Types de mécanismes</a:t>
            </a:r>
            <a:endParaRPr lang="fr-FR" sz="1400" b="1" i="1" u="sng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232" name="Text Box 307"/>
          <p:cNvSpPr txBox="1">
            <a:spLocks noChangeArrowheads="1"/>
          </p:cNvSpPr>
          <p:nvPr/>
        </p:nvSpPr>
        <p:spPr bwMode="auto">
          <a:xfrm>
            <a:off x="-17018" y="3860073"/>
            <a:ext cx="3736504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/>
            <a:r>
              <a:rPr lang="fr-FR" sz="1400" b="1" i="1" dirty="0">
                <a:solidFill>
                  <a:srgbClr val="FF0000"/>
                </a:solidFill>
                <a:latin typeface="Calibri" pitchFamily="34" charset="0"/>
                <a:cs typeface="Arial" charset="0"/>
                <a:sym typeface="Wingdings 3" pitchFamily="18" charset="2"/>
              </a:rPr>
              <a:t> </a:t>
            </a:r>
            <a:r>
              <a:rPr lang="fr-FR" sz="1400" b="1" i="1" u="sng" dirty="0">
                <a:solidFill>
                  <a:srgbClr val="FF0000"/>
                </a:solidFill>
                <a:latin typeface="Calibri" pitchFamily="34" charset="0"/>
                <a:cs typeface="Arial" charset="0"/>
              </a:rPr>
              <a:t>Géométrie de la denture</a:t>
            </a:r>
            <a:endParaRPr lang="fr-FR" sz="1400" b="1" i="1" u="sng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250" name="Rectangle à coins arrondis 102"/>
          <p:cNvSpPr/>
          <p:nvPr/>
        </p:nvSpPr>
        <p:spPr>
          <a:xfrm>
            <a:off x="2133842" y="3809598"/>
            <a:ext cx="1315621" cy="36588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rgbClr val="FF0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 i="0" dirty="0"/>
          </a:p>
        </p:txBody>
      </p:sp>
      <p:sp>
        <p:nvSpPr>
          <p:cNvPr id="251" name="Rectangle 116"/>
          <p:cNvSpPr>
            <a:spLocks noChangeArrowheads="1"/>
          </p:cNvSpPr>
          <p:nvPr/>
        </p:nvSpPr>
        <p:spPr bwMode="auto">
          <a:xfrm>
            <a:off x="2113417" y="4205787"/>
            <a:ext cx="2199151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algn="just">
              <a:tabLst>
                <a:tab pos="452438" algn="l"/>
                <a:tab pos="981075" algn="l"/>
              </a:tabLst>
              <a:defRPr/>
            </a:pPr>
            <a:r>
              <a:rPr lang="fr-FR" sz="1400" b="1" kern="0" dirty="0">
                <a:solidFill>
                  <a:srgbClr val="FF6600"/>
                </a:solidFill>
                <a:latin typeface="Calibri" pitchFamily="34" charset="0"/>
                <a:ea typeface="+mj-ea"/>
                <a:cs typeface="Arial" charset="0"/>
              </a:rPr>
              <a:t>d</a:t>
            </a:r>
            <a:r>
              <a:rPr lang="fr-FR" sz="1400" i="0" kern="0" dirty="0">
                <a:solidFill>
                  <a:srgbClr val="FF6600"/>
                </a:solidFill>
                <a:latin typeface="Calibri" pitchFamily="34" charset="0"/>
                <a:ea typeface="+mj-ea"/>
                <a:cs typeface="Arial" charset="0"/>
              </a:rPr>
              <a:t> : diamètre primitif en mm</a:t>
            </a:r>
          </a:p>
          <a:p>
            <a:pPr algn="just">
              <a:tabLst>
                <a:tab pos="452438" algn="l"/>
                <a:tab pos="981075" algn="l"/>
              </a:tabLst>
              <a:defRPr/>
            </a:pPr>
            <a:r>
              <a:rPr lang="fr-FR" sz="1400" b="1" kern="0" dirty="0">
                <a:solidFill>
                  <a:srgbClr val="FF6600"/>
                </a:solidFill>
                <a:latin typeface="Calibri" pitchFamily="34" charset="0"/>
                <a:ea typeface="+mj-ea"/>
                <a:cs typeface="Arial" charset="0"/>
              </a:rPr>
              <a:t>m</a:t>
            </a:r>
            <a:r>
              <a:rPr lang="fr-FR" sz="1400" i="0" kern="0" dirty="0">
                <a:solidFill>
                  <a:srgbClr val="FF6600"/>
                </a:solidFill>
                <a:latin typeface="Calibri" pitchFamily="34" charset="0"/>
                <a:ea typeface="+mj-ea"/>
                <a:cs typeface="Arial" charset="0"/>
              </a:rPr>
              <a:t> : module en mm</a:t>
            </a:r>
          </a:p>
          <a:p>
            <a:pPr algn="just">
              <a:tabLst>
                <a:tab pos="981075" algn="l"/>
              </a:tabLst>
              <a:defRPr/>
            </a:pPr>
            <a:r>
              <a:rPr lang="fr-FR" sz="1400" b="1" kern="0" dirty="0">
                <a:solidFill>
                  <a:srgbClr val="FF6600"/>
                </a:solidFill>
                <a:latin typeface="Calibri" pitchFamily="34" charset="0"/>
                <a:ea typeface="+mj-ea"/>
                <a:cs typeface="Arial" charset="0"/>
              </a:rPr>
              <a:t>Z</a:t>
            </a:r>
            <a:r>
              <a:rPr lang="fr-FR" sz="1400" i="0" kern="0" dirty="0">
                <a:solidFill>
                  <a:srgbClr val="FF6600"/>
                </a:solidFill>
                <a:latin typeface="Calibri" pitchFamily="34" charset="0"/>
                <a:ea typeface="+mj-ea"/>
                <a:cs typeface="Arial" charset="0"/>
              </a:rPr>
              <a:t> : nombre de dents</a:t>
            </a:r>
          </a:p>
        </p:txBody>
      </p:sp>
      <p:graphicFrame>
        <p:nvGraphicFramePr>
          <p:cNvPr id="252" name="Objet 2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060536"/>
              </p:ext>
            </p:extLst>
          </p:nvPr>
        </p:nvGraphicFramePr>
        <p:xfrm>
          <a:off x="2157165" y="3839783"/>
          <a:ext cx="1307840" cy="2866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533160" imgH="164880" progId="">
                  <p:embed/>
                </p:oleObj>
              </mc:Choice>
              <mc:Fallback>
                <p:oleObj name="Equation" r:id="rId9" imgW="533160" imgH="164880" progId="">
                  <p:embed/>
                  <p:pic>
                    <p:nvPicPr>
                      <p:cNvPr id="0" name="Picture 9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7165" y="3839783"/>
                        <a:ext cx="1307840" cy="28662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5" name="Text Box 307"/>
          <p:cNvSpPr txBox="1">
            <a:spLocks noChangeArrowheads="1"/>
          </p:cNvSpPr>
          <p:nvPr/>
        </p:nvSpPr>
        <p:spPr bwMode="auto">
          <a:xfrm>
            <a:off x="-14173" y="4555598"/>
            <a:ext cx="1038449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/>
            <a:r>
              <a:rPr lang="fr-FR" sz="1400" b="1" i="1" dirty="0">
                <a:solidFill>
                  <a:srgbClr val="FF0000"/>
                </a:solidFill>
                <a:latin typeface="Calibri" pitchFamily="34" charset="0"/>
                <a:cs typeface="Arial" charset="0"/>
                <a:sym typeface="Wingdings 3" pitchFamily="18" charset="2"/>
              </a:rPr>
              <a:t> </a:t>
            </a:r>
            <a:r>
              <a:rPr lang="fr-FR" sz="1400" b="1" i="1" u="sng" dirty="0">
                <a:solidFill>
                  <a:srgbClr val="FF0000"/>
                </a:solidFill>
                <a:latin typeface="Calibri" pitchFamily="34" charset="0"/>
                <a:cs typeface="Arial" charset="0"/>
              </a:rPr>
              <a:t>RSG</a:t>
            </a:r>
            <a:endParaRPr lang="fr-FR" sz="1400" b="1" i="1" u="sng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265" name="ZoneTexte 264"/>
          <p:cNvSpPr txBox="1"/>
          <p:nvPr/>
        </p:nvSpPr>
        <p:spPr>
          <a:xfrm>
            <a:off x="4322" y="4874410"/>
            <a:ext cx="42754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1400" dirty="0">
                <a:latin typeface="Calibri" pitchFamily="34" charset="0"/>
              </a:rPr>
              <a:t>Roulement Sans Glissement en un point de contact </a:t>
            </a:r>
            <a:r>
              <a:rPr lang="fr-FR" sz="1400" b="1" dirty="0">
                <a:latin typeface="Calibri" pitchFamily="34" charset="0"/>
              </a:rPr>
              <a:t>I</a:t>
            </a:r>
            <a:r>
              <a:rPr lang="fr-FR" sz="1400" dirty="0">
                <a:latin typeface="Calibri" pitchFamily="34" charset="0"/>
              </a:rPr>
              <a:t> entre deux solides </a:t>
            </a:r>
            <a:r>
              <a:rPr lang="fr-FR" sz="1400" b="1" dirty="0">
                <a:latin typeface="Calibri" pitchFamily="34" charset="0"/>
              </a:rPr>
              <a:t>1</a:t>
            </a:r>
            <a:r>
              <a:rPr lang="fr-FR" sz="1400" dirty="0">
                <a:latin typeface="Calibri" pitchFamily="34" charset="0"/>
              </a:rPr>
              <a:t> et </a:t>
            </a:r>
            <a:r>
              <a:rPr lang="fr-FR" sz="1400" b="1" dirty="0">
                <a:latin typeface="Calibri" pitchFamily="34" charset="0"/>
              </a:rPr>
              <a:t>2</a:t>
            </a:r>
            <a:r>
              <a:rPr lang="fr-FR" sz="1400" dirty="0">
                <a:latin typeface="Calibri" pitchFamily="34" charset="0"/>
              </a:rPr>
              <a:t> </a:t>
            </a:r>
            <a:r>
              <a:rPr lang="fr-FR" sz="1400" dirty="0">
                <a:latin typeface="Calibri" pitchFamily="34" charset="0"/>
                <a:sym typeface="Symbol"/>
              </a:rPr>
              <a:t></a:t>
            </a:r>
            <a:r>
              <a:rPr lang="fr-FR" sz="1400" dirty="0">
                <a:latin typeface="Calibri" pitchFamily="34" charset="0"/>
              </a:rPr>
              <a:t> </a:t>
            </a:r>
          </a:p>
        </p:txBody>
      </p:sp>
      <p:sp>
        <p:nvSpPr>
          <p:cNvPr id="266" name="Rectangle à coins arrondis 265"/>
          <p:cNvSpPr/>
          <p:nvPr/>
        </p:nvSpPr>
        <p:spPr>
          <a:xfrm>
            <a:off x="412399" y="5369330"/>
            <a:ext cx="3479978" cy="402437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rgbClr val="FF0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graphicFrame>
        <p:nvGraphicFramePr>
          <p:cNvPr id="26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428391"/>
              </p:ext>
            </p:extLst>
          </p:nvPr>
        </p:nvGraphicFramePr>
        <p:xfrm>
          <a:off x="467980" y="5423959"/>
          <a:ext cx="3383058" cy="298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171520" imgH="215640" progId="">
                  <p:embed/>
                </p:oleObj>
              </mc:Choice>
              <mc:Fallback>
                <p:oleObj name="Equation" r:id="rId11" imgW="2171520" imgH="215640" progId="">
                  <p:embed/>
                  <p:pic>
                    <p:nvPicPr>
                      <p:cNvPr id="0" name="Picture 9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980" y="5423959"/>
                        <a:ext cx="3383058" cy="29838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8" name="Rectangle 1075"/>
          <p:cNvSpPr>
            <a:spLocks noChangeArrowheads="1"/>
          </p:cNvSpPr>
          <p:nvPr/>
        </p:nvSpPr>
        <p:spPr bwMode="auto">
          <a:xfrm>
            <a:off x="23372" y="5863530"/>
            <a:ext cx="3000816" cy="306000"/>
          </a:xfrm>
          <a:prstGeom prst="rect">
            <a:avLst/>
          </a:prstGeom>
          <a:solidFill>
            <a:srgbClr val="FFFFCC"/>
          </a:solidFill>
          <a:ln w="19050">
            <a:solidFill>
              <a:srgbClr val="FF66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269" name="ZoneTexte 21"/>
          <p:cNvSpPr txBox="1">
            <a:spLocks noChangeArrowheads="1"/>
          </p:cNvSpPr>
          <p:nvPr/>
        </p:nvSpPr>
        <p:spPr bwMode="auto">
          <a:xfrm>
            <a:off x="4322" y="5839428"/>
            <a:ext cx="30241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sz="1600" b="1" dirty="0">
                <a:solidFill>
                  <a:srgbClr val="00B050"/>
                </a:solidFill>
                <a:cs typeface="Arial" charset="0"/>
              </a:rPr>
              <a:t>○</a:t>
            </a:r>
            <a:r>
              <a:rPr lang="fr-FR" sz="1600" b="1" dirty="0">
                <a:solidFill>
                  <a:srgbClr val="00B050"/>
                </a:solidFill>
                <a:latin typeface="Calibri" pitchFamily="34" charset="0"/>
              </a:rPr>
              <a:t> Les trains d’engrenages simples</a:t>
            </a:r>
          </a:p>
        </p:txBody>
      </p:sp>
      <p:sp>
        <p:nvSpPr>
          <p:cNvPr id="270" name="Rectangle à coins arrondis 102"/>
          <p:cNvSpPr/>
          <p:nvPr/>
        </p:nvSpPr>
        <p:spPr>
          <a:xfrm>
            <a:off x="25510" y="6678911"/>
            <a:ext cx="2470255" cy="57736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rgbClr val="FF0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 i="0" dirty="0"/>
          </a:p>
        </p:txBody>
      </p:sp>
      <p:graphicFrame>
        <p:nvGraphicFramePr>
          <p:cNvPr id="271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291312"/>
              </p:ext>
            </p:extLst>
          </p:nvPr>
        </p:nvGraphicFramePr>
        <p:xfrm>
          <a:off x="39223" y="6683158"/>
          <a:ext cx="2442963" cy="5236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257120" imgH="380880" progId="">
                  <p:embed/>
                </p:oleObj>
              </mc:Choice>
              <mc:Fallback>
                <p:oleObj name="Equation" r:id="rId13" imgW="1257120" imgH="380880" progId="">
                  <p:embed/>
                  <p:pic>
                    <p:nvPicPr>
                      <p:cNvPr id="0" name="Picture 9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23" y="6683158"/>
                        <a:ext cx="2442963" cy="52368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2" name="Rectangle 271"/>
          <p:cNvSpPr>
            <a:spLocks noChangeArrowheads="1"/>
          </p:cNvSpPr>
          <p:nvPr/>
        </p:nvSpPr>
        <p:spPr bwMode="auto">
          <a:xfrm>
            <a:off x="-10218" y="6387112"/>
            <a:ext cx="4292600" cy="2873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algn="just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r>
              <a:rPr lang="fr-FR" sz="1400" dirty="0">
                <a:latin typeface="Calibri" pitchFamily="34" charset="0"/>
                <a:cs typeface="Arial" charset="0"/>
                <a:sym typeface="Symbol"/>
              </a:rPr>
              <a:t> </a:t>
            </a:r>
            <a:r>
              <a:rPr lang="fr-FR" sz="1400" dirty="0">
                <a:latin typeface="Calibri" pitchFamily="34" charset="0"/>
              </a:rPr>
              <a:t>Contact extérieur</a:t>
            </a:r>
          </a:p>
        </p:txBody>
      </p:sp>
      <p:pic>
        <p:nvPicPr>
          <p:cNvPr id="273" name="Picture 21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653432" y="6372618"/>
            <a:ext cx="868049" cy="1035377"/>
          </a:xfrm>
          <a:prstGeom prst="rect">
            <a:avLst/>
          </a:prstGeom>
          <a:noFill/>
          <a:ln w="57150" algn="ctr">
            <a:noFill/>
            <a:miter lim="800000"/>
            <a:headEnd/>
            <a:tailEnd/>
          </a:ln>
          <a:effectLst/>
        </p:spPr>
      </p:pic>
      <p:sp>
        <p:nvSpPr>
          <p:cNvPr id="274" name="Rectangle à coins arrondis 102"/>
          <p:cNvSpPr/>
          <p:nvPr/>
        </p:nvSpPr>
        <p:spPr>
          <a:xfrm>
            <a:off x="32610" y="7581287"/>
            <a:ext cx="2088232" cy="52322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rgbClr val="FF0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 i="0" dirty="0"/>
          </a:p>
        </p:txBody>
      </p:sp>
      <p:graphicFrame>
        <p:nvGraphicFramePr>
          <p:cNvPr id="275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5840527"/>
              </p:ext>
            </p:extLst>
          </p:nvPr>
        </p:nvGraphicFramePr>
        <p:xfrm>
          <a:off x="38843" y="7573602"/>
          <a:ext cx="2078205" cy="5132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091880" imgH="380880" progId="">
                  <p:embed/>
                </p:oleObj>
              </mc:Choice>
              <mc:Fallback>
                <p:oleObj name="Equation" r:id="rId16" imgW="1091880" imgH="380880" progId="">
                  <p:embed/>
                  <p:pic>
                    <p:nvPicPr>
                      <p:cNvPr id="0" name="Picture 9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43" y="7573602"/>
                        <a:ext cx="2078205" cy="51321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" name="Rectangle 26"/>
          <p:cNvSpPr>
            <a:spLocks noChangeArrowheads="1"/>
          </p:cNvSpPr>
          <p:nvPr/>
        </p:nvSpPr>
        <p:spPr bwMode="auto">
          <a:xfrm>
            <a:off x="0" y="7299016"/>
            <a:ext cx="4292600" cy="2873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algn="just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r>
              <a:rPr lang="fr-FR" sz="1400" dirty="0">
                <a:latin typeface="Calibri" pitchFamily="34" charset="0"/>
                <a:cs typeface="Arial" charset="0"/>
                <a:sym typeface="Symbol"/>
              </a:rPr>
              <a:t>  </a:t>
            </a:r>
            <a:r>
              <a:rPr lang="fr-FR" sz="1400" dirty="0">
                <a:latin typeface="Calibri" pitchFamily="34" charset="0"/>
              </a:rPr>
              <a:t>Contact intérieur</a:t>
            </a:r>
          </a:p>
        </p:txBody>
      </p:sp>
      <p:pic>
        <p:nvPicPr>
          <p:cNvPr id="277" name="Picture 28"/>
          <p:cNvPicPr>
            <a:picLocks noChangeAspect="1" noChangeArrowheads="1"/>
          </p:cNvPicPr>
          <p:nvPr/>
        </p:nvPicPr>
        <p:blipFill>
          <a:blip r:embed="rId18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146661" y="7334090"/>
            <a:ext cx="1177257" cy="1045627"/>
          </a:xfrm>
          <a:prstGeom prst="rect">
            <a:avLst/>
          </a:prstGeom>
          <a:noFill/>
          <a:ln w="57150" algn="ctr">
            <a:noFill/>
            <a:miter lim="800000"/>
            <a:headEnd/>
            <a:tailEnd/>
          </a:ln>
          <a:effectLst/>
        </p:spPr>
      </p:pic>
      <p:sp>
        <p:nvSpPr>
          <p:cNvPr id="278" name="Text Box 307"/>
          <p:cNvSpPr txBox="1">
            <a:spLocks noChangeArrowheads="1"/>
          </p:cNvSpPr>
          <p:nvPr/>
        </p:nvSpPr>
        <p:spPr bwMode="auto">
          <a:xfrm>
            <a:off x="-13175" y="6162905"/>
            <a:ext cx="3736504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/>
            <a:r>
              <a:rPr lang="fr-FR" sz="1400" b="1" i="1" dirty="0">
                <a:solidFill>
                  <a:srgbClr val="FF0000"/>
                </a:solidFill>
                <a:latin typeface="Calibri" pitchFamily="34" charset="0"/>
                <a:cs typeface="Arial" charset="0"/>
                <a:sym typeface="Wingdings 3" pitchFamily="18" charset="2"/>
              </a:rPr>
              <a:t> </a:t>
            </a:r>
            <a:r>
              <a:rPr lang="fr-FR" sz="1400" b="1" i="1" u="sng" dirty="0">
                <a:solidFill>
                  <a:srgbClr val="FF0000"/>
                </a:solidFill>
                <a:latin typeface="Calibri" pitchFamily="34" charset="0"/>
                <a:cs typeface="Arial" charset="0"/>
              </a:rPr>
              <a:t>Train de 2 roues</a:t>
            </a:r>
            <a:endParaRPr lang="fr-FR" sz="1400" b="1" i="1" u="sng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279" name="Text Box 307"/>
          <p:cNvSpPr txBox="1">
            <a:spLocks noChangeArrowheads="1"/>
          </p:cNvSpPr>
          <p:nvPr/>
        </p:nvSpPr>
        <p:spPr bwMode="auto">
          <a:xfrm>
            <a:off x="-17018" y="8135193"/>
            <a:ext cx="3736504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/>
            <a:r>
              <a:rPr lang="fr-FR" sz="1400" b="1" i="1" dirty="0">
                <a:solidFill>
                  <a:srgbClr val="FF0000"/>
                </a:solidFill>
                <a:latin typeface="Calibri" pitchFamily="34" charset="0"/>
                <a:cs typeface="Arial" charset="0"/>
                <a:sym typeface="Wingdings 3" pitchFamily="18" charset="2"/>
              </a:rPr>
              <a:t> </a:t>
            </a:r>
            <a:r>
              <a:rPr lang="fr-FR" sz="1400" b="1" i="1" u="sng" dirty="0">
                <a:solidFill>
                  <a:srgbClr val="FF0000"/>
                </a:solidFill>
                <a:latin typeface="Calibri" pitchFamily="34" charset="0"/>
                <a:cs typeface="Arial" charset="0"/>
              </a:rPr>
              <a:t>Train de roues</a:t>
            </a:r>
            <a:endParaRPr lang="fr-FR" sz="1400" b="1" i="1" u="sng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280" name="Rectangle à coins arrondis 279"/>
          <p:cNvSpPr/>
          <p:nvPr/>
        </p:nvSpPr>
        <p:spPr>
          <a:xfrm>
            <a:off x="29661" y="8459210"/>
            <a:ext cx="2994528" cy="563735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rgbClr val="FF0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 i="0" dirty="0"/>
          </a:p>
        </p:txBody>
      </p:sp>
      <p:graphicFrame>
        <p:nvGraphicFramePr>
          <p:cNvPr id="282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0235091"/>
              </p:ext>
            </p:extLst>
          </p:nvPr>
        </p:nvGraphicFramePr>
        <p:xfrm>
          <a:off x="22225" y="8483855"/>
          <a:ext cx="3019425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587240" imgH="380880" progId="">
                  <p:embed/>
                </p:oleObj>
              </mc:Choice>
              <mc:Fallback>
                <p:oleObj name="Equation" r:id="rId19" imgW="1587240" imgH="380880" progId="">
                  <p:embed/>
                  <p:pic>
                    <p:nvPicPr>
                      <p:cNvPr id="0" name="Picture 9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25" y="8483855"/>
                        <a:ext cx="3019425" cy="512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3" name="Text Box 38"/>
          <p:cNvSpPr txBox="1">
            <a:spLocks noChangeArrowheads="1"/>
          </p:cNvSpPr>
          <p:nvPr/>
        </p:nvSpPr>
        <p:spPr bwMode="auto">
          <a:xfrm>
            <a:off x="25646" y="9086419"/>
            <a:ext cx="2635118" cy="523220"/>
          </a:xfrm>
          <a:prstGeom prst="rect">
            <a:avLst/>
          </a:prstGeom>
          <a:noFill/>
          <a:ln w="5715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/>
            <a:r>
              <a:rPr lang="fr-FR" sz="1400" b="1" dirty="0">
                <a:solidFill>
                  <a:srgbClr val="FF6600"/>
                </a:solidFill>
                <a:latin typeface="Calibri" pitchFamily="34" charset="0"/>
              </a:rPr>
              <a:t>n</a:t>
            </a:r>
            <a:r>
              <a:rPr lang="fr-FR" sz="1400" i="0" dirty="0">
                <a:solidFill>
                  <a:srgbClr val="FF6600"/>
                </a:solidFill>
                <a:latin typeface="Calibri" pitchFamily="34" charset="0"/>
              </a:rPr>
              <a:t> : nombre de contacts extérieurs</a:t>
            </a:r>
          </a:p>
          <a:p>
            <a:pPr algn="just"/>
            <a:r>
              <a:rPr lang="fr-FR" sz="1400" b="1" dirty="0">
                <a:solidFill>
                  <a:srgbClr val="FF6600"/>
                </a:solidFill>
                <a:latin typeface="Calibri" pitchFamily="34" charset="0"/>
              </a:rPr>
              <a:t>k</a:t>
            </a:r>
            <a:r>
              <a:rPr lang="fr-FR" sz="1400" dirty="0">
                <a:solidFill>
                  <a:srgbClr val="FF6600"/>
                </a:solidFill>
                <a:latin typeface="Calibri" pitchFamily="34" charset="0"/>
              </a:rPr>
              <a:t> : rapport de transmission</a:t>
            </a:r>
            <a:endParaRPr lang="fr-FR" sz="1400" i="0" dirty="0">
              <a:solidFill>
                <a:srgbClr val="FF6600"/>
              </a:solidFill>
              <a:latin typeface="Calibri" pitchFamily="34" charset="0"/>
            </a:endParaRPr>
          </a:p>
        </p:txBody>
      </p:sp>
      <p:sp>
        <p:nvSpPr>
          <p:cNvPr id="309" name="Text Box 307"/>
          <p:cNvSpPr txBox="1">
            <a:spLocks noChangeArrowheads="1"/>
          </p:cNvSpPr>
          <p:nvPr/>
        </p:nvSpPr>
        <p:spPr bwMode="auto">
          <a:xfrm>
            <a:off x="4472269" y="2264364"/>
            <a:ext cx="3736504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/>
            <a:r>
              <a:rPr lang="fr-FR" sz="1400" b="1" i="1" dirty="0">
                <a:solidFill>
                  <a:srgbClr val="FF0000"/>
                </a:solidFill>
                <a:latin typeface="Calibri" pitchFamily="34" charset="0"/>
                <a:cs typeface="Arial" charset="0"/>
                <a:sym typeface="Wingdings 3" pitchFamily="18" charset="2"/>
              </a:rPr>
              <a:t> </a:t>
            </a:r>
            <a:r>
              <a:rPr lang="fr-FR" sz="1400" b="1" i="1" u="sng" dirty="0">
                <a:solidFill>
                  <a:srgbClr val="FF0000"/>
                </a:solidFill>
                <a:latin typeface="Calibri" pitchFamily="34" charset="0"/>
                <a:cs typeface="Arial" charset="0"/>
              </a:rPr>
              <a:t>Conditions de fonctionnement</a:t>
            </a:r>
            <a:endParaRPr lang="fr-FR" sz="1400" b="1" i="1" u="sng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310" name="Text Box 26"/>
          <p:cNvSpPr txBox="1">
            <a:spLocks noChangeArrowheads="1"/>
          </p:cNvSpPr>
          <p:nvPr/>
        </p:nvSpPr>
        <p:spPr bwMode="auto">
          <a:xfrm>
            <a:off x="4468813" y="2518498"/>
            <a:ext cx="3910012" cy="95410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101600" indent="-101600" algn="just">
              <a:buFont typeface="Arial" pitchFamily="34" charset="0"/>
              <a:buChar char="•"/>
            </a:pPr>
            <a:r>
              <a:rPr lang="fr-FR" sz="1400" dirty="0">
                <a:latin typeface="Calibri" pitchFamily="34" charset="0"/>
              </a:rPr>
              <a:t>Certaines des roues ne sont pas en rotation autour d’un axe fixe par rapport au bâti</a:t>
            </a:r>
          </a:p>
          <a:p>
            <a:pPr marL="101600" indent="-101600" algn="just">
              <a:buFont typeface="Arial" pitchFamily="34" charset="0"/>
              <a:buChar char="•"/>
            </a:pPr>
            <a:r>
              <a:rPr lang="fr-FR" sz="1400" dirty="0">
                <a:latin typeface="Calibri" pitchFamily="34" charset="0"/>
              </a:rPr>
              <a:t>Une roue doit être motrice, une roue doit être réceptrice et une roue doit être fixe</a:t>
            </a:r>
            <a:endParaRPr lang="fr-FR" sz="1400" b="1" dirty="0">
              <a:solidFill>
                <a:srgbClr val="CC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11" name="Text Box 307"/>
          <p:cNvSpPr txBox="1">
            <a:spLocks noChangeArrowheads="1"/>
          </p:cNvSpPr>
          <p:nvPr/>
        </p:nvSpPr>
        <p:spPr bwMode="auto">
          <a:xfrm>
            <a:off x="4477991" y="3383020"/>
            <a:ext cx="3736504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/>
            <a:r>
              <a:rPr lang="fr-FR" sz="1400" b="1" i="1" dirty="0">
                <a:solidFill>
                  <a:srgbClr val="FF0000"/>
                </a:solidFill>
                <a:latin typeface="Calibri" pitchFamily="34" charset="0"/>
                <a:cs typeface="Arial" charset="0"/>
                <a:sym typeface="Wingdings 3" pitchFamily="18" charset="2"/>
              </a:rPr>
              <a:t> </a:t>
            </a:r>
            <a:r>
              <a:rPr lang="fr-FR" sz="1400" b="1" i="1" u="sng" dirty="0">
                <a:solidFill>
                  <a:srgbClr val="FF0000"/>
                </a:solidFill>
                <a:latin typeface="Calibri" pitchFamily="34" charset="0"/>
                <a:cs typeface="Arial" charset="0"/>
              </a:rPr>
              <a:t>Formule de Willis</a:t>
            </a:r>
            <a:endParaRPr lang="fr-FR" sz="1400" b="1" i="1" u="sng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312" name="Rectangle à coins arrondis 311"/>
          <p:cNvSpPr/>
          <p:nvPr/>
        </p:nvSpPr>
        <p:spPr>
          <a:xfrm>
            <a:off x="4534054" y="3666475"/>
            <a:ext cx="1508399" cy="702077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rgbClr val="FF0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 i="0" dirty="0"/>
          </a:p>
        </p:txBody>
      </p:sp>
      <p:graphicFrame>
        <p:nvGraphicFramePr>
          <p:cNvPr id="31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787884"/>
              </p:ext>
            </p:extLst>
          </p:nvPr>
        </p:nvGraphicFramePr>
        <p:xfrm>
          <a:off x="4560473" y="3696819"/>
          <a:ext cx="1409700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825480" imgH="380880" progId="">
                  <p:embed/>
                </p:oleObj>
              </mc:Choice>
              <mc:Fallback>
                <p:oleObj name="Equation" r:id="rId21" imgW="825480" imgH="380880" progId="">
                  <p:embed/>
                  <p:pic>
                    <p:nvPicPr>
                      <p:cNvPr id="0" name="Picture 9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0473" y="3696819"/>
                        <a:ext cx="1409700" cy="595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6" name="Rectangle 315"/>
          <p:cNvSpPr/>
          <p:nvPr/>
        </p:nvSpPr>
        <p:spPr bwMode="auto">
          <a:xfrm>
            <a:off x="6164733" y="3840596"/>
            <a:ext cx="1445209" cy="303892"/>
          </a:xfrm>
          <a:prstGeom prst="rect">
            <a:avLst/>
          </a:prstGeom>
          <a:solidFill>
            <a:srgbClr val="CCEC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79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17" name="Text Box 38"/>
          <p:cNvSpPr txBox="1">
            <a:spLocks noChangeArrowheads="1"/>
          </p:cNvSpPr>
          <p:nvPr/>
        </p:nvSpPr>
        <p:spPr bwMode="auto">
          <a:xfrm>
            <a:off x="6126455" y="3836710"/>
            <a:ext cx="1582340" cy="307777"/>
          </a:xfrm>
          <a:prstGeom prst="rect">
            <a:avLst/>
          </a:prstGeom>
          <a:noFill/>
          <a:ln w="5715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/>
            <a:r>
              <a:rPr lang="fr-FR" sz="1400" b="1" dirty="0">
                <a:solidFill>
                  <a:srgbClr val="FF6600"/>
                </a:solidFill>
                <a:latin typeface="Calibri" pitchFamily="34" charset="0"/>
                <a:sym typeface="Symbol"/>
              </a:rPr>
              <a:t></a:t>
            </a:r>
            <a:r>
              <a:rPr lang="fr-FR" sz="1400" i="0" dirty="0">
                <a:solidFill>
                  <a:srgbClr val="FF6600"/>
                </a:solidFill>
                <a:latin typeface="Calibri" pitchFamily="34" charset="0"/>
              </a:rPr>
              <a:t> : raison du train</a:t>
            </a:r>
          </a:p>
        </p:txBody>
      </p:sp>
      <p:sp>
        <p:nvSpPr>
          <p:cNvPr id="318" name="Text Box 307"/>
          <p:cNvSpPr txBox="1">
            <a:spLocks noChangeArrowheads="1"/>
          </p:cNvSpPr>
          <p:nvPr/>
        </p:nvSpPr>
        <p:spPr bwMode="auto">
          <a:xfrm>
            <a:off x="4470768" y="5043766"/>
            <a:ext cx="2198428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/>
            <a:r>
              <a:rPr lang="fr-FR" sz="1400" b="1" i="1" dirty="0">
                <a:solidFill>
                  <a:srgbClr val="FF0000"/>
                </a:solidFill>
                <a:latin typeface="Calibri" pitchFamily="34" charset="0"/>
                <a:cs typeface="Arial" charset="0"/>
                <a:sym typeface="Wingdings 3" pitchFamily="18" charset="2"/>
              </a:rPr>
              <a:t> </a:t>
            </a:r>
            <a:r>
              <a:rPr lang="fr-FR" sz="1400" b="1" i="1" u="sng" dirty="0">
                <a:solidFill>
                  <a:srgbClr val="FF0000"/>
                </a:solidFill>
                <a:latin typeface="Calibri" pitchFamily="34" charset="0"/>
                <a:cs typeface="Arial" charset="0"/>
              </a:rPr>
              <a:t>Formule de </a:t>
            </a:r>
            <a:r>
              <a:rPr lang="fr-FR" sz="1400" b="1" i="1" u="sng" dirty="0" err="1">
                <a:solidFill>
                  <a:srgbClr val="FF0000"/>
                </a:solidFill>
                <a:latin typeface="Calibri" pitchFamily="34" charset="0"/>
                <a:cs typeface="Arial" charset="0"/>
              </a:rPr>
              <a:t>Ravignaud</a:t>
            </a:r>
            <a:endParaRPr lang="fr-FR" sz="1400" b="1" i="1" u="sng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319" name="Rectangle 318"/>
          <p:cNvSpPr/>
          <p:nvPr/>
        </p:nvSpPr>
        <p:spPr>
          <a:xfrm>
            <a:off x="6347681" y="5047172"/>
            <a:ext cx="200859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1400" spc="-40" dirty="0">
                <a:latin typeface="Calibri" pitchFamily="34" charset="0"/>
                <a:cs typeface="Calibri" pitchFamily="34" charset="0"/>
              </a:rPr>
              <a:t>(autre écriture </a:t>
            </a:r>
            <a:r>
              <a:rPr lang="fr-FR" sz="1400" spc="-40" dirty="0" err="1">
                <a:latin typeface="Calibri" pitchFamily="34" charset="0"/>
                <a:cs typeface="Calibri" pitchFamily="34" charset="0"/>
              </a:rPr>
              <a:t>form</a:t>
            </a:r>
            <a:r>
              <a:rPr lang="fr-FR" sz="1400" spc="-40" dirty="0">
                <a:latin typeface="Calibri" pitchFamily="34" charset="0"/>
                <a:cs typeface="Calibri" pitchFamily="34" charset="0"/>
              </a:rPr>
              <a:t>. Willis)</a:t>
            </a:r>
          </a:p>
        </p:txBody>
      </p:sp>
      <p:graphicFrame>
        <p:nvGraphicFramePr>
          <p:cNvPr id="18" name="Obje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2570393"/>
              </p:ext>
            </p:extLst>
          </p:nvPr>
        </p:nvGraphicFramePr>
        <p:xfrm>
          <a:off x="4501730" y="5336809"/>
          <a:ext cx="2487613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562040" imgH="355320" progId="">
                  <p:embed/>
                </p:oleObj>
              </mc:Choice>
              <mc:Fallback>
                <p:oleObj name="Equation" r:id="rId23" imgW="1562040" imgH="355320" progId="">
                  <p:embed/>
                  <p:pic>
                    <p:nvPicPr>
                      <p:cNvPr id="0" name="Picture 9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1730" y="5336809"/>
                        <a:ext cx="2487613" cy="519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2690910"/>
              </p:ext>
            </p:extLst>
          </p:nvPr>
        </p:nvGraphicFramePr>
        <p:xfrm>
          <a:off x="6486873" y="5644579"/>
          <a:ext cx="1868240" cy="7018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117440" imgH="457200" progId="">
                  <p:embed/>
                </p:oleObj>
              </mc:Choice>
              <mc:Fallback>
                <p:oleObj name="Equation" r:id="rId25" imgW="1117440" imgH="457200" progId="">
                  <p:embed/>
                  <p:pic>
                    <p:nvPicPr>
                      <p:cNvPr id="0" name="Picture 9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6873" y="5644579"/>
                        <a:ext cx="1868240" cy="70186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1" name="Rectangle 8"/>
          <p:cNvSpPr>
            <a:spLocks noChangeArrowheads="1"/>
          </p:cNvSpPr>
          <p:nvPr/>
        </p:nvSpPr>
        <p:spPr bwMode="auto">
          <a:xfrm>
            <a:off x="4524367" y="7078922"/>
            <a:ext cx="1677437" cy="306000"/>
          </a:xfrm>
          <a:prstGeom prst="rect">
            <a:avLst/>
          </a:prstGeom>
          <a:solidFill>
            <a:srgbClr val="FFFFCC"/>
          </a:solidFill>
          <a:ln w="19050">
            <a:solidFill>
              <a:srgbClr val="FF66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322" name="ZoneTexte 21"/>
          <p:cNvSpPr txBox="1">
            <a:spLocks noChangeArrowheads="1"/>
          </p:cNvSpPr>
          <p:nvPr/>
        </p:nvSpPr>
        <p:spPr bwMode="auto">
          <a:xfrm>
            <a:off x="4525485" y="7043313"/>
            <a:ext cx="1857829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1600" b="1" dirty="0">
                <a:solidFill>
                  <a:srgbClr val="00B050"/>
                </a:solidFill>
                <a:cs typeface="Arial" charset="0"/>
              </a:rPr>
              <a:t>○</a:t>
            </a:r>
            <a:r>
              <a:rPr lang="fr-FR" sz="1600" b="1" dirty="0">
                <a:solidFill>
                  <a:srgbClr val="00B050"/>
                </a:solidFill>
                <a:latin typeface="Calibri" pitchFamily="34" charset="0"/>
              </a:rPr>
              <a:t> Les roulements</a:t>
            </a:r>
          </a:p>
        </p:txBody>
      </p:sp>
      <p:sp>
        <p:nvSpPr>
          <p:cNvPr id="323" name="Text Box 307"/>
          <p:cNvSpPr txBox="1">
            <a:spLocks noChangeArrowheads="1"/>
          </p:cNvSpPr>
          <p:nvPr/>
        </p:nvSpPr>
        <p:spPr bwMode="auto">
          <a:xfrm>
            <a:off x="4509541" y="7391338"/>
            <a:ext cx="1642561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/>
            <a:r>
              <a:rPr lang="fr-FR" sz="1400" b="1" i="1" dirty="0">
                <a:solidFill>
                  <a:srgbClr val="FF0000"/>
                </a:solidFill>
                <a:latin typeface="Calibri" pitchFamily="34" charset="0"/>
                <a:cs typeface="Arial" charset="0"/>
                <a:sym typeface="Wingdings 3" pitchFamily="18" charset="2"/>
              </a:rPr>
              <a:t> </a:t>
            </a:r>
            <a:r>
              <a:rPr lang="fr-FR" sz="1400" b="1" i="1" u="sng" dirty="0">
                <a:solidFill>
                  <a:srgbClr val="FF0000"/>
                </a:solidFill>
                <a:latin typeface="Calibri" pitchFamily="34" charset="0"/>
                <a:cs typeface="Arial" charset="0"/>
              </a:rPr>
              <a:t>Montage en X</a:t>
            </a:r>
            <a:endParaRPr lang="fr-FR" sz="1400" b="1" i="1" u="sng" dirty="0">
              <a:solidFill>
                <a:srgbClr val="FF0000"/>
              </a:solidFill>
              <a:latin typeface="Calibri" pitchFamily="34" charset="0"/>
            </a:endParaRPr>
          </a:p>
        </p:txBody>
      </p:sp>
      <p:pic>
        <p:nvPicPr>
          <p:cNvPr id="2822" name="Picture 774"/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1222" y="7312870"/>
            <a:ext cx="1426867" cy="113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24" name="Rectangle 41"/>
          <p:cNvSpPr>
            <a:spLocks noChangeArrowheads="1"/>
          </p:cNvSpPr>
          <p:nvPr/>
        </p:nvSpPr>
        <p:spPr bwMode="auto">
          <a:xfrm>
            <a:off x="4477992" y="7699115"/>
            <a:ext cx="2439634" cy="73866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/>
            <a:r>
              <a:rPr lang="fr-FR" sz="1400" dirty="0">
                <a:latin typeface="Calibri" pitchFamily="34" charset="0"/>
                <a:cs typeface="Calibri" pitchFamily="34" charset="0"/>
              </a:rPr>
              <a:t>Bague </a:t>
            </a:r>
            <a:r>
              <a:rPr lang="fr-FR" sz="1400" u="sng" dirty="0">
                <a:latin typeface="Calibri" pitchFamily="34" charset="0"/>
                <a:cs typeface="Calibri" pitchFamily="34" charset="0"/>
              </a:rPr>
              <a:t>intérieure</a:t>
            </a:r>
            <a:r>
              <a:rPr lang="fr-FR" sz="1400" dirty="0">
                <a:latin typeface="Calibri" pitchFamily="34" charset="0"/>
                <a:cs typeface="Calibri" pitchFamily="34" charset="0"/>
              </a:rPr>
              <a:t> tournante par rapport à la direction de la charge </a:t>
            </a:r>
            <a:r>
              <a:rPr lang="fr-FR" sz="1400" dirty="0">
                <a:latin typeface="Calibri" pitchFamily="34" charset="0"/>
                <a:cs typeface="Calibri" pitchFamily="34" charset="0"/>
                <a:sym typeface="Symbol"/>
              </a:rPr>
              <a:t> SERREE</a:t>
            </a:r>
            <a:endParaRPr lang="fr-FR" sz="1400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2823" name="Picture 775"/>
          <p:cNvPicPr>
            <a:picLocks noChangeAspect="1" noChangeArrowheads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5508" y="8430974"/>
            <a:ext cx="1420771" cy="1165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25" name="Rectangle 41"/>
          <p:cNvSpPr>
            <a:spLocks noChangeArrowheads="1"/>
          </p:cNvSpPr>
          <p:nvPr/>
        </p:nvSpPr>
        <p:spPr bwMode="auto">
          <a:xfrm>
            <a:off x="4456874" y="8599384"/>
            <a:ext cx="2439634" cy="73866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/>
            <a:r>
              <a:rPr lang="fr-FR" sz="1400" dirty="0">
                <a:latin typeface="Calibri" pitchFamily="34" charset="0"/>
                <a:cs typeface="Calibri" pitchFamily="34" charset="0"/>
              </a:rPr>
              <a:t>Bague </a:t>
            </a:r>
            <a:r>
              <a:rPr lang="fr-FR" sz="1400" u="sng" dirty="0">
                <a:latin typeface="Calibri" pitchFamily="34" charset="0"/>
                <a:cs typeface="Calibri" pitchFamily="34" charset="0"/>
              </a:rPr>
              <a:t>extérieure</a:t>
            </a:r>
            <a:r>
              <a:rPr lang="fr-FR" sz="1400" dirty="0">
                <a:latin typeface="Calibri" pitchFamily="34" charset="0"/>
                <a:cs typeface="Calibri" pitchFamily="34" charset="0"/>
              </a:rPr>
              <a:t> tournante par rapport à la direction de la charge </a:t>
            </a:r>
            <a:r>
              <a:rPr lang="fr-FR" sz="1400" dirty="0">
                <a:latin typeface="Calibri" pitchFamily="34" charset="0"/>
                <a:cs typeface="Calibri" pitchFamily="34" charset="0"/>
                <a:sym typeface="Symbol"/>
              </a:rPr>
              <a:t> SERREE</a:t>
            </a:r>
            <a:endParaRPr lang="fr-FR" sz="14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26" name="Text Box 307"/>
          <p:cNvSpPr txBox="1">
            <a:spLocks noChangeArrowheads="1"/>
          </p:cNvSpPr>
          <p:nvPr/>
        </p:nvSpPr>
        <p:spPr bwMode="auto">
          <a:xfrm>
            <a:off x="4483894" y="8363038"/>
            <a:ext cx="1642561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/>
            <a:r>
              <a:rPr lang="fr-FR" sz="1400" b="1" i="1" dirty="0">
                <a:solidFill>
                  <a:srgbClr val="FF0000"/>
                </a:solidFill>
                <a:latin typeface="Calibri" pitchFamily="34" charset="0"/>
                <a:cs typeface="Arial" charset="0"/>
                <a:sym typeface="Wingdings 3" pitchFamily="18" charset="2"/>
              </a:rPr>
              <a:t> </a:t>
            </a:r>
            <a:r>
              <a:rPr lang="fr-FR" sz="1400" b="1" i="1" u="sng" dirty="0">
                <a:solidFill>
                  <a:srgbClr val="FF0000"/>
                </a:solidFill>
                <a:latin typeface="Calibri" pitchFamily="34" charset="0"/>
                <a:cs typeface="Arial" charset="0"/>
              </a:rPr>
              <a:t>Montage en 0</a:t>
            </a:r>
            <a:endParaRPr lang="fr-FR" sz="1400" b="1" i="1" u="sng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327" name="Text Box 307"/>
          <p:cNvSpPr txBox="1">
            <a:spLocks noChangeArrowheads="1"/>
          </p:cNvSpPr>
          <p:nvPr/>
        </p:nvSpPr>
        <p:spPr bwMode="auto">
          <a:xfrm>
            <a:off x="8526162" y="805645"/>
            <a:ext cx="2142363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/>
            <a:r>
              <a:rPr lang="fr-FR" sz="1400" b="1" i="1" dirty="0">
                <a:solidFill>
                  <a:srgbClr val="FF0000"/>
                </a:solidFill>
                <a:latin typeface="Calibri" pitchFamily="34" charset="0"/>
                <a:cs typeface="Arial" charset="0"/>
                <a:sym typeface="Wingdings 3" pitchFamily="18" charset="2"/>
              </a:rPr>
              <a:t> </a:t>
            </a:r>
            <a:r>
              <a:rPr lang="fr-FR" sz="1400" b="1" i="1" u="sng" dirty="0">
                <a:solidFill>
                  <a:srgbClr val="FF0000"/>
                </a:solidFill>
                <a:latin typeface="Calibri" pitchFamily="34" charset="0"/>
                <a:cs typeface="Arial" charset="0"/>
              </a:rPr>
              <a:t>Liaison équivalente</a:t>
            </a:r>
            <a:endParaRPr lang="fr-FR" sz="1400" b="1" i="1" u="sng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333" name="Text Box 26"/>
          <p:cNvSpPr txBox="1">
            <a:spLocks noChangeArrowheads="1"/>
          </p:cNvSpPr>
          <p:nvPr/>
        </p:nvSpPr>
        <p:spPr bwMode="auto">
          <a:xfrm rot="16200000">
            <a:off x="8244882" y="1279579"/>
            <a:ext cx="1099553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FR" sz="1400" dirty="0">
                <a:latin typeface="Calibri" pitchFamily="34" charset="0"/>
              </a:rPr>
              <a:t>Angle de </a:t>
            </a:r>
          </a:p>
          <a:p>
            <a:pPr algn="ctr"/>
            <a:r>
              <a:rPr lang="fr-FR" sz="1400" dirty="0">
                <a:latin typeface="Calibri" pitchFamily="34" charset="0"/>
              </a:rPr>
              <a:t>rotulage &lt; 5’</a:t>
            </a:r>
            <a:endParaRPr lang="fr-FR" sz="1400" b="1" dirty="0">
              <a:solidFill>
                <a:srgbClr val="CC000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46" name="Text Box 26"/>
          <p:cNvSpPr txBox="1">
            <a:spLocks noChangeArrowheads="1"/>
          </p:cNvSpPr>
          <p:nvPr/>
        </p:nvSpPr>
        <p:spPr bwMode="auto">
          <a:xfrm rot="16200000">
            <a:off x="8242094" y="2268230"/>
            <a:ext cx="1099558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fr-FR" sz="1400" dirty="0">
                <a:latin typeface="Calibri" pitchFamily="34" charset="0"/>
              </a:rPr>
              <a:t>Angle de</a:t>
            </a:r>
          </a:p>
          <a:p>
            <a:pPr algn="ctr"/>
            <a:r>
              <a:rPr lang="fr-FR" sz="1400" dirty="0">
                <a:latin typeface="Calibri" pitchFamily="34" charset="0"/>
              </a:rPr>
              <a:t>rotulage &gt; 5’</a:t>
            </a:r>
            <a:endParaRPr lang="fr-FR" sz="1400" b="1" dirty="0">
              <a:solidFill>
                <a:srgbClr val="CC0000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337" name="Picture 22"/>
          <p:cNvPicPr>
            <a:picLocks noChangeAspect="1" noChangeArrowheads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000"/>
          <a:stretch>
            <a:fillRect/>
          </a:stretch>
        </p:blipFill>
        <p:spPr bwMode="auto">
          <a:xfrm rot="21250275">
            <a:off x="11999606" y="1099060"/>
            <a:ext cx="700856" cy="7642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8" name="Picture 43"/>
          <p:cNvPicPr>
            <a:picLocks noChangeAspect="1" noChangeArrowheads="1"/>
          </p:cNvPicPr>
          <p:nvPr/>
        </p:nvPicPr>
        <p:blipFill rotWithShape="1"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88" t="12733" r="61874" b="48481"/>
          <a:stretch/>
        </p:blipFill>
        <p:spPr bwMode="auto">
          <a:xfrm>
            <a:off x="9108754" y="1149228"/>
            <a:ext cx="779631" cy="7177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9" name="Picture 63"/>
          <p:cNvPicPr>
            <a:picLocks noChangeAspect="1" noChangeArrowheads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8916" y="1120534"/>
            <a:ext cx="749968" cy="775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21" name="Connecteur droit 20"/>
          <p:cNvCxnSpPr/>
          <p:nvPr/>
        </p:nvCxnSpPr>
        <p:spPr bwMode="auto">
          <a:xfrm>
            <a:off x="9357842" y="1266200"/>
            <a:ext cx="0" cy="108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30" name="Connecteur droit 329"/>
          <p:cNvCxnSpPr/>
          <p:nvPr/>
        </p:nvCxnSpPr>
        <p:spPr bwMode="auto">
          <a:xfrm>
            <a:off x="9799888" y="1266249"/>
            <a:ext cx="0" cy="108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31" name="Connecteur droit 330"/>
          <p:cNvCxnSpPr/>
          <p:nvPr/>
        </p:nvCxnSpPr>
        <p:spPr bwMode="auto">
          <a:xfrm>
            <a:off x="9358894" y="1599636"/>
            <a:ext cx="0" cy="108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32" name="Connecteur droit 331"/>
          <p:cNvCxnSpPr/>
          <p:nvPr/>
        </p:nvCxnSpPr>
        <p:spPr bwMode="auto">
          <a:xfrm>
            <a:off x="9800940" y="1609211"/>
            <a:ext cx="0" cy="108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2" name="ZoneTexte 21"/>
          <p:cNvSpPr txBox="1"/>
          <p:nvPr/>
        </p:nvSpPr>
        <p:spPr>
          <a:xfrm>
            <a:off x="9847852" y="1373650"/>
            <a:ext cx="334038" cy="262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latin typeface="Calibri" pitchFamily="34" charset="0"/>
                <a:sym typeface="Symbol"/>
              </a:rPr>
              <a:t></a:t>
            </a:r>
            <a:endParaRPr lang="fr-FR" sz="1400" dirty="0">
              <a:latin typeface="Calibri" pitchFamily="34" charset="0"/>
            </a:endParaRPr>
          </a:p>
        </p:txBody>
      </p:sp>
      <p:pic>
        <p:nvPicPr>
          <p:cNvPr id="334" name="Picture 43"/>
          <p:cNvPicPr>
            <a:picLocks noChangeAspect="1" noChangeArrowheads="1"/>
          </p:cNvPicPr>
          <p:nvPr/>
        </p:nvPicPr>
        <p:blipFill rotWithShape="1"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88" t="12733" r="61874" b="48481"/>
          <a:stretch/>
        </p:blipFill>
        <p:spPr bwMode="auto">
          <a:xfrm>
            <a:off x="10983768" y="1125474"/>
            <a:ext cx="779631" cy="7177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36" name="ZoneTexte 335"/>
          <p:cNvSpPr txBox="1"/>
          <p:nvPr/>
        </p:nvSpPr>
        <p:spPr>
          <a:xfrm>
            <a:off x="11738065" y="1349895"/>
            <a:ext cx="334038" cy="262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latin typeface="Calibri" pitchFamily="34" charset="0"/>
                <a:sym typeface="Symbol"/>
              </a:rPr>
              <a:t></a:t>
            </a:r>
            <a:endParaRPr lang="fr-FR" sz="1400" dirty="0">
              <a:latin typeface="Calibri" pitchFamily="34" charset="0"/>
            </a:endParaRPr>
          </a:p>
        </p:txBody>
      </p:sp>
      <p:cxnSp>
        <p:nvCxnSpPr>
          <p:cNvPr id="338" name="Connecteur droit 337"/>
          <p:cNvCxnSpPr/>
          <p:nvPr/>
        </p:nvCxnSpPr>
        <p:spPr bwMode="auto">
          <a:xfrm>
            <a:off x="11231441" y="1248449"/>
            <a:ext cx="0" cy="108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39" name="Connecteur droit 338"/>
          <p:cNvCxnSpPr/>
          <p:nvPr/>
        </p:nvCxnSpPr>
        <p:spPr bwMode="auto">
          <a:xfrm>
            <a:off x="11673487" y="1248498"/>
            <a:ext cx="0" cy="108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341" name="Picture 18"/>
          <p:cNvPicPr>
            <a:picLocks noChangeAspect="1" noChangeArrowheads="1"/>
          </p:cNvPicPr>
          <p:nvPr/>
        </p:nvPicPr>
        <p:blipFill rotWithShape="1"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98" t="17939" r="63885" b="50213"/>
          <a:stretch/>
        </p:blipFill>
        <p:spPr bwMode="auto">
          <a:xfrm>
            <a:off x="9181040" y="2149462"/>
            <a:ext cx="707345" cy="720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47" name="Connecteur droit 346"/>
          <p:cNvCxnSpPr/>
          <p:nvPr/>
        </p:nvCxnSpPr>
        <p:spPr bwMode="auto">
          <a:xfrm>
            <a:off x="9320081" y="2166762"/>
            <a:ext cx="0" cy="108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8" name="Connecteur droit 347"/>
          <p:cNvCxnSpPr/>
          <p:nvPr/>
        </p:nvCxnSpPr>
        <p:spPr bwMode="auto">
          <a:xfrm>
            <a:off x="9783002" y="2176337"/>
            <a:ext cx="0" cy="108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9" name="Connecteur droit 348"/>
          <p:cNvCxnSpPr/>
          <p:nvPr/>
        </p:nvCxnSpPr>
        <p:spPr bwMode="auto">
          <a:xfrm>
            <a:off x="9311608" y="2586941"/>
            <a:ext cx="0" cy="108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50" name="Connecteur droit 349"/>
          <p:cNvCxnSpPr/>
          <p:nvPr/>
        </p:nvCxnSpPr>
        <p:spPr bwMode="auto">
          <a:xfrm>
            <a:off x="9784054" y="2606040"/>
            <a:ext cx="0" cy="108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51" name="ZoneTexte 350"/>
          <p:cNvSpPr txBox="1"/>
          <p:nvPr/>
        </p:nvSpPr>
        <p:spPr>
          <a:xfrm>
            <a:off x="9983280" y="2361564"/>
            <a:ext cx="334038" cy="262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latin typeface="Calibri" pitchFamily="34" charset="0"/>
                <a:sym typeface="Symbol"/>
              </a:rPr>
              <a:t></a:t>
            </a:r>
            <a:endParaRPr lang="fr-FR" sz="1400" dirty="0">
              <a:latin typeface="Calibri" pitchFamily="34" charset="0"/>
            </a:endParaRPr>
          </a:p>
        </p:txBody>
      </p:sp>
      <p:pic>
        <p:nvPicPr>
          <p:cNvPr id="352" name="Picture 32"/>
          <p:cNvPicPr>
            <a:picLocks noChangeAspect="1" noChangeArrowheads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53" b="24428"/>
          <a:stretch>
            <a:fillRect/>
          </a:stretch>
        </p:blipFill>
        <p:spPr bwMode="auto">
          <a:xfrm rot="21406058">
            <a:off x="10243596" y="2098757"/>
            <a:ext cx="501402" cy="822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53" name="Picture 18"/>
          <p:cNvPicPr>
            <a:picLocks noChangeAspect="1" noChangeArrowheads="1"/>
          </p:cNvPicPr>
          <p:nvPr/>
        </p:nvPicPr>
        <p:blipFill rotWithShape="1"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98" t="17939" r="63885" b="50213"/>
          <a:stretch/>
        </p:blipFill>
        <p:spPr bwMode="auto">
          <a:xfrm>
            <a:off x="11056053" y="2120731"/>
            <a:ext cx="707345" cy="720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56" name="Connecteur droit 355"/>
          <p:cNvCxnSpPr/>
          <p:nvPr/>
        </p:nvCxnSpPr>
        <p:spPr bwMode="auto">
          <a:xfrm>
            <a:off x="11196147" y="2558211"/>
            <a:ext cx="0" cy="108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57" name="Connecteur droit 356"/>
          <p:cNvCxnSpPr/>
          <p:nvPr/>
        </p:nvCxnSpPr>
        <p:spPr bwMode="auto">
          <a:xfrm>
            <a:off x="11659068" y="2577310"/>
            <a:ext cx="0" cy="108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58" name="ZoneTexte 357"/>
          <p:cNvSpPr txBox="1"/>
          <p:nvPr/>
        </p:nvSpPr>
        <p:spPr>
          <a:xfrm>
            <a:off x="11795589" y="2332834"/>
            <a:ext cx="334038" cy="262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>
                <a:latin typeface="Calibri" pitchFamily="34" charset="0"/>
                <a:sym typeface="Symbol"/>
              </a:rPr>
              <a:t></a:t>
            </a:r>
            <a:endParaRPr lang="fr-FR" sz="1400" dirty="0">
              <a:latin typeface="Calibri" pitchFamily="34" charset="0"/>
            </a:endParaRPr>
          </a:p>
        </p:txBody>
      </p:sp>
      <p:pic>
        <p:nvPicPr>
          <p:cNvPr id="359" name="Picture 26"/>
          <p:cNvPicPr>
            <a:picLocks noChangeAspect="1" noChangeArrowheads="1"/>
          </p:cNvPicPr>
          <p:nvPr/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3637" y="2056452"/>
            <a:ext cx="582773" cy="872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60" name="Text Box 307"/>
          <p:cNvSpPr txBox="1">
            <a:spLocks noChangeArrowheads="1"/>
          </p:cNvSpPr>
          <p:nvPr/>
        </p:nvSpPr>
        <p:spPr bwMode="auto">
          <a:xfrm>
            <a:off x="8528643" y="3192420"/>
            <a:ext cx="2142363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/>
            <a:r>
              <a:rPr lang="fr-FR" sz="1400" b="1" i="1" dirty="0">
                <a:solidFill>
                  <a:srgbClr val="FF0000"/>
                </a:solidFill>
                <a:latin typeface="Calibri" pitchFamily="34" charset="0"/>
                <a:cs typeface="Arial" charset="0"/>
                <a:sym typeface="Wingdings 3" pitchFamily="18" charset="2"/>
              </a:rPr>
              <a:t> </a:t>
            </a:r>
            <a:r>
              <a:rPr lang="fr-FR" sz="1400" b="1" i="1" u="sng" dirty="0">
                <a:solidFill>
                  <a:srgbClr val="FF0000"/>
                </a:solidFill>
                <a:latin typeface="Calibri" pitchFamily="34" charset="0"/>
                <a:cs typeface="Arial" charset="0"/>
              </a:rPr>
              <a:t>Durée de vie</a:t>
            </a:r>
            <a:endParaRPr lang="fr-FR" sz="1400" b="1" i="1" u="sng" dirty="0">
              <a:solidFill>
                <a:srgbClr val="FF0000"/>
              </a:solidFill>
              <a:latin typeface="Calibri" pitchFamily="34" charset="0"/>
            </a:endParaRPr>
          </a:p>
        </p:txBody>
      </p:sp>
      <p:graphicFrame>
        <p:nvGraphicFramePr>
          <p:cNvPr id="24" name="Obje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5261748"/>
              </p:ext>
            </p:extLst>
          </p:nvPr>
        </p:nvGraphicFramePr>
        <p:xfrm>
          <a:off x="8587234" y="3510638"/>
          <a:ext cx="1063625" cy="65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622080" imgH="419040" progId="">
                  <p:embed/>
                </p:oleObj>
              </mc:Choice>
              <mc:Fallback>
                <p:oleObj name="Equation" r:id="rId35" imgW="622080" imgH="419040" progId="">
                  <p:embed/>
                  <p:pic>
                    <p:nvPicPr>
                      <p:cNvPr id="0" name="Picture 9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87234" y="3510638"/>
                        <a:ext cx="1063625" cy="655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4"/>
          <p:cNvSpPr/>
          <p:nvPr/>
        </p:nvSpPr>
        <p:spPr>
          <a:xfrm>
            <a:off x="9721763" y="3375656"/>
            <a:ext cx="307983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fr-FR" sz="1400" dirty="0">
                <a:latin typeface="Calibri" pitchFamily="34" charset="0"/>
              </a:rPr>
              <a:t>C : charge dynamique de base</a:t>
            </a:r>
          </a:p>
          <a:p>
            <a:pPr lvl="0" algn="just"/>
            <a:r>
              <a:rPr lang="fr-FR" sz="1400" dirty="0">
                <a:latin typeface="Calibri" pitchFamily="34" charset="0"/>
              </a:rPr>
              <a:t>P : charge radiale équivalente = </a:t>
            </a:r>
            <a:r>
              <a:rPr lang="fr-FR" sz="1400" dirty="0" err="1">
                <a:latin typeface="Calibri" pitchFamily="34" charset="0"/>
              </a:rPr>
              <a:t>X.F</a:t>
            </a:r>
            <a:r>
              <a:rPr lang="fr-FR" sz="1400" baseline="-25000" dirty="0" err="1">
                <a:latin typeface="Calibri" pitchFamily="34" charset="0"/>
              </a:rPr>
              <a:t>r</a:t>
            </a:r>
            <a:r>
              <a:rPr lang="fr-FR" sz="1400" dirty="0" err="1">
                <a:latin typeface="Calibri" pitchFamily="34" charset="0"/>
              </a:rPr>
              <a:t>+Y.F</a:t>
            </a:r>
            <a:r>
              <a:rPr lang="fr-FR" sz="1400" baseline="-25000" dirty="0" err="1">
                <a:latin typeface="Calibri" pitchFamily="34" charset="0"/>
              </a:rPr>
              <a:t>a</a:t>
            </a:r>
            <a:endParaRPr lang="fr-FR" sz="1400" dirty="0">
              <a:latin typeface="Calibri" pitchFamily="34" charset="0"/>
            </a:endParaRPr>
          </a:p>
          <a:p>
            <a:pPr lvl="0" algn="just"/>
            <a:r>
              <a:rPr lang="fr-FR" sz="1400" dirty="0">
                <a:latin typeface="Calibri" pitchFamily="34" charset="0"/>
              </a:rPr>
              <a:t>n = 3 pour les billes, n = 10/3 pour les rouleaux et les aiguilles.</a:t>
            </a:r>
          </a:p>
        </p:txBody>
      </p:sp>
      <p:cxnSp>
        <p:nvCxnSpPr>
          <p:cNvPr id="27" name="Connecteur droit 26"/>
          <p:cNvCxnSpPr/>
          <p:nvPr/>
        </p:nvCxnSpPr>
        <p:spPr bwMode="auto">
          <a:xfrm>
            <a:off x="8538519" y="5458116"/>
            <a:ext cx="4263081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Connecteur droit 28"/>
          <p:cNvCxnSpPr/>
          <p:nvPr/>
        </p:nvCxnSpPr>
        <p:spPr bwMode="auto">
          <a:xfrm>
            <a:off x="9478226" y="5170804"/>
            <a:ext cx="0" cy="142054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62" name="Connecteur droit 361"/>
          <p:cNvCxnSpPr/>
          <p:nvPr/>
        </p:nvCxnSpPr>
        <p:spPr bwMode="auto">
          <a:xfrm>
            <a:off x="10644704" y="5271588"/>
            <a:ext cx="0" cy="131975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63" name="Connecteur droit 362"/>
          <p:cNvCxnSpPr/>
          <p:nvPr/>
        </p:nvCxnSpPr>
        <p:spPr bwMode="auto">
          <a:xfrm>
            <a:off x="11686048" y="5271588"/>
            <a:ext cx="727" cy="131975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36" name="Groupe 35"/>
          <p:cNvGrpSpPr/>
          <p:nvPr/>
        </p:nvGrpSpPr>
        <p:grpSpPr>
          <a:xfrm>
            <a:off x="8553882" y="5633284"/>
            <a:ext cx="915568" cy="325578"/>
            <a:chOff x="9451588" y="6361886"/>
            <a:chExt cx="915568" cy="325578"/>
          </a:xfrm>
        </p:grpSpPr>
        <p:sp>
          <p:nvSpPr>
            <p:cNvPr id="365" name="Ellipse 364"/>
            <p:cNvSpPr/>
            <p:nvPr/>
          </p:nvSpPr>
          <p:spPr>
            <a:xfrm>
              <a:off x="9466004" y="6361886"/>
              <a:ext cx="288130" cy="320132"/>
            </a:xfrm>
            <a:prstGeom prst="ellipse">
              <a:avLst/>
            </a:prstGeom>
            <a:solidFill>
              <a:schemeClr val="tx1">
                <a:alpha val="70000"/>
              </a:schemeClr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>
                <a:latin typeface="Calibri" pitchFamily="34" charset="0"/>
              </a:endParaRPr>
            </a:p>
          </p:txBody>
        </p:sp>
        <p:sp>
          <p:nvSpPr>
            <p:cNvPr id="366" name="Ellipse 365"/>
            <p:cNvSpPr/>
            <p:nvPr/>
          </p:nvSpPr>
          <p:spPr>
            <a:xfrm>
              <a:off x="10050853" y="6367332"/>
              <a:ext cx="288130" cy="320132"/>
            </a:xfrm>
            <a:prstGeom prst="ellipse">
              <a:avLst/>
            </a:prstGeom>
            <a:solidFill>
              <a:srgbClr val="FF0000">
                <a:alpha val="70000"/>
              </a:srgbClr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>
                <a:latin typeface="Calibri" pitchFamily="34" charset="0"/>
              </a:endParaRPr>
            </a:p>
          </p:txBody>
        </p:sp>
        <p:cxnSp>
          <p:nvCxnSpPr>
            <p:cNvPr id="367" name="Connecteur droit 366"/>
            <p:cNvCxnSpPr/>
            <p:nvPr/>
          </p:nvCxnSpPr>
          <p:spPr>
            <a:xfrm>
              <a:off x="9732720" y="6441978"/>
              <a:ext cx="34041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Connecteur droit 367"/>
            <p:cNvCxnSpPr/>
            <p:nvPr/>
          </p:nvCxnSpPr>
          <p:spPr>
            <a:xfrm>
              <a:off x="9732720" y="6618179"/>
              <a:ext cx="34041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9" name="Zone de texte 47"/>
            <p:cNvSpPr txBox="1"/>
            <p:nvPr/>
          </p:nvSpPr>
          <p:spPr>
            <a:xfrm>
              <a:off x="9451588" y="6369896"/>
              <a:ext cx="316784" cy="304213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lang="fr-FR" sz="1200" b="1" dirty="0">
                  <a:solidFill>
                    <a:srgbClr val="FFFFFF"/>
                  </a:solidFill>
                  <a:effectLst/>
                  <a:latin typeface="Calibri" pitchFamily="34" charset="0"/>
                  <a:ea typeface="Calibri"/>
                  <a:cs typeface="Times New Roman"/>
                </a:rPr>
                <a:t>S</a:t>
              </a:r>
              <a:r>
                <a:rPr lang="fr-FR" sz="1200" b="1" baseline="-25000" dirty="0">
                  <a:solidFill>
                    <a:srgbClr val="FFFFFF"/>
                  </a:solidFill>
                  <a:effectLst/>
                  <a:latin typeface="Calibri" pitchFamily="34" charset="0"/>
                  <a:ea typeface="Calibri"/>
                  <a:cs typeface="Times New Roman"/>
                </a:rPr>
                <a:t>0</a:t>
              </a:r>
              <a:endParaRPr lang="fr-FR" sz="1100" dirty="0">
                <a:effectLst/>
                <a:latin typeface="Calibri" pitchFamily="34" charset="0"/>
                <a:ea typeface="Calibri"/>
                <a:cs typeface="Times New Roman"/>
              </a:endParaRPr>
            </a:p>
          </p:txBody>
        </p:sp>
        <p:sp>
          <p:nvSpPr>
            <p:cNvPr id="370" name="Zone de texte 48"/>
            <p:cNvSpPr txBox="1"/>
            <p:nvPr/>
          </p:nvSpPr>
          <p:spPr>
            <a:xfrm>
              <a:off x="10050372" y="6380788"/>
              <a:ext cx="316784" cy="304213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lang="fr-FR" sz="1200" b="1" dirty="0">
                  <a:solidFill>
                    <a:srgbClr val="FFFFFF"/>
                  </a:solidFill>
                  <a:effectLst/>
                  <a:latin typeface="Calibri" pitchFamily="34" charset="0"/>
                  <a:ea typeface="Calibri"/>
                  <a:cs typeface="Times New Roman"/>
                </a:rPr>
                <a:t>S</a:t>
              </a:r>
              <a:r>
                <a:rPr lang="fr-FR" sz="1200" b="1" baseline="-25000" dirty="0">
                  <a:solidFill>
                    <a:srgbClr val="FFFFFF"/>
                  </a:solidFill>
                  <a:effectLst/>
                  <a:latin typeface="Calibri" pitchFamily="34" charset="0"/>
                  <a:ea typeface="Calibri"/>
                  <a:cs typeface="Times New Roman"/>
                </a:rPr>
                <a:t>1</a:t>
              </a:r>
              <a:endParaRPr lang="fr-FR" sz="1100" dirty="0">
                <a:effectLst/>
                <a:latin typeface="Calibri" pitchFamily="34" charset="0"/>
                <a:ea typeface="Calibri"/>
                <a:cs typeface="Times New Roman"/>
              </a:endParaRPr>
            </a:p>
          </p:txBody>
        </p:sp>
      </p:grpSp>
      <p:sp>
        <p:nvSpPr>
          <p:cNvPr id="37" name="Rectangle 36"/>
          <p:cNvSpPr/>
          <p:nvPr/>
        </p:nvSpPr>
        <p:spPr>
          <a:xfrm>
            <a:off x="8478038" y="4937728"/>
            <a:ext cx="107419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400" dirty="0">
                <a:latin typeface="Calibri" pitchFamily="34" charset="0"/>
              </a:rPr>
              <a:t>Liaisons en parallèle</a:t>
            </a:r>
          </a:p>
        </p:txBody>
      </p:sp>
      <p:grpSp>
        <p:nvGrpSpPr>
          <p:cNvPr id="43" name="Groupe 42"/>
          <p:cNvGrpSpPr/>
          <p:nvPr/>
        </p:nvGrpSpPr>
        <p:grpSpPr>
          <a:xfrm>
            <a:off x="9495470" y="5463111"/>
            <a:ext cx="1195858" cy="801747"/>
            <a:chOff x="9558902" y="5762071"/>
            <a:chExt cx="1195858" cy="801747"/>
          </a:xfrm>
        </p:grpSpPr>
        <p:cxnSp>
          <p:nvCxnSpPr>
            <p:cNvPr id="372" name="AutoShape 583"/>
            <p:cNvCxnSpPr>
              <a:cxnSpLocks noChangeShapeType="1"/>
            </p:cNvCxnSpPr>
            <p:nvPr/>
          </p:nvCxnSpPr>
          <p:spPr bwMode="auto">
            <a:xfrm flipH="1" flipV="1">
              <a:off x="9828512" y="5965701"/>
              <a:ext cx="180335" cy="120746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373" name="Ellipse 372"/>
            <p:cNvSpPr/>
            <p:nvPr/>
          </p:nvSpPr>
          <p:spPr>
            <a:xfrm>
              <a:off x="9583529" y="5784191"/>
              <a:ext cx="257689" cy="268709"/>
            </a:xfrm>
            <a:prstGeom prst="ellipse">
              <a:avLst/>
            </a:prstGeom>
            <a:solidFill>
              <a:srgbClr val="0033CC">
                <a:alpha val="7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 sz="1200">
                <a:latin typeface="Calibri" pitchFamily="34" charset="0"/>
              </a:endParaRPr>
            </a:p>
          </p:txBody>
        </p:sp>
        <p:sp>
          <p:nvSpPr>
            <p:cNvPr id="374" name="Zone de texte 7"/>
            <p:cNvSpPr txBox="1"/>
            <p:nvPr/>
          </p:nvSpPr>
          <p:spPr>
            <a:xfrm>
              <a:off x="9558902" y="5762071"/>
              <a:ext cx="345940" cy="255347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lang="fr-FR" sz="1200" b="1" dirty="0">
                  <a:solidFill>
                    <a:srgbClr val="FFFFFF"/>
                  </a:solidFill>
                  <a:effectLst/>
                  <a:latin typeface="Calibri" pitchFamily="34" charset="0"/>
                  <a:ea typeface="Calibri"/>
                  <a:cs typeface="Times New Roman"/>
                </a:rPr>
                <a:t>S</a:t>
              </a:r>
              <a:r>
                <a:rPr lang="fr-FR" sz="1200" b="1" baseline="-25000" dirty="0">
                  <a:solidFill>
                    <a:srgbClr val="FFFFFF"/>
                  </a:solidFill>
                  <a:effectLst/>
                  <a:latin typeface="Calibri" pitchFamily="34" charset="0"/>
                  <a:ea typeface="Calibri"/>
                  <a:cs typeface="Times New Roman"/>
                </a:rPr>
                <a:t>2</a:t>
              </a:r>
              <a:endParaRPr lang="fr-FR" sz="1200" dirty="0">
                <a:effectLst/>
                <a:latin typeface="Calibri" pitchFamily="34" charset="0"/>
                <a:ea typeface="Calibri"/>
                <a:cs typeface="Times New Roman"/>
              </a:endParaRPr>
            </a:p>
          </p:txBody>
        </p:sp>
        <p:sp>
          <p:nvSpPr>
            <p:cNvPr id="375" name="Ellipse 374"/>
            <p:cNvSpPr/>
            <p:nvPr/>
          </p:nvSpPr>
          <p:spPr>
            <a:xfrm>
              <a:off x="9996132" y="6012760"/>
              <a:ext cx="257689" cy="268709"/>
            </a:xfrm>
            <a:prstGeom prst="ellipse">
              <a:avLst/>
            </a:prstGeom>
            <a:solidFill>
              <a:srgbClr val="FF0000">
                <a:alpha val="70000"/>
              </a:srgbClr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 sz="1200">
                <a:latin typeface="Calibri" pitchFamily="34" charset="0"/>
              </a:endParaRPr>
            </a:p>
          </p:txBody>
        </p:sp>
        <p:cxnSp>
          <p:nvCxnSpPr>
            <p:cNvPr id="376" name="AutoShape 583"/>
            <p:cNvCxnSpPr>
              <a:cxnSpLocks noChangeShapeType="1"/>
            </p:cNvCxnSpPr>
            <p:nvPr/>
          </p:nvCxnSpPr>
          <p:spPr bwMode="auto">
            <a:xfrm flipH="1" flipV="1">
              <a:off x="10241115" y="6214439"/>
              <a:ext cx="199855" cy="141175"/>
            </a:xfrm>
            <a:prstGeom prst="straightConnector1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377" name="Ellipse 376"/>
            <p:cNvSpPr/>
            <p:nvPr/>
          </p:nvSpPr>
          <p:spPr>
            <a:xfrm>
              <a:off x="10415182" y="6295109"/>
              <a:ext cx="257689" cy="268709"/>
            </a:xfrm>
            <a:prstGeom prst="ellipse">
              <a:avLst/>
            </a:prstGeom>
            <a:solidFill>
              <a:schemeClr val="tx1">
                <a:alpha val="70000"/>
              </a:schemeClr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 sz="1200">
                <a:latin typeface="Calibri" pitchFamily="34" charset="0"/>
              </a:endParaRPr>
            </a:p>
          </p:txBody>
        </p:sp>
        <p:sp>
          <p:nvSpPr>
            <p:cNvPr id="378" name="Zone de texte 40"/>
            <p:cNvSpPr txBox="1"/>
            <p:nvPr/>
          </p:nvSpPr>
          <p:spPr>
            <a:xfrm>
              <a:off x="9962094" y="5999775"/>
              <a:ext cx="357803" cy="255347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lang="fr-FR" sz="1200" b="1" dirty="0">
                  <a:solidFill>
                    <a:srgbClr val="FFFFFF"/>
                  </a:solidFill>
                  <a:effectLst/>
                  <a:latin typeface="Calibri" pitchFamily="34" charset="0"/>
                  <a:ea typeface="Calibri"/>
                  <a:cs typeface="Times New Roman"/>
                </a:rPr>
                <a:t>S</a:t>
              </a:r>
              <a:r>
                <a:rPr lang="fr-FR" sz="1200" b="1" baseline="-25000" dirty="0">
                  <a:solidFill>
                    <a:srgbClr val="FFFFFF"/>
                  </a:solidFill>
                  <a:effectLst/>
                  <a:latin typeface="Calibri" pitchFamily="34" charset="0"/>
                  <a:ea typeface="Calibri"/>
                  <a:cs typeface="Times New Roman"/>
                </a:rPr>
                <a:t>1</a:t>
              </a:r>
              <a:endParaRPr lang="fr-FR" sz="1200" dirty="0">
                <a:effectLst/>
                <a:latin typeface="Calibri" pitchFamily="34" charset="0"/>
                <a:ea typeface="Calibri"/>
                <a:cs typeface="Times New Roman"/>
              </a:endParaRPr>
            </a:p>
          </p:txBody>
        </p:sp>
        <p:sp>
          <p:nvSpPr>
            <p:cNvPr id="379" name="Zone de texte 41"/>
            <p:cNvSpPr txBox="1"/>
            <p:nvPr/>
          </p:nvSpPr>
          <p:spPr>
            <a:xfrm>
              <a:off x="10381144" y="6280688"/>
              <a:ext cx="373616" cy="255347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lang="fr-FR" sz="1200" b="1" dirty="0">
                  <a:solidFill>
                    <a:srgbClr val="FFFFFF"/>
                  </a:solidFill>
                  <a:effectLst/>
                  <a:latin typeface="Calibri" pitchFamily="34" charset="0"/>
                  <a:ea typeface="Calibri"/>
                  <a:cs typeface="Times New Roman"/>
                </a:rPr>
                <a:t>S</a:t>
              </a:r>
              <a:r>
                <a:rPr lang="fr-FR" sz="1200" b="1" baseline="-25000" dirty="0">
                  <a:solidFill>
                    <a:srgbClr val="FFFFFF"/>
                  </a:solidFill>
                  <a:effectLst/>
                  <a:latin typeface="Calibri" pitchFamily="34" charset="0"/>
                  <a:ea typeface="Calibri"/>
                  <a:cs typeface="Times New Roman"/>
                </a:rPr>
                <a:t>0</a:t>
              </a:r>
              <a:endParaRPr lang="fr-FR" sz="1200" dirty="0">
                <a:effectLst/>
                <a:latin typeface="Calibri" pitchFamily="34" charset="0"/>
                <a:ea typeface="Calibri"/>
                <a:cs typeface="Times New Roman"/>
              </a:endParaRPr>
            </a:p>
          </p:txBody>
        </p:sp>
      </p:grpSp>
      <p:sp>
        <p:nvSpPr>
          <p:cNvPr id="380" name="Rectangle 379"/>
          <p:cNvSpPr/>
          <p:nvPr/>
        </p:nvSpPr>
        <p:spPr>
          <a:xfrm>
            <a:off x="9540467" y="4937728"/>
            <a:ext cx="107419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400" dirty="0">
                <a:latin typeface="Calibri" pitchFamily="34" charset="0"/>
              </a:rPr>
              <a:t>Liaisons en série</a:t>
            </a:r>
          </a:p>
        </p:txBody>
      </p:sp>
      <p:sp>
        <p:nvSpPr>
          <p:cNvPr id="394" name="Rectangle 393"/>
          <p:cNvSpPr/>
          <p:nvPr/>
        </p:nvSpPr>
        <p:spPr>
          <a:xfrm>
            <a:off x="10463561" y="4939891"/>
            <a:ext cx="13860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400" dirty="0">
                <a:latin typeface="Calibri" pitchFamily="34" charset="0"/>
              </a:rPr>
              <a:t>Chaîne continue fermée</a:t>
            </a:r>
          </a:p>
        </p:txBody>
      </p:sp>
      <p:grpSp>
        <p:nvGrpSpPr>
          <p:cNvPr id="63" name="Groupe 62"/>
          <p:cNvGrpSpPr/>
          <p:nvPr/>
        </p:nvGrpSpPr>
        <p:grpSpPr>
          <a:xfrm>
            <a:off x="11747629" y="5478441"/>
            <a:ext cx="1030763" cy="1073743"/>
            <a:chOff x="11747629" y="5777401"/>
            <a:chExt cx="1030763" cy="1073743"/>
          </a:xfrm>
        </p:grpSpPr>
        <p:sp>
          <p:nvSpPr>
            <p:cNvPr id="409" name="Ellipse 408"/>
            <p:cNvSpPr/>
            <p:nvPr/>
          </p:nvSpPr>
          <p:spPr>
            <a:xfrm>
              <a:off x="12472247" y="6193461"/>
              <a:ext cx="262981" cy="275768"/>
            </a:xfrm>
            <a:prstGeom prst="ellipse">
              <a:avLst/>
            </a:prstGeom>
            <a:solidFill>
              <a:srgbClr val="0033CC">
                <a:alpha val="70000"/>
              </a:srgbClr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 sz="1200">
                <a:latin typeface="Calibri" pitchFamily="34" charset="0"/>
              </a:endParaRPr>
            </a:p>
          </p:txBody>
        </p:sp>
        <p:sp>
          <p:nvSpPr>
            <p:cNvPr id="410" name="Ellipse 409"/>
            <p:cNvSpPr/>
            <p:nvPr/>
          </p:nvSpPr>
          <p:spPr>
            <a:xfrm>
              <a:off x="12117026" y="5816460"/>
              <a:ext cx="262981" cy="275768"/>
            </a:xfrm>
            <a:prstGeom prst="ellipse">
              <a:avLst/>
            </a:prstGeom>
            <a:solidFill>
              <a:sysClr val="windowText" lastClr="000000">
                <a:alpha val="70000"/>
              </a:sysClr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 sz="1200">
                <a:latin typeface="Calibri" pitchFamily="34" charset="0"/>
              </a:endParaRPr>
            </a:p>
          </p:txBody>
        </p:sp>
        <p:sp>
          <p:nvSpPr>
            <p:cNvPr id="411" name="Ellipse 410"/>
            <p:cNvSpPr/>
            <p:nvPr/>
          </p:nvSpPr>
          <p:spPr>
            <a:xfrm>
              <a:off x="11767367" y="6168321"/>
              <a:ext cx="262981" cy="275768"/>
            </a:xfrm>
            <a:prstGeom prst="ellipse">
              <a:avLst/>
            </a:prstGeom>
            <a:solidFill>
              <a:srgbClr val="FF0000">
                <a:alpha val="70000"/>
              </a:srgbClr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 sz="1200">
                <a:latin typeface="Calibri" pitchFamily="34" charset="0"/>
              </a:endParaRPr>
            </a:p>
          </p:txBody>
        </p:sp>
        <p:sp>
          <p:nvSpPr>
            <p:cNvPr id="412" name="Ellipse 411"/>
            <p:cNvSpPr/>
            <p:nvPr/>
          </p:nvSpPr>
          <p:spPr>
            <a:xfrm>
              <a:off x="12143342" y="6575376"/>
              <a:ext cx="262981" cy="275768"/>
            </a:xfrm>
            <a:prstGeom prst="ellipse">
              <a:avLst/>
            </a:prstGeom>
            <a:solidFill>
              <a:srgbClr val="006600">
                <a:alpha val="69804"/>
              </a:srgbClr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 sz="1200">
                <a:latin typeface="Calibri" pitchFamily="34" charset="0"/>
              </a:endParaRPr>
            </a:p>
          </p:txBody>
        </p:sp>
        <p:sp>
          <p:nvSpPr>
            <p:cNvPr id="413" name="Zone de texte 55"/>
            <p:cNvSpPr txBox="1"/>
            <p:nvPr/>
          </p:nvSpPr>
          <p:spPr>
            <a:xfrm>
              <a:off x="12459088" y="6163358"/>
              <a:ext cx="319304" cy="262056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lang="fr-FR" sz="1200" b="1" dirty="0">
                  <a:solidFill>
                    <a:srgbClr val="FFFFFF"/>
                  </a:solidFill>
                  <a:effectLst/>
                  <a:latin typeface="Calibri" pitchFamily="34" charset="0"/>
                  <a:ea typeface="Calibri"/>
                  <a:cs typeface="Times New Roman"/>
                </a:rPr>
                <a:t>S</a:t>
              </a:r>
              <a:r>
                <a:rPr lang="fr-FR" sz="1200" b="1" baseline="-25000" dirty="0">
                  <a:solidFill>
                    <a:srgbClr val="FFFFFF"/>
                  </a:solidFill>
                  <a:effectLst/>
                  <a:latin typeface="Calibri" pitchFamily="34" charset="0"/>
                  <a:ea typeface="Calibri"/>
                  <a:cs typeface="Times New Roman"/>
                </a:rPr>
                <a:t>2</a:t>
              </a:r>
              <a:endParaRPr lang="fr-FR" sz="1200" dirty="0">
                <a:effectLst/>
                <a:latin typeface="Calibri" pitchFamily="34" charset="0"/>
                <a:ea typeface="Calibri"/>
                <a:cs typeface="Times New Roman"/>
              </a:endParaRPr>
            </a:p>
          </p:txBody>
        </p:sp>
        <p:sp>
          <p:nvSpPr>
            <p:cNvPr id="414" name="Zone de texte 56"/>
            <p:cNvSpPr txBox="1"/>
            <p:nvPr/>
          </p:nvSpPr>
          <p:spPr>
            <a:xfrm>
              <a:off x="11747629" y="6143504"/>
              <a:ext cx="331782" cy="262056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lang="fr-FR" sz="1200" b="1" dirty="0">
                  <a:solidFill>
                    <a:srgbClr val="FFFFFF"/>
                  </a:solidFill>
                  <a:effectLst/>
                  <a:latin typeface="Calibri" pitchFamily="34" charset="0"/>
                  <a:ea typeface="Calibri"/>
                  <a:cs typeface="Times New Roman"/>
                </a:rPr>
                <a:t>S</a:t>
              </a:r>
              <a:r>
                <a:rPr lang="fr-FR" sz="1200" b="1" baseline="-25000" dirty="0">
                  <a:solidFill>
                    <a:srgbClr val="FFFFFF"/>
                  </a:solidFill>
                  <a:effectLst/>
                  <a:latin typeface="Calibri" pitchFamily="34" charset="0"/>
                  <a:ea typeface="Calibri"/>
                  <a:cs typeface="Times New Roman"/>
                </a:rPr>
                <a:t>1</a:t>
              </a:r>
              <a:endParaRPr lang="fr-FR" sz="1200" dirty="0">
                <a:effectLst/>
                <a:latin typeface="Calibri" pitchFamily="34" charset="0"/>
                <a:ea typeface="Calibri"/>
                <a:cs typeface="Times New Roman"/>
              </a:endParaRPr>
            </a:p>
          </p:txBody>
        </p:sp>
        <p:sp>
          <p:nvSpPr>
            <p:cNvPr id="415" name="Zone de texte 57"/>
            <p:cNvSpPr txBox="1"/>
            <p:nvPr/>
          </p:nvSpPr>
          <p:spPr>
            <a:xfrm>
              <a:off x="12130184" y="6546886"/>
              <a:ext cx="328904" cy="262056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lang="fr-FR" sz="1200" b="1" dirty="0">
                  <a:solidFill>
                    <a:srgbClr val="FFFFFF"/>
                  </a:solidFill>
                  <a:effectLst/>
                  <a:latin typeface="Calibri" pitchFamily="34" charset="0"/>
                  <a:ea typeface="Calibri"/>
                  <a:cs typeface="Times New Roman"/>
                </a:rPr>
                <a:t>S</a:t>
              </a:r>
              <a:r>
                <a:rPr lang="fr-FR" sz="1200" b="1" baseline="-25000" dirty="0">
                  <a:solidFill>
                    <a:srgbClr val="FFFFFF"/>
                  </a:solidFill>
                  <a:effectLst/>
                  <a:latin typeface="Calibri" pitchFamily="34" charset="0"/>
                  <a:ea typeface="Calibri"/>
                  <a:cs typeface="Times New Roman"/>
                </a:rPr>
                <a:t>3</a:t>
              </a:r>
              <a:endParaRPr lang="fr-FR" sz="1200" dirty="0">
                <a:effectLst/>
                <a:latin typeface="Calibri" pitchFamily="34" charset="0"/>
                <a:ea typeface="Calibri"/>
                <a:cs typeface="Times New Roman"/>
              </a:endParaRPr>
            </a:p>
          </p:txBody>
        </p:sp>
        <p:sp>
          <p:nvSpPr>
            <p:cNvPr id="416" name="Zone de texte 58"/>
            <p:cNvSpPr txBox="1"/>
            <p:nvPr/>
          </p:nvSpPr>
          <p:spPr>
            <a:xfrm>
              <a:off x="12103867" y="5777401"/>
              <a:ext cx="315450" cy="262055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lang="fr-FR" sz="1200" b="1" dirty="0">
                  <a:solidFill>
                    <a:srgbClr val="FFFFFF"/>
                  </a:solidFill>
                  <a:effectLst/>
                  <a:latin typeface="Calibri" pitchFamily="34" charset="0"/>
                  <a:ea typeface="Calibri"/>
                  <a:cs typeface="Times New Roman"/>
                </a:rPr>
                <a:t>S</a:t>
              </a:r>
              <a:r>
                <a:rPr lang="fr-FR" sz="1200" b="1" baseline="-25000" dirty="0">
                  <a:solidFill>
                    <a:srgbClr val="FFFFFF"/>
                  </a:solidFill>
                  <a:effectLst/>
                  <a:latin typeface="Calibri" pitchFamily="34" charset="0"/>
                  <a:ea typeface="Calibri"/>
                  <a:cs typeface="Times New Roman"/>
                </a:rPr>
                <a:t>0</a:t>
              </a:r>
              <a:endParaRPr lang="fr-FR" sz="1200" dirty="0">
                <a:effectLst/>
                <a:latin typeface="Calibri" pitchFamily="34" charset="0"/>
                <a:ea typeface="Calibri"/>
                <a:cs typeface="Times New Roman"/>
              </a:endParaRPr>
            </a:p>
          </p:txBody>
        </p:sp>
        <p:cxnSp>
          <p:nvCxnSpPr>
            <p:cNvPr id="417" name="Connecteur droit 416"/>
            <p:cNvCxnSpPr>
              <a:stCxn id="410" idx="3"/>
            </p:cNvCxnSpPr>
            <p:nvPr/>
          </p:nvCxnSpPr>
          <p:spPr>
            <a:xfrm flipH="1">
              <a:off x="11991065" y="6051843"/>
              <a:ext cx="164474" cy="15097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Connecteur droit 417"/>
            <p:cNvCxnSpPr/>
            <p:nvPr/>
          </p:nvCxnSpPr>
          <p:spPr>
            <a:xfrm flipH="1" flipV="1">
              <a:off x="12380007" y="6024756"/>
              <a:ext cx="169069" cy="17924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Connecteur droit 418"/>
            <p:cNvCxnSpPr>
              <a:endCxn id="411" idx="5"/>
            </p:cNvCxnSpPr>
            <p:nvPr/>
          </p:nvCxnSpPr>
          <p:spPr>
            <a:xfrm flipH="1" flipV="1">
              <a:off x="11991835" y="6403704"/>
              <a:ext cx="194225" cy="21028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Connecteur droit 419"/>
            <p:cNvCxnSpPr>
              <a:stCxn id="409" idx="4"/>
            </p:cNvCxnSpPr>
            <p:nvPr/>
          </p:nvCxnSpPr>
          <p:spPr>
            <a:xfrm flipH="1">
              <a:off x="12399936" y="6469229"/>
              <a:ext cx="203802" cy="17503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21" name="Connecteur droit 420"/>
          <p:cNvCxnSpPr/>
          <p:nvPr/>
        </p:nvCxnSpPr>
        <p:spPr>
          <a:xfrm flipH="1">
            <a:off x="12035373" y="6020546"/>
            <a:ext cx="42873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2" name="Rectangle 421"/>
          <p:cNvSpPr/>
          <p:nvPr/>
        </p:nvSpPr>
        <p:spPr>
          <a:xfrm>
            <a:off x="11686774" y="4935765"/>
            <a:ext cx="111482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400" dirty="0">
                <a:latin typeface="Calibri" pitchFamily="34" charset="0"/>
              </a:rPr>
              <a:t>Chaîne complexe</a:t>
            </a:r>
          </a:p>
        </p:txBody>
      </p:sp>
      <p:cxnSp>
        <p:nvCxnSpPr>
          <p:cNvPr id="2816" name="Connecteur droit 2815"/>
          <p:cNvCxnSpPr/>
          <p:nvPr/>
        </p:nvCxnSpPr>
        <p:spPr bwMode="auto">
          <a:xfrm>
            <a:off x="8593672" y="8122850"/>
            <a:ext cx="424771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818" name="Connecteur droit 2817"/>
          <p:cNvCxnSpPr/>
          <p:nvPr/>
        </p:nvCxnSpPr>
        <p:spPr bwMode="auto">
          <a:xfrm>
            <a:off x="10205153" y="7684663"/>
            <a:ext cx="0" cy="184328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24" name="Connecteur droit 423"/>
          <p:cNvCxnSpPr/>
          <p:nvPr/>
        </p:nvCxnSpPr>
        <p:spPr bwMode="auto">
          <a:xfrm flipH="1">
            <a:off x="11360747" y="7674953"/>
            <a:ext cx="1" cy="184910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25" name="Rectangle 424"/>
          <p:cNvSpPr/>
          <p:nvPr/>
        </p:nvSpPr>
        <p:spPr>
          <a:xfrm>
            <a:off x="10215506" y="7596619"/>
            <a:ext cx="114841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400" dirty="0">
                <a:latin typeface="Calibri" pitchFamily="34" charset="0"/>
              </a:rPr>
              <a:t>Approche cinématique</a:t>
            </a:r>
          </a:p>
        </p:txBody>
      </p:sp>
      <p:sp>
        <p:nvSpPr>
          <p:cNvPr id="426" name="Rectangle 425"/>
          <p:cNvSpPr/>
          <p:nvPr/>
        </p:nvSpPr>
        <p:spPr>
          <a:xfrm>
            <a:off x="11360747" y="7599630"/>
            <a:ext cx="144085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400" dirty="0">
                <a:latin typeface="Calibri" pitchFamily="34" charset="0"/>
              </a:rPr>
              <a:t>Approche statique</a:t>
            </a:r>
          </a:p>
        </p:txBody>
      </p:sp>
      <p:sp>
        <p:nvSpPr>
          <p:cNvPr id="427" name="Rectangle 426"/>
          <p:cNvSpPr/>
          <p:nvPr/>
        </p:nvSpPr>
        <p:spPr>
          <a:xfrm>
            <a:off x="8545748" y="8140654"/>
            <a:ext cx="1806002" cy="1423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>
                <a:latin typeface="Calibri" pitchFamily="34" charset="0"/>
              </a:rPr>
              <a:t>Nombre de pièces</a:t>
            </a:r>
          </a:p>
          <a:p>
            <a:r>
              <a:rPr lang="fr-FR" sz="1400" dirty="0">
                <a:latin typeface="Calibri" pitchFamily="34" charset="0"/>
              </a:rPr>
              <a:t>Nombre de liaisons</a:t>
            </a:r>
          </a:p>
          <a:p>
            <a:r>
              <a:rPr lang="fr-FR" sz="1400" dirty="0">
                <a:latin typeface="Calibri" pitchFamily="34" charset="0"/>
              </a:rPr>
              <a:t>Nombre de mobilités</a:t>
            </a:r>
          </a:p>
          <a:p>
            <a:r>
              <a:rPr lang="fr-FR" sz="1400" dirty="0">
                <a:latin typeface="Calibri" pitchFamily="34" charset="0"/>
              </a:rPr>
              <a:t>Nombre de cycles</a:t>
            </a:r>
          </a:p>
          <a:p>
            <a:r>
              <a:rPr lang="fr-FR" sz="1400" dirty="0">
                <a:latin typeface="Calibri" pitchFamily="34" charset="0"/>
              </a:rPr>
              <a:t>Nombre inconnues</a:t>
            </a:r>
          </a:p>
          <a:p>
            <a:pPr>
              <a:spcBef>
                <a:spcPts val="300"/>
              </a:spcBef>
            </a:pPr>
            <a:r>
              <a:rPr lang="fr-FR" sz="1400" dirty="0">
                <a:latin typeface="Calibri" pitchFamily="34" charset="0"/>
              </a:rPr>
              <a:t>Degré hyperstatisme</a:t>
            </a:r>
          </a:p>
        </p:txBody>
      </p:sp>
      <p:sp>
        <p:nvSpPr>
          <p:cNvPr id="428" name="Rectangle 427"/>
          <p:cNvSpPr/>
          <p:nvPr/>
        </p:nvSpPr>
        <p:spPr>
          <a:xfrm>
            <a:off x="10845800" y="8141715"/>
            <a:ext cx="1054100" cy="73866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fr-FR" sz="1400" dirty="0">
                <a:latin typeface="Calibri" pitchFamily="34" charset="0"/>
              </a:rPr>
              <a:t>N</a:t>
            </a:r>
          </a:p>
          <a:p>
            <a:pPr algn="ctr"/>
            <a:r>
              <a:rPr lang="fr-FR" sz="1400" dirty="0">
                <a:latin typeface="Calibri" pitchFamily="34" charset="0"/>
              </a:rPr>
              <a:t>L</a:t>
            </a:r>
          </a:p>
          <a:p>
            <a:pPr algn="ctr"/>
            <a:r>
              <a:rPr lang="fr-FR" sz="1400" dirty="0">
                <a:latin typeface="Calibri" pitchFamily="34" charset="0"/>
              </a:rPr>
              <a:t>m = m</a:t>
            </a:r>
            <a:r>
              <a:rPr lang="fr-FR" sz="1400" baseline="-25000" dirty="0">
                <a:latin typeface="Calibri" pitchFamily="34" charset="0"/>
              </a:rPr>
              <a:t>u </a:t>
            </a:r>
            <a:r>
              <a:rPr lang="fr-FR" sz="1400" dirty="0">
                <a:latin typeface="Calibri" pitchFamily="34" charset="0"/>
              </a:rPr>
              <a:t>+ m</a:t>
            </a:r>
            <a:r>
              <a:rPr lang="fr-FR" sz="1400" baseline="-25000" dirty="0">
                <a:latin typeface="Calibri" pitchFamily="34" charset="0"/>
              </a:rPr>
              <a:t>i</a:t>
            </a:r>
            <a:endParaRPr lang="fr-FR" sz="1400" dirty="0">
              <a:latin typeface="Calibri" pitchFamily="34" charset="0"/>
            </a:endParaRPr>
          </a:p>
        </p:txBody>
      </p:sp>
      <p:sp>
        <p:nvSpPr>
          <p:cNvPr id="431" name="Rectangle 430"/>
          <p:cNvSpPr/>
          <p:nvPr/>
        </p:nvSpPr>
        <p:spPr>
          <a:xfrm>
            <a:off x="10352384" y="8793605"/>
            <a:ext cx="90120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1200" dirty="0">
                <a:latin typeface="Calibri" pitchFamily="34" charset="0"/>
                <a:sym typeface="Symbol"/>
              </a:rPr>
              <a:t></a:t>
            </a:r>
            <a:r>
              <a:rPr lang="fr-FR" sz="1200" dirty="0">
                <a:latin typeface="Calibri" pitchFamily="34" charset="0"/>
              </a:rPr>
              <a:t> = L - N + 1</a:t>
            </a:r>
          </a:p>
        </p:txBody>
      </p:sp>
      <p:sp>
        <p:nvSpPr>
          <p:cNvPr id="432" name="Rectangle 431"/>
          <p:cNvSpPr/>
          <p:nvPr/>
        </p:nvSpPr>
        <p:spPr>
          <a:xfrm>
            <a:off x="10644570" y="8991132"/>
            <a:ext cx="32733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1200" dirty="0" err="1">
                <a:latin typeface="Calibri" pitchFamily="34" charset="0"/>
              </a:rPr>
              <a:t>N</a:t>
            </a:r>
            <a:r>
              <a:rPr lang="fr-FR" sz="1200" baseline="-25000" dirty="0" err="1">
                <a:latin typeface="Calibri" pitchFamily="34" charset="0"/>
              </a:rPr>
              <a:t>c</a:t>
            </a:r>
            <a:endParaRPr lang="fr-FR" sz="1200" dirty="0">
              <a:latin typeface="Calibri" pitchFamily="34" charset="0"/>
            </a:endParaRPr>
          </a:p>
        </p:txBody>
      </p:sp>
      <p:sp>
        <p:nvSpPr>
          <p:cNvPr id="433" name="Rectangle 432"/>
          <p:cNvSpPr/>
          <p:nvPr/>
        </p:nvSpPr>
        <p:spPr>
          <a:xfrm>
            <a:off x="12042848" y="8980837"/>
            <a:ext cx="3241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1200" dirty="0">
                <a:latin typeface="Calibri" pitchFamily="34" charset="0"/>
              </a:rPr>
              <a:t>N</a:t>
            </a:r>
            <a:r>
              <a:rPr lang="fr-FR" sz="1200" baseline="-25000" dirty="0">
                <a:latin typeface="Calibri" pitchFamily="34" charset="0"/>
              </a:rPr>
              <a:t>s</a:t>
            </a:r>
            <a:endParaRPr lang="fr-FR" sz="1200" dirty="0">
              <a:latin typeface="Calibri" pitchFamily="34" charset="0"/>
            </a:endParaRPr>
          </a:p>
        </p:txBody>
      </p:sp>
      <p:sp>
        <p:nvSpPr>
          <p:cNvPr id="2821" name="Rectangle 2820"/>
          <p:cNvSpPr/>
          <p:nvPr/>
        </p:nvSpPr>
        <p:spPr>
          <a:xfrm>
            <a:off x="10214375" y="9261863"/>
            <a:ext cx="116089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200" dirty="0">
                <a:latin typeface="Calibri" pitchFamily="34" charset="0"/>
              </a:rPr>
              <a:t>h = m + 6×</a:t>
            </a:r>
            <a:r>
              <a:rPr lang="fr-FR" sz="1200" dirty="0">
                <a:latin typeface="Calibri" pitchFamily="34" charset="0"/>
                <a:sym typeface="Symbol"/>
              </a:rPr>
              <a:t></a:t>
            </a:r>
            <a:r>
              <a:rPr lang="fr-FR" sz="1200" dirty="0">
                <a:latin typeface="Calibri" pitchFamily="34" charset="0"/>
              </a:rPr>
              <a:t> - </a:t>
            </a:r>
            <a:r>
              <a:rPr lang="fr-FR" sz="1200" dirty="0" err="1">
                <a:latin typeface="Calibri" pitchFamily="34" charset="0"/>
              </a:rPr>
              <a:t>N</a:t>
            </a:r>
            <a:r>
              <a:rPr lang="fr-FR" sz="1200" baseline="-25000" dirty="0" err="1">
                <a:latin typeface="Calibri" pitchFamily="34" charset="0"/>
              </a:rPr>
              <a:t>c</a:t>
            </a:r>
            <a:endParaRPr lang="fr-FR" sz="1200" dirty="0">
              <a:latin typeface="Calibri" pitchFamily="34" charset="0"/>
            </a:endParaRPr>
          </a:p>
        </p:txBody>
      </p:sp>
      <p:sp>
        <p:nvSpPr>
          <p:cNvPr id="2824" name="Rectangle 2823"/>
          <p:cNvSpPr/>
          <p:nvPr/>
        </p:nvSpPr>
        <p:spPr>
          <a:xfrm>
            <a:off x="11369376" y="9261863"/>
            <a:ext cx="143238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dirty="0">
                <a:latin typeface="Calibri" pitchFamily="34" charset="0"/>
              </a:rPr>
              <a:t>h = N</a:t>
            </a:r>
            <a:r>
              <a:rPr lang="fr-FR" sz="1200" baseline="-25000" dirty="0">
                <a:latin typeface="Calibri" pitchFamily="34" charset="0"/>
              </a:rPr>
              <a:t>s</a:t>
            </a:r>
            <a:r>
              <a:rPr lang="fr-FR" sz="1200" dirty="0">
                <a:latin typeface="Calibri" pitchFamily="34" charset="0"/>
              </a:rPr>
              <a:t> + m - 6×(N-1)</a:t>
            </a:r>
          </a:p>
        </p:txBody>
      </p:sp>
      <p:sp>
        <p:nvSpPr>
          <p:cNvPr id="2825" name="Rectangle 860"/>
          <p:cNvSpPr>
            <a:spLocks noChangeArrowheads="1"/>
          </p:cNvSpPr>
          <p:nvPr/>
        </p:nvSpPr>
        <p:spPr bwMode="auto">
          <a:xfrm>
            <a:off x="0" y="0"/>
            <a:ext cx="128016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87" name="Rectangle 186"/>
          <p:cNvSpPr>
            <a:spLocks noChangeArrowheads="1"/>
          </p:cNvSpPr>
          <p:nvPr/>
        </p:nvSpPr>
        <p:spPr bwMode="auto">
          <a:xfrm>
            <a:off x="3323918" y="6440810"/>
            <a:ext cx="976473" cy="32347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algn="just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r>
              <a:rPr lang="fr-FR" sz="1400" b="1" dirty="0">
                <a:solidFill>
                  <a:srgbClr val="C00000"/>
                </a:solidFill>
                <a:latin typeface="Calibri" pitchFamily="34" charset="0"/>
              </a:rPr>
              <a:t>Pignon</a:t>
            </a:r>
          </a:p>
        </p:txBody>
      </p:sp>
      <p:sp>
        <p:nvSpPr>
          <p:cNvPr id="188" name="Rectangle 187"/>
          <p:cNvSpPr>
            <a:spLocks noChangeArrowheads="1"/>
          </p:cNvSpPr>
          <p:nvPr/>
        </p:nvSpPr>
        <p:spPr bwMode="auto">
          <a:xfrm>
            <a:off x="3461553" y="6903084"/>
            <a:ext cx="862797" cy="32347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algn="just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r>
              <a:rPr lang="fr-FR" sz="1400" b="1" dirty="0">
                <a:solidFill>
                  <a:srgbClr val="00CC00"/>
                </a:solidFill>
                <a:latin typeface="Calibri" pitchFamily="34" charset="0"/>
              </a:rPr>
              <a:t>Roue</a:t>
            </a:r>
          </a:p>
        </p:txBody>
      </p:sp>
      <p:sp>
        <p:nvSpPr>
          <p:cNvPr id="189" name="Rectangle 188"/>
          <p:cNvSpPr>
            <a:spLocks noChangeArrowheads="1"/>
          </p:cNvSpPr>
          <p:nvPr/>
        </p:nvSpPr>
        <p:spPr bwMode="auto">
          <a:xfrm>
            <a:off x="3265566" y="7713174"/>
            <a:ext cx="1046946" cy="32347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algn="just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r>
              <a:rPr lang="fr-FR" sz="1400" b="1" dirty="0">
                <a:solidFill>
                  <a:srgbClr val="FF66CC"/>
                </a:solidFill>
                <a:latin typeface="Calibri" pitchFamily="34" charset="0"/>
              </a:rPr>
              <a:t>Couronne</a:t>
            </a:r>
          </a:p>
        </p:txBody>
      </p:sp>
      <p:sp>
        <p:nvSpPr>
          <p:cNvPr id="190" name="Text Box 307"/>
          <p:cNvSpPr txBox="1">
            <a:spLocks noChangeArrowheads="1"/>
          </p:cNvSpPr>
          <p:nvPr/>
        </p:nvSpPr>
        <p:spPr bwMode="auto">
          <a:xfrm>
            <a:off x="4486388" y="9275528"/>
            <a:ext cx="1642561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/>
            <a:r>
              <a:rPr lang="fr-FR" sz="1400" b="1" i="1" dirty="0">
                <a:solidFill>
                  <a:srgbClr val="FF0000"/>
                </a:solidFill>
                <a:latin typeface="Calibri" pitchFamily="34" charset="0"/>
                <a:cs typeface="Arial" charset="0"/>
                <a:sym typeface="Wingdings 3" pitchFamily="18" charset="2"/>
              </a:rPr>
              <a:t> </a:t>
            </a:r>
            <a:r>
              <a:rPr lang="fr-FR" sz="1400" b="1" i="1" u="sng" dirty="0">
                <a:solidFill>
                  <a:srgbClr val="FF0000"/>
                </a:solidFill>
                <a:latin typeface="Calibri" pitchFamily="34" charset="0"/>
                <a:cs typeface="Arial" charset="0"/>
              </a:rPr>
              <a:t>Montage 4+2</a:t>
            </a:r>
            <a:endParaRPr lang="fr-FR" sz="1400" b="1" i="1" u="sng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191" name="Rectangle 8"/>
          <p:cNvSpPr>
            <a:spLocks noChangeArrowheads="1"/>
          </p:cNvSpPr>
          <p:nvPr/>
        </p:nvSpPr>
        <p:spPr bwMode="auto">
          <a:xfrm>
            <a:off x="4521559" y="5933285"/>
            <a:ext cx="1677437" cy="306000"/>
          </a:xfrm>
          <a:prstGeom prst="rect">
            <a:avLst/>
          </a:prstGeom>
          <a:solidFill>
            <a:srgbClr val="FFFFCC"/>
          </a:solidFill>
          <a:ln w="19050">
            <a:solidFill>
              <a:srgbClr val="FF66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92" name="ZoneTexte 21"/>
          <p:cNvSpPr txBox="1">
            <a:spLocks noChangeArrowheads="1"/>
          </p:cNvSpPr>
          <p:nvPr/>
        </p:nvSpPr>
        <p:spPr bwMode="auto">
          <a:xfrm>
            <a:off x="4522677" y="5897676"/>
            <a:ext cx="1857829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1600" b="1" dirty="0">
                <a:solidFill>
                  <a:srgbClr val="00B050"/>
                </a:solidFill>
                <a:cs typeface="Arial" charset="0"/>
              </a:rPr>
              <a:t>○</a:t>
            </a:r>
            <a:r>
              <a:rPr lang="fr-FR" sz="1600" b="1" dirty="0">
                <a:solidFill>
                  <a:srgbClr val="00B050"/>
                </a:solidFill>
                <a:latin typeface="Calibri" pitchFamily="34" charset="0"/>
              </a:rPr>
              <a:t> Les coussinets</a:t>
            </a:r>
          </a:p>
        </p:txBody>
      </p:sp>
      <p:graphicFrame>
        <p:nvGraphicFramePr>
          <p:cNvPr id="2" name="Obje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4126793"/>
              </p:ext>
            </p:extLst>
          </p:nvPr>
        </p:nvGraphicFramePr>
        <p:xfrm>
          <a:off x="4534054" y="6341794"/>
          <a:ext cx="954087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558720" imgH="342720" progId="">
                  <p:embed/>
                </p:oleObj>
              </mc:Choice>
              <mc:Fallback>
                <p:oleObj name="Equation" r:id="rId37" imgW="558720" imgH="342720" progId="">
                  <p:embed/>
                  <p:pic>
                    <p:nvPicPr>
                      <p:cNvPr id="0" name="Picture 9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4054" y="6341794"/>
                        <a:ext cx="954087" cy="534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" name="Text Box 26"/>
          <p:cNvSpPr txBox="1">
            <a:spLocks noChangeArrowheads="1"/>
          </p:cNvSpPr>
          <p:nvPr/>
        </p:nvSpPr>
        <p:spPr bwMode="auto">
          <a:xfrm>
            <a:off x="8535988" y="2962956"/>
            <a:ext cx="3910012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/>
            <a:r>
              <a:rPr lang="fr-FR" sz="1400" dirty="0">
                <a:latin typeface="Calibri" pitchFamily="34" charset="0"/>
                <a:cs typeface="Arial" charset="0"/>
                <a:sym typeface="Symbol"/>
              </a:rPr>
              <a:t>Pivot isostatique = Linéaire annulaire + Rotule</a:t>
            </a:r>
            <a:endParaRPr lang="fr-FR" sz="1400" b="1" dirty="0">
              <a:solidFill>
                <a:srgbClr val="CC0000"/>
              </a:solidFill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5" name="Groupe 4"/>
          <p:cNvGrpSpPr/>
          <p:nvPr/>
        </p:nvGrpSpPr>
        <p:grpSpPr>
          <a:xfrm>
            <a:off x="5532473" y="6300040"/>
            <a:ext cx="2719093" cy="1063786"/>
            <a:chOff x="5495402" y="6300040"/>
            <a:chExt cx="2719093" cy="1063786"/>
          </a:xfrm>
        </p:grpSpPr>
        <p:pic>
          <p:nvPicPr>
            <p:cNvPr id="2989" name="Picture 941"/>
            <p:cNvPicPr>
              <a:picLocks noChangeAspect="1" noChangeArrowheads="1"/>
            </p:cNvPicPr>
            <p:nvPr/>
          </p:nvPicPr>
          <p:blipFill>
            <a:blip r:embed="rId39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16863" y="6357417"/>
              <a:ext cx="998045" cy="1006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ZoneTexte 3"/>
            <p:cNvSpPr txBox="1"/>
            <p:nvPr/>
          </p:nvSpPr>
          <p:spPr>
            <a:xfrm>
              <a:off x="5495402" y="6300040"/>
              <a:ext cx="13516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>
                  <a:solidFill>
                    <a:srgbClr val="0000FF"/>
                  </a:solidFill>
                  <a:latin typeface="Calibri" panose="020F0502020204030204" pitchFamily="34" charset="0"/>
                </a:rPr>
                <a:t>F (effort radial)</a:t>
              </a:r>
            </a:p>
          </p:txBody>
        </p:sp>
        <p:sp>
          <p:nvSpPr>
            <p:cNvPr id="199" name="ZoneTexte 198"/>
            <p:cNvSpPr txBox="1"/>
            <p:nvPr/>
          </p:nvSpPr>
          <p:spPr>
            <a:xfrm>
              <a:off x="7044074" y="6302700"/>
              <a:ext cx="3699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>
                  <a:solidFill>
                    <a:srgbClr val="0000FF"/>
                  </a:solidFill>
                  <a:latin typeface="Calibri" panose="020F0502020204030204" pitchFamily="34" charset="0"/>
                </a:rPr>
                <a:t>D</a:t>
              </a:r>
            </a:p>
          </p:txBody>
        </p:sp>
        <p:sp>
          <p:nvSpPr>
            <p:cNvPr id="200" name="ZoneTexte 199"/>
            <p:cNvSpPr txBox="1"/>
            <p:nvPr/>
          </p:nvSpPr>
          <p:spPr>
            <a:xfrm>
              <a:off x="7123162" y="6745581"/>
              <a:ext cx="109133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>
                  <a:solidFill>
                    <a:srgbClr val="FF0000"/>
                  </a:solidFill>
                  <a:latin typeface="Calibri" panose="020F0502020204030204" pitchFamily="34" charset="0"/>
                </a:rPr>
                <a:t>P (pression de contact)</a:t>
              </a:r>
            </a:p>
          </p:txBody>
        </p:sp>
        <p:sp>
          <p:nvSpPr>
            <p:cNvPr id="201" name="ZoneTexte 200"/>
            <p:cNvSpPr txBox="1"/>
            <p:nvPr/>
          </p:nvSpPr>
          <p:spPr>
            <a:xfrm>
              <a:off x="5507596" y="6553307"/>
              <a:ext cx="112723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>
                  <a:latin typeface="Calibri" panose="020F0502020204030204" pitchFamily="34" charset="0"/>
                </a:rPr>
                <a:t>L = longueur liaison</a:t>
              </a:r>
            </a:p>
          </p:txBody>
        </p:sp>
      </p:grpSp>
      <p:grpSp>
        <p:nvGrpSpPr>
          <p:cNvPr id="6" name="Groupe 5"/>
          <p:cNvGrpSpPr/>
          <p:nvPr/>
        </p:nvGrpSpPr>
        <p:grpSpPr>
          <a:xfrm>
            <a:off x="-17018" y="1123046"/>
            <a:ext cx="4317410" cy="2439613"/>
            <a:chOff x="-17018" y="1123046"/>
            <a:chExt cx="4317410" cy="2439613"/>
          </a:xfrm>
        </p:grpSpPr>
        <p:sp>
          <p:nvSpPr>
            <p:cNvPr id="133" name="ZoneTexte 132"/>
            <p:cNvSpPr txBox="1"/>
            <p:nvPr/>
          </p:nvSpPr>
          <p:spPr>
            <a:xfrm>
              <a:off x="-17018" y="1123046"/>
              <a:ext cx="211314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>
                  <a:latin typeface="Calibri" pitchFamily="34" charset="0"/>
                </a:rPr>
                <a:t>Puissance hydraulique</a:t>
              </a:r>
            </a:p>
            <a:p>
              <a:r>
                <a:rPr lang="fr-FR" sz="1400" dirty="0">
                  <a:latin typeface="Calibri" pitchFamily="34" charset="0"/>
                </a:rPr>
                <a:t>P = </a:t>
              </a:r>
              <a:r>
                <a:rPr lang="fr-FR" sz="1400" dirty="0">
                  <a:solidFill>
                    <a:srgbClr val="006600"/>
                  </a:solidFill>
                  <a:latin typeface="Calibri" pitchFamily="34" charset="0"/>
                </a:rPr>
                <a:t>p(Pa)</a:t>
              </a:r>
              <a:r>
                <a:rPr lang="fr-FR" sz="1400" dirty="0">
                  <a:latin typeface="Calibri" pitchFamily="34" charset="0"/>
                  <a:sym typeface="Symbol"/>
                </a:rPr>
                <a:t></a:t>
              </a:r>
              <a:r>
                <a:rPr lang="fr-FR" sz="1400" dirty="0" err="1">
                  <a:solidFill>
                    <a:srgbClr val="FF0000"/>
                  </a:solidFill>
                  <a:latin typeface="Calibri" pitchFamily="34" charset="0"/>
                  <a:sym typeface="Symbol"/>
                </a:rPr>
                <a:t>q</a:t>
              </a:r>
              <a:r>
                <a:rPr lang="fr-FR" sz="1400" baseline="-25000" dirty="0" err="1">
                  <a:solidFill>
                    <a:srgbClr val="FF0000"/>
                  </a:solidFill>
                  <a:latin typeface="Calibri" pitchFamily="34" charset="0"/>
                  <a:sym typeface="Symbol"/>
                </a:rPr>
                <a:t>v</a:t>
              </a:r>
              <a:r>
                <a:rPr lang="fr-FR" sz="1400" dirty="0">
                  <a:solidFill>
                    <a:srgbClr val="FF0000"/>
                  </a:solidFill>
                  <a:latin typeface="Calibri" pitchFamily="34" charset="0"/>
                  <a:sym typeface="Symbol"/>
                </a:rPr>
                <a:t>(m</a:t>
              </a:r>
              <a:r>
                <a:rPr lang="fr-FR" sz="1400" baseline="30000" dirty="0">
                  <a:solidFill>
                    <a:srgbClr val="FF0000"/>
                  </a:solidFill>
                  <a:latin typeface="Calibri" pitchFamily="34" charset="0"/>
                  <a:sym typeface="Symbol"/>
                </a:rPr>
                <a:t>3</a:t>
              </a:r>
              <a:r>
                <a:rPr lang="fr-FR" sz="1400" dirty="0">
                  <a:solidFill>
                    <a:srgbClr val="FF0000"/>
                  </a:solidFill>
                  <a:latin typeface="Calibri" pitchFamily="34" charset="0"/>
                  <a:sym typeface="Symbol"/>
                </a:rPr>
                <a:t>/s</a:t>
              </a:r>
              <a:r>
                <a:rPr lang="fr-FR" sz="1400" dirty="0">
                  <a:latin typeface="Calibri" pitchFamily="34" charset="0"/>
                  <a:sym typeface="Symbol"/>
                </a:rPr>
                <a:t>)</a:t>
              </a:r>
              <a:endParaRPr lang="fr-FR" sz="1400" dirty="0">
                <a:latin typeface="Calibri" pitchFamily="34" charset="0"/>
              </a:endParaRPr>
            </a:p>
          </p:txBody>
        </p:sp>
        <p:sp>
          <p:nvSpPr>
            <p:cNvPr id="134" name="ZoneTexte 133"/>
            <p:cNvSpPr txBox="1"/>
            <p:nvPr/>
          </p:nvSpPr>
          <p:spPr>
            <a:xfrm>
              <a:off x="2133842" y="1125218"/>
              <a:ext cx="216654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>
                  <a:latin typeface="Calibri" pitchFamily="34" charset="0"/>
                </a:rPr>
                <a:t>Puissance électrique</a:t>
              </a:r>
            </a:p>
            <a:p>
              <a:r>
                <a:rPr lang="fr-FR" sz="1400" dirty="0">
                  <a:latin typeface="Calibri" pitchFamily="34" charset="0"/>
                </a:rPr>
                <a:t>P = </a:t>
              </a:r>
              <a:r>
                <a:rPr lang="fr-FR" sz="1400" dirty="0">
                  <a:solidFill>
                    <a:srgbClr val="006600"/>
                  </a:solidFill>
                  <a:latin typeface="Calibri" pitchFamily="34" charset="0"/>
                </a:rPr>
                <a:t>U(V</a:t>
              </a:r>
              <a:r>
                <a:rPr lang="fr-FR" sz="1400" dirty="0">
                  <a:latin typeface="Calibri" pitchFamily="34" charset="0"/>
                </a:rPr>
                <a:t>)</a:t>
              </a:r>
              <a:r>
                <a:rPr lang="fr-FR" sz="1400" dirty="0">
                  <a:latin typeface="Calibri" pitchFamily="34" charset="0"/>
                  <a:sym typeface="Symbol"/>
                </a:rPr>
                <a:t></a:t>
              </a:r>
              <a:r>
                <a:rPr lang="fr-FR" sz="1400" dirty="0">
                  <a:solidFill>
                    <a:srgbClr val="FF0000"/>
                  </a:solidFill>
                  <a:latin typeface="Calibri" pitchFamily="34" charset="0"/>
                  <a:sym typeface="Symbol"/>
                </a:rPr>
                <a:t>I(A</a:t>
              </a:r>
              <a:r>
                <a:rPr lang="fr-FR" sz="1400" dirty="0">
                  <a:latin typeface="Calibri" pitchFamily="34" charset="0"/>
                  <a:sym typeface="Symbol"/>
                </a:rPr>
                <a:t>)</a:t>
              </a:r>
              <a:endParaRPr lang="fr-FR" sz="1400" dirty="0">
                <a:latin typeface="Calibri" pitchFamily="34" charset="0"/>
              </a:endParaRPr>
            </a:p>
          </p:txBody>
        </p:sp>
        <p:sp>
          <p:nvSpPr>
            <p:cNvPr id="135" name="ZoneTexte 134"/>
            <p:cNvSpPr txBox="1"/>
            <p:nvPr/>
          </p:nvSpPr>
          <p:spPr>
            <a:xfrm>
              <a:off x="1024276" y="2529466"/>
              <a:ext cx="18755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latin typeface="Calibri" pitchFamily="34" charset="0"/>
                </a:rPr>
                <a:t>Puissance mécanique</a:t>
              </a:r>
            </a:p>
          </p:txBody>
        </p:sp>
        <p:sp>
          <p:nvSpPr>
            <p:cNvPr id="137" name="Ellipse 136"/>
            <p:cNvSpPr/>
            <p:nvPr/>
          </p:nvSpPr>
          <p:spPr bwMode="auto">
            <a:xfrm>
              <a:off x="1302902" y="1844823"/>
              <a:ext cx="1350530" cy="482561"/>
            </a:xfrm>
            <a:prstGeom prst="ellips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1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endParaRPr>
            </a:p>
          </p:txBody>
        </p:sp>
        <p:sp>
          <p:nvSpPr>
            <p:cNvPr id="238" name="ZoneTexte 237"/>
            <p:cNvSpPr txBox="1"/>
            <p:nvPr/>
          </p:nvSpPr>
          <p:spPr>
            <a:xfrm>
              <a:off x="1310233" y="1806581"/>
              <a:ext cx="135053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>
                  <a:latin typeface="Calibri" pitchFamily="34" charset="0"/>
                </a:rPr>
                <a:t>Puissance</a:t>
              </a:r>
            </a:p>
            <a:p>
              <a:pPr algn="ctr"/>
              <a:r>
                <a:rPr lang="fr-FR" sz="1400" dirty="0">
                  <a:latin typeface="Calibri" pitchFamily="34" charset="0"/>
                </a:rPr>
                <a:t>(W = Nm/s)</a:t>
              </a:r>
            </a:p>
          </p:txBody>
        </p:sp>
        <p:cxnSp>
          <p:nvCxnSpPr>
            <p:cNvPr id="239" name="Connecteur en arc 238"/>
            <p:cNvCxnSpPr>
              <a:stCxn id="137" idx="1"/>
            </p:cNvCxnSpPr>
            <p:nvPr/>
          </p:nvCxnSpPr>
          <p:spPr bwMode="auto">
            <a:xfrm rot="16200000" flipV="1">
              <a:off x="1272154" y="1686962"/>
              <a:ext cx="289291" cy="167769"/>
            </a:xfrm>
            <a:prstGeom prst="curvedConnector3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0" name="Connecteur en arc 239"/>
            <p:cNvCxnSpPr/>
            <p:nvPr/>
          </p:nvCxnSpPr>
          <p:spPr bwMode="auto">
            <a:xfrm rot="5400000" flipH="1" flipV="1">
              <a:off x="2310077" y="1689405"/>
              <a:ext cx="266484" cy="140076"/>
            </a:xfrm>
            <a:prstGeom prst="curvedConnector3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1" name="Connecteur en arc 240"/>
            <p:cNvCxnSpPr/>
            <p:nvPr/>
          </p:nvCxnSpPr>
          <p:spPr bwMode="auto">
            <a:xfrm rot="16200000" flipV="1">
              <a:off x="2231340" y="2816670"/>
              <a:ext cx="289714" cy="274320"/>
            </a:xfrm>
            <a:prstGeom prst="curvedConnector3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2" name="Connecteur droit 241"/>
            <p:cNvCxnSpPr/>
            <p:nvPr/>
          </p:nvCxnSpPr>
          <p:spPr bwMode="auto">
            <a:xfrm flipH="1">
              <a:off x="1968038" y="2352098"/>
              <a:ext cx="0" cy="199085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43" name="Rectangle à coins arrondis 242"/>
            <p:cNvSpPr/>
            <p:nvPr/>
          </p:nvSpPr>
          <p:spPr bwMode="auto">
            <a:xfrm>
              <a:off x="1169351" y="2574052"/>
              <a:ext cx="1577834" cy="246667"/>
            </a:xfrm>
            <a:prstGeom prst="roundRect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sz="14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endParaRPr>
            </a:p>
          </p:txBody>
        </p:sp>
        <p:cxnSp>
          <p:nvCxnSpPr>
            <p:cNvPr id="244" name="Connecteur en arc 243"/>
            <p:cNvCxnSpPr/>
            <p:nvPr/>
          </p:nvCxnSpPr>
          <p:spPr bwMode="auto">
            <a:xfrm rot="5400000" flipH="1" flipV="1">
              <a:off x="1303041" y="2827911"/>
              <a:ext cx="277968" cy="263585"/>
            </a:xfrm>
            <a:prstGeom prst="curvedConnector3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45" name="ZoneTexte 244"/>
            <p:cNvSpPr txBox="1"/>
            <p:nvPr/>
          </p:nvSpPr>
          <p:spPr>
            <a:xfrm>
              <a:off x="531341" y="3036902"/>
              <a:ext cx="135377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>
                  <a:latin typeface="Calibri" pitchFamily="34" charset="0"/>
                </a:rPr>
                <a:t>Translation</a:t>
              </a:r>
            </a:p>
            <a:p>
              <a:r>
                <a:rPr lang="fr-FR" sz="1400" dirty="0">
                  <a:latin typeface="Calibri" pitchFamily="34" charset="0"/>
                </a:rPr>
                <a:t>P = </a:t>
              </a:r>
              <a:r>
                <a:rPr lang="fr-FR" sz="1400" dirty="0">
                  <a:solidFill>
                    <a:srgbClr val="FF0000"/>
                  </a:solidFill>
                  <a:latin typeface="Calibri" pitchFamily="34" charset="0"/>
                </a:rPr>
                <a:t>F(N</a:t>
              </a:r>
              <a:r>
                <a:rPr lang="fr-FR" sz="1400" dirty="0">
                  <a:latin typeface="Calibri" pitchFamily="34" charset="0"/>
                </a:rPr>
                <a:t>)</a:t>
              </a:r>
              <a:r>
                <a:rPr lang="fr-FR" sz="1400" dirty="0">
                  <a:latin typeface="Calibri" pitchFamily="34" charset="0"/>
                  <a:sym typeface="Symbol"/>
                </a:rPr>
                <a:t></a:t>
              </a:r>
              <a:r>
                <a:rPr lang="fr-FR" sz="1400" dirty="0">
                  <a:solidFill>
                    <a:srgbClr val="006600"/>
                  </a:solidFill>
                  <a:latin typeface="Calibri" pitchFamily="34" charset="0"/>
                  <a:sym typeface="Symbol"/>
                </a:rPr>
                <a:t>v(m/s</a:t>
              </a:r>
              <a:r>
                <a:rPr lang="fr-FR" sz="1400" dirty="0">
                  <a:latin typeface="Calibri" pitchFamily="34" charset="0"/>
                  <a:sym typeface="Symbol"/>
                </a:rPr>
                <a:t>)</a:t>
              </a:r>
              <a:endParaRPr lang="fr-FR" sz="1400" dirty="0">
                <a:latin typeface="Calibri" pitchFamily="34" charset="0"/>
              </a:endParaRPr>
            </a:p>
          </p:txBody>
        </p:sp>
        <p:sp>
          <p:nvSpPr>
            <p:cNvPr id="246" name="ZoneTexte 245"/>
            <p:cNvSpPr txBox="1"/>
            <p:nvPr/>
          </p:nvSpPr>
          <p:spPr>
            <a:xfrm>
              <a:off x="2304322" y="3039439"/>
              <a:ext cx="163748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>
                  <a:latin typeface="Calibri" pitchFamily="34" charset="0"/>
                </a:rPr>
                <a:t>Rotation</a:t>
              </a:r>
            </a:p>
            <a:p>
              <a:r>
                <a:rPr lang="fr-FR" sz="1400" dirty="0">
                  <a:latin typeface="Calibri" pitchFamily="34" charset="0"/>
                </a:rPr>
                <a:t>P = </a:t>
              </a:r>
              <a:r>
                <a:rPr lang="fr-FR" sz="1400" dirty="0">
                  <a:solidFill>
                    <a:srgbClr val="FF0000"/>
                  </a:solidFill>
                  <a:latin typeface="Calibri" pitchFamily="34" charset="0"/>
                </a:rPr>
                <a:t>C(Nm)</a:t>
              </a:r>
              <a:r>
                <a:rPr lang="fr-FR" sz="1400" dirty="0">
                  <a:latin typeface="Calibri" pitchFamily="34" charset="0"/>
                  <a:sym typeface="Symbol"/>
                </a:rPr>
                <a:t></a:t>
              </a:r>
              <a:r>
                <a:rPr lang="fr-FR" sz="1400" dirty="0">
                  <a:solidFill>
                    <a:srgbClr val="006600"/>
                  </a:solidFill>
                  <a:latin typeface="Calibri" pitchFamily="34" charset="0"/>
                  <a:sym typeface="Symbol"/>
                </a:rPr>
                <a:t>(rad/s)</a:t>
              </a:r>
              <a:endParaRPr lang="fr-FR" sz="1400" dirty="0">
                <a:solidFill>
                  <a:srgbClr val="006600"/>
                </a:solidFill>
                <a:latin typeface="Calibri" pitchFamily="34" charset="0"/>
              </a:endParaRPr>
            </a:p>
          </p:txBody>
        </p:sp>
        <p:sp>
          <p:nvSpPr>
            <p:cNvPr id="202" name="ZoneTexte 201"/>
            <p:cNvSpPr txBox="1"/>
            <p:nvPr/>
          </p:nvSpPr>
          <p:spPr>
            <a:xfrm>
              <a:off x="2373282" y="1817767"/>
              <a:ext cx="192711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fr-FR" sz="1400" dirty="0">
                  <a:latin typeface="Calibri" pitchFamily="34" charset="0"/>
                </a:rPr>
                <a:t>Puissance</a:t>
              </a:r>
            </a:p>
            <a:p>
              <a:pPr algn="r"/>
              <a:r>
                <a:rPr lang="fr-FR" sz="1400" b="1" dirty="0">
                  <a:latin typeface="Calibri" pitchFamily="34" charset="0"/>
                </a:rPr>
                <a:t>= </a:t>
              </a:r>
              <a:r>
                <a:rPr lang="fr-FR" sz="1400" dirty="0">
                  <a:solidFill>
                    <a:srgbClr val="FF0000"/>
                  </a:solidFill>
                  <a:latin typeface="Calibri" pitchFamily="34" charset="0"/>
                </a:rPr>
                <a:t>Grandeur flux</a:t>
              </a:r>
            </a:p>
            <a:p>
              <a:pPr algn="r"/>
              <a:r>
                <a:rPr lang="fr-FR" sz="1400" b="1" dirty="0">
                  <a:latin typeface="Calibri" pitchFamily="34" charset="0"/>
                  <a:sym typeface="Symbol"/>
                </a:rPr>
                <a:t></a:t>
              </a:r>
              <a:r>
                <a:rPr lang="fr-FR" sz="1400" dirty="0">
                  <a:solidFill>
                    <a:srgbClr val="006600"/>
                  </a:solidFill>
                  <a:latin typeface="Calibri" pitchFamily="34" charset="0"/>
                  <a:sym typeface="Symbol"/>
                </a:rPr>
                <a:t> </a:t>
              </a:r>
              <a:r>
                <a:rPr lang="fr-FR" sz="1400" dirty="0">
                  <a:solidFill>
                    <a:srgbClr val="006600"/>
                  </a:solidFill>
                  <a:latin typeface="Calibri" pitchFamily="34" charset="0"/>
                </a:rPr>
                <a:t>Grandeur potentielle</a:t>
              </a:r>
            </a:p>
          </p:txBody>
        </p:sp>
      </p:grpSp>
      <p:cxnSp>
        <p:nvCxnSpPr>
          <p:cNvPr id="9" name="Connecteur droit 8"/>
          <p:cNvCxnSpPr/>
          <p:nvPr/>
        </p:nvCxnSpPr>
        <p:spPr bwMode="auto">
          <a:xfrm flipH="1">
            <a:off x="8534610" y="2017391"/>
            <a:ext cx="42437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3" name="Connecteur droit 202"/>
          <p:cNvCxnSpPr/>
          <p:nvPr/>
        </p:nvCxnSpPr>
        <p:spPr bwMode="auto">
          <a:xfrm flipH="1" flipV="1">
            <a:off x="9056343" y="1126652"/>
            <a:ext cx="0" cy="18000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5" name="Connecteur droit 204"/>
          <p:cNvCxnSpPr/>
          <p:nvPr/>
        </p:nvCxnSpPr>
        <p:spPr bwMode="auto">
          <a:xfrm flipH="1" flipV="1">
            <a:off x="10819598" y="1086517"/>
            <a:ext cx="0" cy="18000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07" name="Text Box 307"/>
          <p:cNvSpPr txBox="1">
            <a:spLocks noChangeArrowheads="1"/>
          </p:cNvSpPr>
          <p:nvPr/>
        </p:nvSpPr>
        <p:spPr bwMode="auto">
          <a:xfrm>
            <a:off x="8516738" y="6318953"/>
            <a:ext cx="2679409" cy="307777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/>
            <a:r>
              <a:rPr lang="fr-FR" sz="1400" b="1" i="1" dirty="0">
                <a:solidFill>
                  <a:srgbClr val="FF0000"/>
                </a:solidFill>
                <a:latin typeface="Calibri" pitchFamily="34" charset="0"/>
                <a:cs typeface="Arial" charset="0"/>
                <a:sym typeface="Wingdings 3" pitchFamily="18" charset="2"/>
              </a:rPr>
              <a:t> </a:t>
            </a:r>
            <a:r>
              <a:rPr lang="fr-FR" sz="1400" b="1" i="1" u="sng" dirty="0">
                <a:solidFill>
                  <a:srgbClr val="FF0000"/>
                </a:solidFill>
                <a:latin typeface="Calibri" pitchFamily="34" charset="0"/>
                <a:cs typeface="Arial" charset="0"/>
              </a:rPr>
              <a:t>Recherche liaison équivalente</a:t>
            </a:r>
            <a:endParaRPr lang="fr-FR" sz="1400" b="1" i="1" u="sng" dirty="0">
              <a:solidFill>
                <a:srgbClr val="FF0000"/>
              </a:solidFill>
              <a:latin typeface="Calibri" pitchFamily="34" charset="0"/>
            </a:endParaRPr>
          </a:p>
        </p:txBody>
      </p:sp>
      <p:sp>
        <p:nvSpPr>
          <p:cNvPr id="3" name="AutoShape 2"/>
          <p:cNvSpPr>
            <a:spLocks noChangeArrowheads="1"/>
          </p:cNvSpPr>
          <p:nvPr/>
        </p:nvSpPr>
        <p:spPr bwMode="auto">
          <a:xfrm>
            <a:off x="8378825" y="768350"/>
            <a:ext cx="144463" cy="8569325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4F81BD"/>
              </a:gs>
              <a:gs pos="100000">
                <a:srgbClr val="DCE6F2"/>
              </a:gs>
            </a:gsLst>
            <a:lin ang="0" scaled="1"/>
          </a:gradFill>
          <a:ln w="1905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z="1800">
              <a:latin typeface="+mn-lt"/>
            </a:endParaRPr>
          </a:p>
        </p:txBody>
      </p:sp>
      <p:grpSp>
        <p:nvGrpSpPr>
          <p:cNvPr id="58" name="Groupe 57"/>
          <p:cNvGrpSpPr/>
          <p:nvPr/>
        </p:nvGrpSpPr>
        <p:grpSpPr>
          <a:xfrm>
            <a:off x="10652464" y="5461388"/>
            <a:ext cx="1030763" cy="1073743"/>
            <a:chOff x="10652464" y="5760348"/>
            <a:chExt cx="1030763" cy="1073743"/>
          </a:xfrm>
        </p:grpSpPr>
        <p:sp>
          <p:nvSpPr>
            <p:cNvPr id="382" name="Ellipse 381"/>
            <p:cNvSpPr/>
            <p:nvPr/>
          </p:nvSpPr>
          <p:spPr>
            <a:xfrm>
              <a:off x="11377082" y="6176408"/>
              <a:ext cx="262981" cy="275768"/>
            </a:xfrm>
            <a:prstGeom prst="ellipse">
              <a:avLst/>
            </a:prstGeom>
            <a:solidFill>
              <a:srgbClr val="0033CC">
                <a:alpha val="70000"/>
              </a:srgbClr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 sz="1200">
                <a:latin typeface="Calibri" pitchFamily="34" charset="0"/>
              </a:endParaRPr>
            </a:p>
          </p:txBody>
        </p:sp>
        <p:sp>
          <p:nvSpPr>
            <p:cNvPr id="383" name="Ellipse 382"/>
            <p:cNvSpPr/>
            <p:nvPr/>
          </p:nvSpPr>
          <p:spPr>
            <a:xfrm>
              <a:off x="11021861" y="5799407"/>
              <a:ext cx="262981" cy="275768"/>
            </a:xfrm>
            <a:prstGeom prst="ellipse">
              <a:avLst/>
            </a:prstGeom>
            <a:solidFill>
              <a:sysClr val="windowText" lastClr="000000">
                <a:alpha val="70000"/>
              </a:sysClr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 sz="1200">
                <a:latin typeface="Calibri" pitchFamily="34" charset="0"/>
              </a:endParaRPr>
            </a:p>
          </p:txBody>
        </p:sp>
        <p:sp>
          <p:nvSpPr>
            <p:cNvPr id="384" name="Ellipse 383"/>
            <p:cNvSpPr/>
            <p:nvPr/>
          </p:nvSpPr>
          <p:spPr>
            <a:xfrm>
              <a:off x="10672202" y="6151268"/>
              <a:ext cx="262981" cy="275768"/>
            </a:xfrm>
            <a:prstGeom prst="ellipse">
              <a:avLst/>
            </a:prstGeom>
            <a:solidFill>
              <a:srgbClr val="FF0000">
                <a:alpha val="70000"/>
              </a:srgbClr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 sz="1200">
                <a:latin typeface="Calibri" pitchFamily="34" charset="0"/>
              </a:endParaRPr>
            </a:p>
          </p:txBody>
        </p:sp>
        <p:sp>
          <p:nvSpPr>
            <p:cNvPr id="385" name="Ellipse 384"/>
            <p:cNvSpPr/>
            <p:nvPr/>
          </p:nvSpPr>
          <p:spPr>
            <a:xfrm>
              <a:off x="11048177" y="6558323"/>
              <a:ext cx="262981" cy="275768"/>
            </a:xfrm>
            <a:prstGeom prst="ellipse">
              <a:avLst/>
            </a:prstGeom>
            <a:solidFill>
              <a:srgbClr val="006600">
                <a:alpha val="69804"/>
              </a:srgbClr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 sz="1200">
                <a:latin typeface="Calibri" pitchFamily="34" charset="0"/>
              </a:endParaRPr>
            </a:p>
          </p:txBody>
        </p:sp>
        <p:sp>
          <p:nvSpPr>
            <p:cNvPr id="386" name="Zone de texte 55"/>
            <p:cNvSpPr txBox="1"/>
            <p:nvPr/>
          </p:nvSpPr>
          <p:spPr>
            <a:xfrm>
              <a:off x="11363923" y="6146305"/>
              <a:ext cx="319304" cy="262056"/>
            </a:xfrm>
            <a:prstGeom prst="rect">
              <a:avLst/>
            </a:prstGeom>
            <a:noFill/>
            <a:ln w="6350">
              <a:noFill/>
            </a:ln>
            <a:effectLst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lang="fr-FR" sz="1200" b="1" dirty="0">
                  <a:solidFill>
                    <a:srgbClr val="FFFFFF"/>
                  </a:solidFill>
                  <a:effectLst/>
                  <a:latin typeface="Calibri" pitchFamily="34" charset="0"/>
                  <a:ea typeface="Calibri"/>
                  <a:cs typeface="Times New Roman"/>
                </a:rPr>
                <a:t>S</a:t>
              </a:r>
              <a:r>
                <a:rPr lang="fr-FR" sz="1200" b="1" baseline="-25000" dirty="0">
                  <a:solidFill>
                    <a:srgbClr val="FFFFFF"/>
                  </a:solidFill>
                  <a:effectLst/>
                  <a:latin typeface="Calibri" pitchFamily="34" charset="0"/>
                  <a:ea typeface="Calibri"/>
                  <a:cs typeface="Times New Roman"/>
                </a:rPr>
                <a:t>2</a:t>
              </a:r>
              <a:endParaRPr lang="fr-FR" sz="1200" dirty="0">
                <a:effectLst/>
                <a:latin typeface="Calibri" pitchFamily="34" charset="0"/>
                <a:ea typeface="Calibri"/>
                <a:cs typeface="Times New Roman"/>
              </a:endParaRPr>
            </a:p>
          </p:txBody>
        </p:sp>
        <p:sp>
          <p:nvSpPr>
            <p:cNvPr id="387" name="Zone de texte 56"/>
            <p:cNvSpPr txBox="1"/>
            <p:nvPr/>
          </p:nvSpPr>
          <p:spPr>
            <a:xfrm>
              <a:off x="10652464" y="6126451"/>
              <a:ext cx="331782" cy="262056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lang="fr-FR" sz="1200" b="1" dirty="0">
                  <a:solidFill>
                    <a:srgbClr val="FFFFFF"/>
                  </a:solidFill>
                  <a:effectLst/>
                  <a:latin typeface="Calibri" pitchFamily="34" charset="0"/>
                  <a:ea typeface="Calibri"/>
                  <a:cs typeface="Times New Roman"/>
                </a:rPr>
                <a:t>S</a:t>
              </a:r>
              <a:r>
                <a:rPr lang="fr-FR" sz="1200" b="1" baseline="-25000" dirty="0">
                  <a:solidFill>
                    <a:srgbClr val="FFFFFF"/>
                  </a:solidFill>
                  <a:effectLst/>
                  <a:latin typeface="Calibri" pitchFamily="34" charset="0"/>
                  <a:ea typeface="Calibri"/>
                  <a:cs typeface="Times New Roman"/>
                </a:rPr>
                <a:t>1</a:t>
              </a:r>
              <a:endParaRPr lang="fr-FR" sz="1200" dirty="0">
                <a:effectLst/>
                <a:latin typeface="Calibri" pitchFamily="34" charset="0"/>
                <a:ea typeface="Calibri"/>
                <a:cs typeface="Times New Roman"/>
              </a:endParaRPr>
            </a:p>
          </p:txBody>
        </p:sp>
        <p:sp>
          <p:nvSpPr>
            <p:cNvPr id="388" name="Zone de texte 57"/>
            <p:cNvSpPr txBox="1"/>
            <p:nvPr/>
          </p:nvSpPr>
          <p:spPr>
            <a:xfrm>
              <a:off x="11035019" y="6529833"/>
              <a:ext cx="328904" cy="262056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lang="fr-FR" sz="1200" b="1" dirty="0">
                  <a:solidFill>
                    <a:srgbClr val="FFFFFF"/>
                  </a:solidFill>
                  <a:effectLst/>
                  <a:latin typeface="Calibri" pitchFamily="34" charset="0"/>
                  <a:ea typeface="Calibri"/>
                  <a:cs typeface="Times New Roman"/>
                </a:rPr>
                <a:t>S</a:t>
              </a:r>
              <a:r>
                <a:rPr lang="fr-FR" sz="1200" b="1" baseline="-25000" dirty="0">
                  <a:solidFill>
                    <a:srgbClr val="FFFFFF"/>
                  </a:solidFill>
                  <a:effectLst/>
                  <a:latin typeface="Calibri" pitchFamily="34" charset="0"/>
                  <a:ea typeface="Calibri"/>
                  <a:cs typeface="Times New Roman"/>
                </a:rPr>
                <a:t>3</a:t>
              </a:r>
              <a:endParaRPr lang="fr-FR" sz="1200" dirty="0">
                <a:effectLst/>
                <a:latin typeface="Calibri" pitchFamily="34" charset="0"/>
                <a:ea typeface="Calibri"/>
                <a:cs typeface="Times New Roman"/>
              </a:endParaRPr>
            </a:p>
          </p:txBody>
        </p:sp>
        <p:sp>
          <p:nvSpPr>
            <p:cNvPr id="389" name="Zone de texte 58"/>
            <p:cNvSpPr txBox="1"/>
            <p:nvPr/>
          </p:nvSpPr>
          <p:spPr>
            <a:xfrm>
              <a:off x="11008702" y="5760348"/>
              <a:ext cx="315450" cy="262055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lang="fr-FR" sz="1200" b="1" dirty="0">
                  <a:solidFill>
                    <a:srgbClr val="FFFFFF"/>
                  </a:solidFill>
                  <a:effectLst/>
                  <a:latin typeface="Calibri" pitchFamily="34" charset="0"/>
                  <a:ea typeface="Calibri"/>
                  <a:cs typeface="Times New Roman"/>
                </a:rPr>
                <a:t>S</a:t>
              </a:r>
              <a:r>
                <a:rPr lang="fr-FR" sz="1200" b="1" baseline="-25000" dirty="0">
                  <a:solidFill>
                    <a:srgbClr val="FFFFFF"/>
                  </a:solidFill>
                  <a:effectLst/>
                  <a:latin typeface="Calibri" pitchFamily="34" charset="0"/>
                  <a:ea typeface="Calibri"/>
                  <a:cs typeface="Times New Roman"/>
                </a:rPr>
                <a:t>0</a:t>
              </a:r>
              <a:endParaRPr lang="fr-FR" sz="1200" dirty="0">
                <a:effectLst/>
                <a:latin typeface="Calibri" pitchFamily="34" charset="0"/>
                <a:ea typeface="Calibri"/>
                <a:cs typeface="Times New Roman"/>
              </a:endParaRPr>
            </a:p>
          </p:txBody>
        </p:sp>
        <p:cxnSp>
          <p:nvCxnSpPr>
            <p:cNvPr id="390" name="Connecteur droit 389"/>
            <p:cNvCxnSpPr>
              <a:stCxn id="383" idx="3"/>
            </p:cNvCxnSpPr>
            <p:nvPr/>
          </p:nvCxnSpPr>
          <p:spPr>
            <a:xfrm flipH="1">
              <a:off x="10895900" y="6034790"/>
              <a:ext cx="164474" cy="15097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Connecteur droit 390"/>
            <p:cNvCxnSpPr/>
            <p:nvPr/>
          </p:nvCxnSpPr>
          <p:spPr>
            <a:xfrm flipH="1" flipV="1">
              <a:off x="11284842" y="6007703"/>
              <a:ext cx="169069" cy="17924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Connecteur droit 391"/>
            <p:cNvCxnSpPr>
              <a:endCxn id="384" idx="5"/>
            </p:cNvCxnSpPr>
            <p:nvPr/>
          </p:nvCxnSpPr>
          <p:spPr>
            <a:xfrm flipH="1" flipV="1">
              <a:off x="10896670" y="6386651"/>
              <a:ext cx="194225" cy="21028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Connecteur droit 392"/>
            <p:cNvCxnSpPr>
              <a:stCxn id="382" idx="4"/>
            </p:cNvCxnSpPr>
            <p:nvPr/>
          </p:nvCxnSpPr>
          <p:spPr>
            <a:xfrm flipH="1">
              <a:off x="11304771" y="6452176"/>
              <a:ext cx="203802" cy="17503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Connecteur droit 11"/>
          <p:cNvCxnSpPr/>
          <p:nvPr/>
        </p:nvCxnSpPr>
        <p:spPr bwMode="auto">
          <a:xfrm>
            <a:off x="8523288" y="6839550"/>
            <a:ext cx="4284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0" name="Connecteur droit 209"/>
          <p:cNvCxnSpPr/>
          <p:nvPr/>
        </p:nvCxnSpPr>
        <p:spPr bwMode="auto">
          <a:xfrm>
            <a:off x="8522940" y="7210391"/>
            <a:ext cx="4284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Connecteur droit 13"/>
          <p:cNvCxnSpPr/>
          <p:nvPr/>
        </p:nvCxnSpPr>
        <p:spPr bwMode="auto">
          <a:xfrm>
            <a:off x="10972870" y="6653784"/>
            <a:ext cx="0" cy="9000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3" name="Connecteur droit 212"/>
          <p:cNvCxnSpPr/>
          <p:nvPr/>
        </p:nvCxnSpPr>
        <p:spPr bwMode="auto">
          <a:xfrm>
            <a:off x="9210354" y="6628384"/>
            <a:ext cx="0" cy="9000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80"/>
                            </p:stCondLst>
                            <p:childTnLst>
                              <p:par>
                                <p:cTn id="1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580"/>
                            </p:stCondLst>
                            <p:childTnLst>
                              <p:par>
                                <p:cTn id="22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4" dur="80"/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5" dur="80"/>
                                        <p:tgtEl>
                                          <p:spTgt spid="2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80"/>
                                        <p:tgtEl>
                                          <p:spTgt spid="2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1" dur="80"/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2" dur="80"/>
                                        <p:tgtEl>
                                          <p:spTgt spid="2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80"/>
                                        <p:tgtEl>
                                          <p:spTgt spid="2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60"/>
                            </p:stCondLst>
                            <p:childTnLst>
                              <p:par>
                                <p:cTn id="3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9" dur="80"/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0" dur="80"/>
                                        <p:tgtEl>
                                          <p:spTgt spid="2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80"/>
                                        <p:tgtEl>
                                          <p:spTgt spid="2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720"/>
                            </p:stCondLst>
                            <p:childTnLst>
                              <p:par>
                                <p:cTn id="53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2" dur="80"/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3" dur="80"/>
                                        <p:tgtEl>
                                          <p:spTgt spid="2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80"/>
                                        <p:tgtEl>
                                          <p:spTgt spid="2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720"/>
                            </p:stCondLst>
                            <p:childTnLst>
                              <p:par>
                                <p:cTn id="76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220"/>
                            </p:stCondLst>
                            <p:childTnLst>
                              <p:par>
                                <p:cTn id="92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720"/>
                            </p:stCondLst>
                            <p:childTnLst>
                              <p:par>
                                <p:cTn id="103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05" dur="80"/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06" dur="80"/>
                                        <p:tgtEl>
                                          <p:spTgt spid="2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7" dur="80"/>
                                        <p:tgtEl>
                                          <p:spTgt spid="2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3800"/>
                            </p:stCondLst>
                            <p:childTnLst>
                              <p:par>
                                <p:cTn id="10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"/>
                            </p:stCondLst>
                            <p:childTnLst>
                              <p:par>
                                <p:cTn id="125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7" dur="80"/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28" dur="80"/>
                                        <p:tgtEl>
                                          <p:spTgt spid="3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9" dur="80"/>
                                        <p:tgtEl>
                                          <p:spTgt spid="3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500"/>
                            </p:stCondLst>
                            <p:childTnLst>
                              <p:par>
                                <p:cTn id="13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7" dur="80"/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48" dur="80"/>
                                        <p:tgtEl>
                                          <p:spTgt spid="3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9" dur="80"/>
                                        <p:tgtEl>
                                          <p:spTgt spid="3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54" dur="80"/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5" dur="80"/>
                                        <p:tgtEl>
                                          <p:spTgt spid="3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6" dur="80"/>
                                        <p:tgtEl>
                                          <p:spTgt spid="3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2560"/>
                            </p:stCondLst>
                            <p:childTnLst>
                              <p:par>
                                <p:cTn id="1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3060"/>
                            </p:stCondLst>
                            <p:childTnLst>
                              <p:par>
                                <p:cTn id="1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3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3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86" dur="80"/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87" dur="80"/>
                                        <p:tgtEl>
                                          <p:spTgt spid="1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8" dur="80"/>
                                        <p:tgtEl>
                                          <p:spTgt spid="1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93" dur="80"/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94" dur="80"/>
                                        <p:tgtEl>
                                          <p:spTgt spid="1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5" dur="80"/>
                                        <p:tgtEl>
                                          <p:spTgt spid="1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00" dur="80"/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01" dur="80"/>
                                        <p:tgtEl>
                                          <p:spTgt spid="1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2" dur="80"/>
                                        <p:tgtEl>
                                          <p:spTgt spid="1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500"/>
                            </p:stCondLst>
                            <p:childTnLst>
                              <p:par>
                                <p:cTn id="2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8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" grpId="0" animBg="1"/>
      <p:bldP spid="434" grpId="0" animBg="1"/>
      <p:bldP spid="361" grpId="0" animBg="1"/>
      <p:bldP spid="254" grpId="0"/>
      <p:bldP spid="251" grpId="0"/>
      <p:bldP spid="265" grpId="0"/>
      <p:bldP spid="272" grpId="0"/>
      <p:bldP spid="276" grpId="0"/>
      <p:bldP spid="283" grpId="0"/>
      <p:bldP spid="310" grpId="0"/>
      <p:bldP spid="312" grpId="0" animBg="1"/>
      <p:bldP spid="317" grpId="0"/>
      <p:bldP spid="324" grpId="0"/>
      <p:bldP spid="325" grpId="0"/>
      <p:bldP spid="333" grpId="0"/>
      <p:bldP spid="346" grpId="0"/>
      <p:bldP spid="187" grpId="0"/>
      <p:bldP spid="188" grpId="0"/>
      <p:bldP spid="189" grpId="0"/>
      <p:bldP spid="194" grpId="0"/>
    </p:bldLst>
  </p:timing>
</p:sld>
</file>

<file path=ppt/theme/theme1.xml><?xml version="1.0" encoding="utf-8"?>
<a:theme xmlns:a="http://schemas.openxmlformats.org/drawingml/2006/main" name="Modèle par défaut">
  <a:themeElements>
    <a:clrScheme name="Modèle par défau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odèle par défa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2795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5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2795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5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3400</TotalTime>
  <Words>522</Words>
  <Application>Microsoft Office PowerPoint</Application>
  <PresentationFormat>A3 (297 x 420 mm)</PresentationFormat>
  <Paragraphs>121</Paragraphs>
  <Slides>1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Calibri</vt:lpstr>
      <vt:lpstr>Cambria Math</vt:lpstr>
      <vt:lpstr>Modèle par défaut</vt:lpstr>
      <vt:lpstr>Equation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Poster</dc:title>
  <dc:creator>MB</dc:creator>
  <cp:lastModifiedBy>Thomas Lusseau</cp:lastModifiedBy>
  <cp:revision>265</cp:revision>
  <dcterms:created xsi:type="dcterms:W3CDTF">2008-03-06T09:11:14Z</dcterms:created>
  <dcterms:modified xsi:type="dcterms:W3CDTF">2025-03-30T19:04:38Z</dcterms:modified>
</cp:coreProperties>
</file>