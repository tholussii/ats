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</p:sldIdLst>
  <p:sldSz cx="12801600" cy="9601200" type="A3"/>
  <p:notesSz cx="6858000" cy="9737725"/>
  <p:custDataLst>
    <p:tags r:id="rId3"/>
  </p:custDataLst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78"/>
    <a:srgbClr val="003366"/>
    <a:srgbClr val="000080"/>
    <a:srgbClr val="FF6600"/>
    <a:srgbClr val="008000"/>
    <a:srgbClr val="FFFFCC"/>
    <a:srgbClr val="3399FF"/>
    <a:srgbClr val="0066CC"/>
    <a:srgbClr val="3366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81" autoAdjust="0"/>
    <p:restoredTop sz="94118" autoAdjust="0"/>
  </p:normalViewPr>
  <p:slideViewPr>
    <p:cSldViewPr snapToGrid="0">
      <p:cViewPr varScale="1">
        <p:scale>
          <a:sx n="56" d="100"/>
          <a:sy n="56" d="100"/>
        </p:scale>
        <p:origin x="1694" y="38"/>
      </p:cViewPr>
      <p:guideLst>
        <p:guide orient="horz" pos="3024"/>
        <p:guide pos="40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60438" y="2982913"/>
            <a:ext cx="10880725" cy="20574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20875" y="5440363"/>
            <a:ext cx="8959850" cy="24542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AB6C4-5F37-4873-AD86-D7C4708A5AD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9660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5957FB-6433-4A9B-B6CF-DF88F3F2B5D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3959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11238" y="6169025"/>
            <a:ext cx="10880725" cy="19081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11238" y="4068763"/>
            <a:ext cx="10880725" cy="210026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C4D3B4-5F0C-4704-AEF0-BAF61FAB9DF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7102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39763" y="2239963"/>
            <a:ext cx="5684837" cy="633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77000" y="2239963"/>
            <a:ext cx="5684838" cy="633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340F4B-EEFC-41DE-B272-891F601878A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47092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9763" y="2149475"/>
            <a:ext cx="5656262" cy="895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39763" y="3044825"/>
            <a:ext cx="5656262" cy="55324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502400" y="2149475"/>
            <a:ext cx="5659438" cy="895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02400" y="3044825"/>
            <a:ext cx="5659438" cy="55324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263D5C-ECD9-4A8F-B0F4-CC55591D55F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652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26C7C9-223F-48B8-B338-5E6AD6C626E0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95882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6B7F7B-D254-40F6-9ACC-3E3F5932058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40401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9763" y="382588"/>
            <a:ext cx="4211637" cy="16271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5388" y="382588"/>
            <a:ext cx="7156450" cy="81946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9763" y="2009775"/>
            <a:ext cx="4211637" cy="65674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78F42D-19A8-4C2D-AD3B-72243266DA1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90387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09838" y="6721475"/>
            <a:ext cx="7680325" cy="7921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509838" y="857250"/>
            <a:ext cx="7680325" cy="5761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09838" y="7513638"/>
            <a:ext cx="7680325" cy="11271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BCFAAA-D37C-44B0-8494-36534A55ECC7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05396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2107FA-0289-4032-86E8-A991ADE04F2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93837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282113" y="384175"/>
            <a:ext cx="2879725" cy="8193088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39763" y="384175"/>
            <a:ext cx="8489950" cy="819308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5037E-C13A-42F2-A271-AD6EC61170D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759820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9763" y="384175"/>
            <a:ext cx="115220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8016" tIns="64008" rIns="128016" bIns="6400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9763" y="2239963"/>
            <a:ext cx="11522075" cy="633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39763" y="8743950"/>
            <a:ext cx="29876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>
              <a:defRPr sz="2000"/>
            </a:lvl1pPr>
          </a:lstStyle>
          <a:p>
            <a:endParaRPr lang="fr-FR" alt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3563" y="8743950"/>
            <a:ext cx="40544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 algn="ctr">
              <a:defRPr sz="2000"/>
            </a:lvl1pPr>
          </a:lstStyle>
          <a:p>
            <a:endParaRPr lang="fr-FR" alt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74163" y="8743950"/>
            <a:ext cx="29876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 algn="r">
              <a:defRPr sz="2000"/>
            </a:lvl1pPr>
          </a:lstStyle>
          <a:p>
            <a:fld id="{944CEAA4-8399-4E38-AE72-11CE6FB28FC2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2pPr>
      <a:lvl3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3pPr>
      <a:lvl4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4pPr>
      <a:lvl5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5pPr>
      <a:lvl6pPr marL="4572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6pPr>
      <a:lvl7pPr marL="9144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7pPr>
      <a:lvl8pPr marL="13716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8pPr>
      <a:lvl9pPr marL="18288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9pPr>
    </p:titleStyle>
    <p:bodyStyle>
      <a:lvl1pPr marL="479425" indent="-479425" algn="l" defTabSz="1279525" rtl="0" eaLnBrk="0" fontAlgn="base" hangingPunct="0">
        <a:spcBef>
          <a:spcPct val="20000"/>
        </a:spcBef>
        <a:spcAft>
          <a:spcPct val="0"/>
        </a:spcAft>
        <a:buChar char="•"/>
        <a:defRPr sz="4500">
          <a:solidFill>
            <a:schemeClr val="tx1"/>
          </a:solidFill>
          <a:latin typeface="+mn-lt"/>
          <a:ea typeface="+mn-ea"/>
          <a:cs typeface="+mn-cs"/>
        </a:defRPr>
      </a:lvl1pPr>
      <a:lvl2pPr marL="1039813" indent="-400050" algn="l" defTabSz="1279525" rtl="0" eaLnBrk="0" fontAlgn="base" hangingPunct="0">
        <a:spcBef>
          <a:spcPct val="20000"/>
        </a:spcBef>
        <a:spcAft>
          <a:spcPct val="0"/>
        </a:spcAft>
        <a:buChar char="–"/>
        <a:defRPr sz="3900">
          <a:solidFill>
            <a:schemeClr val="tx1"/>
          </a:solidFill>
          <a:latin typeface="+mn-lt"/>
        </a:defRPr>
      </a:lvl2pPr>
      <a:lvl3pPr marL="1600200" indent="-320675" algn="l" defTabSz="1279525" rtl="0" eaLnBrk="0" fontAlgn="base" hangingPunct="0">
        <a:spcBef>
          <a:spcPct val="2000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</a:defRPr>
      </a:lvl3pPr>
      <a:lvl4pPr marL="2239963" indent="-319088" algn="l" defTabSz="1279525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4pPr>
      <a:lvl5pPr marL="2879725" indent="-319088" algn="l" defTabSz="1279525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5pPr>
      <a:lvl6pPr marL="3336925" indent="-319088" algn="l" defTabSz="1279525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6pPr>
      <a:lvl7pPr marL="3794125" indent="-319088" algn="l" defTabSz="1279525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7pPr>
      <a:lvl8pPr marL="4251325" indent="-319088" algn="l" defTabSz="1279525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8pPr>
      <a:lvl9pPr marL="4708525" indent="-319088" algn="l" defTabSz="1279525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image" Target="../media/image2.png"/><Relationship Id="rId21" Type="http://schemas.openxmlformats.org/officeDocument/2006/relationships/image" Target="../media/image11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9.wmf"/><Relationship Id="rId25" Type="http://schemas.openxmlformats.org/officeDocument/2006/relationships/image" Target="../media/image13.wmf"/><Relationship Id="rId33" Type="http://schemas.openxmlformats.org/officeDocument/2006/relationships/image" Target="../media/image17.wmf"/><Relationship Id="rId2" Type="http://schemas.openxmlformats.org/officeDocument/2006/relationships/image" Target="../media/image1.png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2.wmf"/><Relationship Id="rId28" Type="http://schemas.openxmlformats.org/officeDocument/2006/relationships/oleObject" Target="../embeddings/oleObject13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0.wmf"/><Relationship Id="rId31" Type="http://schemas.openxmlformats.org/officeDocument/2006/relationships/image" Target="../media/image16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4.wmf"/><Relationship Id="rId30" Type="http://schemas.openxmlformats.org/officeDocument/2006/relationships/oleObject" Target="../embeddings/oleObject14.bin"/><Relationship Id="rId8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459" y="4985951"/>
            <a:ext cx="4162906" cy="1439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3" name="Rectangle à coins arrondis 642"/>
          <p:cNvSpPr/>
          <p:nvPr/>
        </p:nvSpPr>
        <p:spPr bwMode="auto">
          <a:xfrm>
            <a:off x="8715975" y="3523871"/>
            <a:ext cx="2808172" cy="611998"/>
          </a:xfrm>
          <a:prstGeom prst="roundRect">
            <a:avLst>
              <a:gd name="adj" fmla="val 18035"/>
            </a:avLst>
          </a:prstGeom>
          <a:solidFill>
            <a:srgbClr val="94BEF0"/>
          </a:solidFill>
          <a:ln w="19050" cap="rnd" cmpd="sng" algn="ctr">
            <a:solidFill>
              <a:srgbClr val="FF31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sx="102000" sy="102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  <a:scene3d>
            <a:camera prst="orthographicFront"/>
            <a:lightRig rig="threePt" dir="tl"/>
          </a:scene3d>
          <a:sp3d extrusionH="76200" contourW="25400">
            <a:bevelT w="127000" h="127000"/>
            <a:extrusionClr>
              <a:srgbClr val="FF0000"/>
            </a:extrusionClr>
            <a:contourClr>
              <a:srgbClr val="FF0000"/>
            </a:contourClr>
          </a:sp3d>
        </p:spPr>
        <p:txBody>
          <a:bodyPr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defTabSz="957263">
              <a:defRPr/>
            </a:pPr>
            <a:endParaRPr lang="fr-FR" b="1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2" name="Rectangle à coins arrondis 90"/>
          <p:cNvSpPr/>
          <p:nvPr/>
        </p:nvSpPr>
        <p:spPr bwMode="auto">
          <a:xfrm>
            <a:off x="46760" y="5460555"/>
            <a:ext cx="978047" cy="486218"/>
          </a:xfrm>
          <a:prstGeom prst="roundRect">
            <a:avLst>
              <a:gd name="adj" fmla="val 18035"/>
            </a:avLst>
          </a:prstGeom>
          <a:solidFill>
            <a:srgbClr val="94BEF0"/>
          </a:solidFill>
          <a:ln w="34925" cap="rnd" cmpd="sng" algn="ctr">
            <a:solidFill>
              <a:srgbClr val="FF31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sx="102000" sy="102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  <a:scene3d>
            <a:camera prst="orthographicFront"/>
            <a:lightRig rig="threePt" dir="tl"/>
          </a:scene3d>
          <a:sp3d extrusionH="76200" contourW="25400">
            <a:bevelT w="127000" h="127000"/>
            <a:extrusionClr>
              <a:srgbClr val="FF0000"/>
            </a:extrusionClr>
            <a:contourClr>
              <a:srgbClr val="FF0000"/>
            </a:contourClr>
          </a:sp3d>
        </p:spPr>
        <p:txBody>
          <a:bodyPr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defTabSz="957263">
              <a:defRPr/>
            </a:pPr>
            <a:endParaRPr lang="fr-FR" sz="1900" b="1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Rectangle à coins arrondis 90"/>
          <p:cNvSpPr/>
          <p:nvPr/>
        </p:nvSpPr>
        <p:spPr bwMode="auto">
          <a:xfrm>
            <a:off x="58764" y="6097511"/>
            <a:ext cx="864000" cy="486218"/>
          </a:xfrm>
          <a:prstGeom prst="roundRect">
            <a:avLst>
              <a:gd name="adj" fmla="val 18035"/>
            </a:avLst>
          </a:prstGeom>
          <a:solidFill>
            <a:srgbClr val="94BEF0"/>
          </a:solidFill>
          <a:ln w="34925" cap="rnd" cmpd="sng" algn="ctr">
            <a:solidFill>
              <a:srgbClr val="FF31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sx="102000" sy="102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  <a:scene3d>
            <a:camera prst="orthographicFront"/>
            <a:lightRig rig="threePt" dir="tl"/>
          </a:scene3d>
          <a:sp3d extrusionH="76200" contourW="25400">
            <a:bevelT w="127000" h="127000"/>
            <a:extrusionClr>
              <a:srgbClr val="FF0000"/>
            </a:extrusionClr>
            <a:contourClr>
              <a:srgbClr val="FF0000"/>
            </a:contourClr>
          </a:sp3d>
        </p:spPr>
        <p:txBody>
          <a:bodyPr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defTabSz="957263">
              <a:defRPr/>
            </a:pPr>
            <a:endParaRPr lang="fr-FR" sz="1900" b="1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1510" name="Rectangle 8"/>
          <p:cNvSpPr>
            <a:spLocks noChangeArrowheads="1"/>
          </p:cNvSpPr>
          <p:nvPr/>
        </p:nvSpPr>
        <p:spPr bwMode="auto">
          <a:xfrm>
            <a:off x="36655" y="739485"/>
            <a:ext cx="2664000" cy="2160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1511" name="ZoneTexte 21"/>
          <p:cNvSpPr txBox="1">
            <a:spLocks noChangeArrowheads="1"/>
          </p:cNvSpPr>
          <p:nvPr/>
        </p:nvSpPr>
        <p:spPr bwMode="auto">
          <a:xfrm>
            <a:off x="-8660" y="665305"/>
            <a:ext cx="29873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alt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altLang="fr-FR" sz="1600" b="1" dirty="0">
                <a:solidFill>
                  <a:srgbClr val="00B050"/>
                </a:solidFill>
                <a:latin typeface="Calibri" pitchFamily="34" charset="0"/>
              </a:rPr>
              <a:t> Principe de fonctionnement</a:t>
            </a:r>
          </a:p>
        </p:txBody>
      </p:sp>
      <p:sp>
        <p:nvSpPr>
          <p:cNvPr id="1026" name="AutoShape 2"/>
          <p:cNvSpPr>
            <a:spLocks noChangeArrowheads="1"/>
          </p:cNvSpPr>
          <p:nvPr/>
        </p:nvSpPr>
        <p:spPr bwMode="auto">
          <a:xfrm>
            <a:off x="4324350" y="790575"/>
            <a:ext cx="144463" cy="84963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81BD"/>
              </a:gs>
              <a:gs pos="100000">
                <a:srgbClr val="DCE6F2"/>
              </a:gs>
            </a:gsLst>
            <a:lin ang="0" scaled="1"/>
          </a:gradFill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>
              <a:latin typeface="+mn-lt"/>
            </a:endParaRPr>
          </a:p>
        </p:txBody>
      </p:sp>
      <p:sp>
        <p:nvSpPr>
          <p:cNvPr id="3" name="AutoShape 2"/>
          <p:cNvSpPr>
            <a:spLocks noChangeArrowheads="1"/>
          </p:cNvSpPr>
          <p:nvPr/>
        </p:nvSpPr>
        <p:spPr bwMode="auto">
          <a:xfrm>
            <a:off x="8488363" y="768350"/>
            <a:ext cx="144462" cy="8569325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81BD"/>
              </a:gs>
              <a:gs pos="100000">
                <a:srgbClr val="DCE6F2"/>
              </a:gs>
            </a:gsLst>
            <a:lin ang="0" scaled="1"/>
          </a:gradFill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>
              <a:latin typeface="+mn-lt"/>
            </a:endParaRPr>
          </a:p>
        </p:txBody>
      </p:sp>
      <p:sp>
        <p:nvSpPr>
          <p:cNvPr id="21519" name="Rectangle 1073"/>
          <p:cNvSpPr>
            <a:spLocks noChangeArrowheads="1"/>
          </p:cNvSpPr>
          <p:nvPr/>
        </p:nvSpPr>
        <p:spPr bwMode="auto">
          <a:xfrm>
            <a:off x="19050" y="4272094"/>
            <a:ext cx="2405495" cy="2160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1520" name="ZoneTexte 21"/>
          <p:cNvSpPr txBox="1">
            <a:spLocks noChangeArrowheads="1"/>
          </p:cNvSpPr>
          <p:nvPr/>
        </p:nvSpPr>
        <p:spPr bwMode="auto">
          <a:xfrm>
            <a:off x="0" y="4206143"/>
            <a:ext cx="3376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alt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altLang="fr-FR" sz="1600" b="1" dirty="0">
                <a:solidFill>
                  <a:srgbClr val="00B050"/>
                </a:solidFill>
                <a:latin typeface="Calibri" pitchFamily="34" charset="0"/>
              </a:rPr>
              <a:t> Vitesse de synchronisme</a:t>
            </a:r>
          </a:p>
        </p:txBody>
      </p:sp>
      <p:sp>
        <p:nvSpPr>
          <p:cNvPr id="21523" name="Rectangle 1129"/>
          <p:cNvSpPr>
            <a:spLocks noChangeArrowheads="1"/>
          </p:cNvSpPr>
          <p:nvPr/>
        </p:nvSpPr>
        <p:spPr bwMode="auto">
          <a:xfrm>
            <a:off x="8796338" y="623888"/>
            <a:ext cx="1997075" cy="2159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1524" name="ZoneTexte 21"/>
          <p:cNvSpPr txBox="1">
            <a:spLocks noChangeArrowheads="1"/>
          </p:cNvSpPr>
          <p:nvPr/>
        </p:nvSpPr>
        <p:spPr bwMode="auto">
          <a:xfrm>
            <a:off x="8704263" y="552450"/>
            <a:ext cx="2909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alt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altLang="fr-FR" sz="1600" b="1" dirty="0">
                <a:solidFill>
                  <a:srgbClr val="00B050"/>
                </a:solidFill>
                <a:latin typeface="Calibri" pitchFamily="34" charset="0"/>
              </a:rPr>
              <a:t> Bilan des puissances</a:t>
            </a:r>
          </a:p>
        </p:txBody>
      </p:sp>
      <p:sp>
        <p:nvSpPr>
          <p:cNvPr id="7" name="ZoneTexte 43"/>
          <p:cNvSpPr txBox="1"/>
          <p:nvPr/>
        </p:nvSpPr>
        <p:spPr>
          <a:xfrm>
            <a:off x="1052512" y="5331001"/>
            <a:ext cx="325501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buFont typeface="Symbol" pitchFamily="18" charset="2"/>
              <a:buChar char="W"/>
            </a:pPr>
            <a:r>
              <a:rPr lang="fr-FR" altLang="fr-FR" sz="1400" baseline="-25000" dirty="0">
                <a:latin typeface="Calibri" pitchFamily="34" charset="0"/>
              </a:rPr>
              <a:t>s</a:t>
            </a:r>
            <a:r>
              <a:rPr lang="fr-FR" altLang="fr-FR" sz="1400" dirty="0">
                <a:latin typeface="Calibri" pitchFamily="34" charset="0"/>
              </a:rPr>
              <a:t> : vitesse de rotation du champ tournant (rad/s)</a:t>
            </a:r>
          </a:p>
          <a:p>
            <a:pPr algn="just" eaLnBrk="1" hangingPunct="1">
              <a:buFont typeface="Symbol" pitchFamily="18" charset="2"/>
              <a:buChar char="W"/>
            </a:pPr>
            <a:r>
              <a:rPr lang="fr-FR" altLang="fr-FR" sz="1400" dirty="0">
                <a:latin typeface="Calibri" pitchFamily="34" charset="0"/>
              </a:rPr>
              <a:t> : vitesse de rotation du rotor (rad/s)</a:t>
            </a:r>
          </a:p>
          <a:p>
            <a:pPr algn="just" eaLnBrk="1" hangingPunct="1">
              <a:buFont typeface="Symbol" pitchFamily="18" charset="2"/>
              <a:buNone/>
            </a:pPr>
            <a:r>
              <a:rPr lang="fr-FR" altLang="fr-FR" sz="1400" dirty="0">
                <a:latin typeface="Calibri" pitchFamily="34" charset="0"/>
              </a:rPr>
              <a:t>p : nombre de </a:t>
            </a:r>
            <a:r>
              <a:rPr lang="fr-FR" altLang="fr-FR" sz="1400" b="1" dirty="0">
                <a:solidFill>
                  <a:srgbClr val="C00000"/>
                </a:solidFill>
                <a:latin typeface="Calibri" pitchFamily="34" charset="0"/>
              </a:rPr>
              <a:t>paires de pôles pour un enroulement</a:t>
            </a:r>
          </a:p>
          <a:p>
            <a:pPr algn="just" eaLnBrk="1" hangingPunct="1">
              <a:buFont typeface="Symbol" pitchFamily="18" charset="2"/>
              <a:buNone/>
            </a:pPr>
            <a:r>
              <a:rPr lang="fr-FR" altLang="fr-FR" sz="1400" dirty="0">
                <a:latin typeface="Calibri" pitchFamily="34" charset="0"/>
              </a:rPr>
              <a:t>f, </a:t>
            </a:r>
            <a:r>
              <a:rPr lang="fr-FR" altLang="fr-FR" sz="1400" dirty="0">
                <a:latin typeface="Symbol" pitchFamily="18" charset="2"/>
              </a:rPr>
              <a:t>w</a:t>
            </a:r>
            <a:r>
              <a:rPr lang="fr-FR" altLang="fr-FR" sz="1400" dirty="0">
                <a:latin typeface="Calibri" pitchFamily="34" charset="0"/>
              </a:rPr>
              <a:t> : fréquence et pulsation des courants statoriques</a:t>
            </a:r>
          </a:p>
        </p:txBody>
      </p:sp>
      <p:sp>
        <p:nvSpPr>
          <p:cNvPr id="21554" name="Rectangle 1067"/>
          <p:cNvSpPr>
            <a:spLocks noChangeArrowheads="1"/>
          </p:cNvSpPr>
          <p:nvPr/>
        </p:nvSpPr>
        <p:spPr bwMode="auto">
          <a:xfrm>
            <a:off x="8693607" y="6582426"/>
            <a:ext cx="3024000" cy="2159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1555" name="ZoneTexte 21"/>
          <p:cNvSpPr txBox="1">
            <a:spLocks noChangeArrowheads="1"/>
          </p:cNvSpPr>
          <p:nvPr/>
        </p:nvSpPr>
        <p:spPr bwMode="auto">
          <a:xfrm>
            <a:off x="8647474" y="6510989"/>
            <a:ext cx="4052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alt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altLang="fr-FR" sz="1600" b="1" dirty="0">
                <a:solidFill>
                  <a:srgbClr val="00B050"/>
                </a:solidFill>
                <a:latin typeface="Calibri" pitchFamily="34" charset="0"/>
              </a:rPr>
              <a:t> Autopilotage, moteurs </a:t>
            </a:r>
            <a:r>
              <a:rPr lang="fr-FR" altLang="fr-FR" sz="1600" b="1" dirty="0" err="1">
                <a:solidFill>
                  <a:srgbClr val="00B050"/>
                </a:solidFill>
                <a:latin typeface="Calibri" pitchFamily="34" charset="0"/>
              </a:rPr>
              <a:t>brushless</a:t>
            </a:r>
            <a:endParaRPr lang="fr-FR" altLang="fr-FR" sz="1600" b="1" dirty="0">
              <a:solidFill>
                <a:srgbClr val="00B050"/>
              </a:solidFill>
              <a:latin typeface="Calibri" pitchFamily="34" charset="0"/>
            </a:endParaRPr>
          </a:p>
        </p:txBody>
      </p:sp>
      <p:pic>
        <p:nvPicPr>
          <p:cNvPr id="21565" name="Picture 1058" descr="600px-Panneau_atten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325" y="6207945"/>
            <a:ext cx="3429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680" name="Rectangle 1280"/>
          <p:cNvSpPr>
            <a:spLocks noChangeArrowheads="1"/>
          </p:cNvSpPr>
          <p:nvPr/>
        </p:nvSpPr>
        <p:spPr bwMode="auto">
          <a:xfrm>
            <a:off x="54512" y="6933119"/>
            <a:ext cx="3276000" cy="217488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1681" name="ZoneTexte 21"/>
          <p:cNvSpPr txBox="1">
            <a:spLocks noChangeArrowheads="1"/>
          </p:cNvSpPr>
          <p:nvPr/>
        </p:nvSpPr>
        <p:spPr bwMode="auto">
          <a:xfrm>
            <a:off x="6629" y="6863669"/>
            <a:ext cx="3565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altLang="fr-FR" sz="1600" b="1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altLang="fr-FR" sz="1600" b="1">
                <a:solidFill>
                  <a:srgbClr val="00B050"/>
                </a:solidFill>
                <a:latin typeface="Calibri" pitchFamily="34" charset="0"/>
              </a:rPr>
              <a:t> Schéma équivalent pour une phase</a:t>
            </a:r>
          </a:p>
        </p:txBody>
      </p:sp>
      <p:sp>
        <p:nvSpPr>
          <p:cNvPr id="21757" name="Rectangle 253"/>
          <p:cNvSpPr>
            <a:spLocks noChangeArrowheads="1"/>
          </p:cNvSpPr>
          <p:nvPr/>
        </p:nvSpPr>
        <p:spPr bwMode="auto">
          <a:xfrm>
            <a:off x="0" y="4506448"/>
            <a:ext cx="434054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tabLst>
                <a:tab pos="449263" algn="r"/>
              </a:tabLst>
              <a:defRPr sz="25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tabLst>
                <a:tab pos="449263" algn="r"/>
              </a:tabLst>
              <a:defRPr sz="2500">
                <a:solidFill>
                  <a:schemeClr val="tx1"/>
                </a:solidFill>
                <a:latin typeface="Arial" charset="0"/>
              </a:defRPr>
            </a:lvl2pPr>
            <a:lvl3pPr eaLnBrk="0" hangingPunct="0">
              <a:tabLst>
                <a:tab pos="449263" algn="r"/>
              </a:tabLst>
              <a:defRPr sz="2500">
                <a:solidFill>
                  <a:schemeClr val="tx1"/>
                </a:solidFill>
                <a:latin typeface="Arial" charset="0"/>
              </a:defRPr>
            </a:lvl3pPr>
            <a:lvl4pPr eaLnBrk="0" hangingPunct="0">
              <a:tabLst>
                <a:tab pos="449263" algn="r"/>
              </a:tabLst>
              <a:defRPr sz="2500">
                <a:solidFill>
                  <a:schemeClr val="tx1"/>
                </a:solidFill>
                <a:latin typeface="Arial" charset="0"/>
              </a:defRPr>
            </a:lvl4pPr>
            <a:lvl5pPr eaLnBrk="0" hangingPunct="0">
              <a:tabLst>
                <a:tab pos="449263" algn="r"/>
              </a:tabLst>
              <a:defRPr sz="2500">
                <a:solidFill>
                  <a:schemeClr val="tx1"/>
                </a:solidFill>
                <a:latin typeface="Arial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r"/>
              </a:tabLst>
              <a:defRPr sz="2500">
                <a:solidFill>
                  <a:schemeClr val="tx1"/>
                </a:solidFill>
                <a:latin typeface="Arial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r"/>
              </a:tabLst>
              <a:defRPr sz="2500">
                <a:solidFill>
                  <a:schemeClr val="tx1"/>
                </a:solidFill>
                <a:latin typeface="Arial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r"/>
              </a:tabLst>
              <a:defRPr sz="2500">
                <a:solidFill>
                  <a:schemeClr val="tx1"/>
                </a:solidFill>
                <a:latin typeface="Arial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r"/>
              </a:tabLs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fr-FR" sz="1400" dirty="0">
                <a:latin typeface="Calibri" panose="020F0502020204030204" pitchFamily="34" charset="0"/>
              </a:rPr>
              <a:t>Comme l’indique son nom, la machine synchrone a un rotor (inducteur) dont la rotation est synchronisée sur le champ tournant</a:t>
            </a:r>
            <a:r>
              <a:rPr lang="fr-FR" sz="1400" b="1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fr-FR" sz="1400" dirty="0">
                <a:latin typeface="Calibri" panose="020F0502020204030204" pitchFamily="34" charset="0"/>
              </a:rPr>
              <a:t>produit par le stator (induit). </a:t>
            </a:r>
            <a:r>
              <a:rPr lang="fr-FR" altLang="fr-FR" sz="1400" b="1" dirty="0">
                <a:solidFill>
                  <a:srgbClr val="C00000"/>
                </a:solidFill>
                <a:latin typeface="Calibri" pitchFamily="34" charset="0"/>
              </a:rPr>
              <a:t>Il n’y a pas de glissement pour la MS</a:t>
            </a:r>
            <a:endParaRPr lang="fr-FR" altLang="fr-FR" sz="1400" dirty="0">
              <a:latin typeface="Calibri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636459" y="6810572"/>
            <a:ext cx="41629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Calibri" panose="020F0502020204030204" pitchFamily="34" charset="0"/>
              </a:rPr>
              <a:t>L’organisation de la commande de la machine synchrone autopilotée (ou </a:t>
            </a:r>
            <a:r>
              <a:rPr lang="fr-FR" sz="1400" dirty="0" err="1">
                <a:latin typeface="Calibri" panose="020F0502020204030204" pitchFamily="34" charset="0"/>
              </a:rPr>
              <a:t>brushless</a:t>
            </a:r>
            <a:r>
              <a:rPr lang="fr-FR" sz="1400" dirty="0">
                <a:latin typeface="Calibri" panose="020F0502020204030204" pitchFamily="34" charset="0"/>
              </a:rPr>
              <a:t>) est présentée ci-dessous. La commande permet d’imposer l’amplitude du courant </a:t>
            </a:r>
            <a:r>
              <a:rPr lang="fr-FR" sz="1400" b="1" dirty="0" err="1">
                <a:latin typeface="Calibri" panose="020F0502020204030204" pitchFamily="34" charset="0"/>
              </a:rPr>
              <a:t>I</a:t>
            </a:r>
            <a:r>
              <a:rPr lang="fr-FR" sz="1400" b="1" baseline="-25000" dirty="0" err="1">
                <a:latin typeface="Calibri" panose="020F0502020204030204" pitchFamily="34" charset="0"/>
              </a:rPr>
              <a:t>ref</a:t>
            </a:r>
            <a:r>
              <a:rPr lang="fr-FR" sz="1400" dirty="0">
                <a:latin typeface="Calibri" panose="020F0502020204030204" pitchFamily="34" charset="0"/>
              </a:rPr>
              <a:t> et l’angle d’autopilotage </a:t>
            </a:r>
            <a:r>
              <a:rPr lang="fr-FR" sz="1400" b="1" dirty="0">
                <a:latin typeface="Calibri" panose="020F0502020204030204" pitchFamily="34" charset="0"/>
                <a:sym typeface="Symbol"/>
              </a:rPr>
              <a:t></a:t>
            </a:r>
            <a:r>
              <a:rPr lang="fr-FR" sz="1400" b="1" baseline="-25000" dirty="0" err="1">
                <a:latin typeface="Calibri" panose="020F0502020204030204" pitchFamily="34" charset="0"/>
              </a:rPr>
              <a:t>ref</a:t>
            </a:r>
            <a:r>
              <a:rPr lang="fr-FR" sz="1400" dirty="0">
                <a:latin typeface="Calibri" panose="020F0502020204030204" pitchFamily="34" charset="0"/>
              </a:rPr>
              <a:t>. </a:t>
            </a:r>
          </a:p>
        </p:txBody>
      </p:sp>
      <p:graphicFrame>
        <p:nvGraphicFramePr>
          <p:cNvPr id="28" name="Obje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879682"/>
              </p:ext>
            </p:extLst>
          </p:nvPr>
        </p:nvGraphicFramePr>
        <p:xfrm>
          <a:off x="8771902" y="7686613"/>
          <a:ext cx="3938948" cy="1959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3" name="Picture" r:id="rId4" imgW="3850640" imgH="1917700" progId="Word.Picture.8">
                  <p:embed/>
                </p:oleObj>
              </mc:Choice>
              <mc:Fallback>
                <p:oleObj name="Picture" r:id="rId4" imgW="3850640" imgH="1917700" progId="Word.Picture.8">
                  <p:embed/>
                  <p:pic>
                    <p:nvPicPr>
                      <p:cNvPr id="0" name="Picture 12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1902" y="7686613"/>
                        <a:ext cx="3938948" cy="19597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/>
          <p:cNvSpPr/>
          <p:nvPr/>
        </p:nvSpPr>
        <p:spPr>
          <a:xfrm>
            <a:off x="1877" y="971700"/>
            <a:ext cx="432247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Calibri" panose="020F0502020204030204" pitchFamily="34" charset="0"/>
              </a:rPr>
              <a:t>Une machine synchrone (MS) est un convertisseur électromécanique réversible, elle peut fonctionner soit en génératrice (</a:t>
            </a:r>
            <a:r>
              <a:rPr lang="fr-FR" sz="1400" b="1" dirty="0">
                <a:solidFill>
                  <a:srgbClr val="C00000"/>
                </a:solidFill>
                <a:latin typeface="Calibri" panose="020F0502020204030204" pitchFamily="34" charset="0"/>
              </a:rPr>
              <a:t>alternateur</a:t>
            </a:r>
            <a:r>
              <a:rPr lang="fr-FR" sz="1400" dirty="0">
                <a:latin typeface="Calibri" panose="020F0502020204030204" pitchFamily="34" charset="0"/>
              </a:rPr>
              <a:t>), soit en moteur.</a:t>
            </a:r>
          </a:p>
          <a:p>
            <a:pPr algn="just"/>
            <a:r>
              <a:rPr lang="fr-FR" sz="1400" dirty="0">
                <a:latin typeface="Calibri" panose="020F0502020204030204" pitchFamily="34" charset="0"/>
              </a:rPr>
              <a:t>Le champ tournant statorique est créé de la même façon que dans la machine asynchrone. Un ensemble d’enroulements alimentés en triphasé qui crée un champ tournant unique à </a:t>
            </a:r>
            <a:r>
              <a:rPr lang="fr-FR" sz="1400" dirty="0">
                <a:latin typeface="Calibri" panose="020F0502020204030204" pitchFamily="34" charset="0"/>
                <a:sym typeface="Symbol"/>
              </a:rPr>
              <a:t></a:t>
            </a:r>
            <a:r>
              <a:rPr lang="fr-FR" sz="1400" baseline="-25000" dirty="0">
                <a:latin typeface="Calibri" panose="020F0502020204030204" pitchFamily="34" charset="0"/>
              </a:rPr>
              <a:t>s</a:t>
            </a:r>
            <a:r>
              <a:rPr lang="fr-FR" sz="1400" dirty="0">
                <a:latin typeface="Calibri" panose="020F0502020204030204" pitchFamily="34" charset="0"/>
              </a:rPr>
              <a:t>. </a:t>
            </a:r>
            <a:r>
              <a:rPr lang="fr-FR" sz="1400" b="1" dirty="0">
                <a:solidFill>
                  <a:srgbClr val="C00000"/>
                </a:solidFill>
                <a:latin typeface="Calibri" panose="020F0502020204030204" pitchFamily="34" charset="0"/>
              </a:rPr>
              <a:t>Au rotor, on place des aimants (ou des enroulements) dont le champ magnétique va s’accrocher sur le champ tournant </a:t>
            </a:r>
            <a:r>
              <a:rPr lang="fr-FR" sz="1400" b="1" dirty="0" err="1">
                <a:solidFill>
                  <a:srgbClr val="C00000"/>
                </a:solidFill>
                <a:latin typeface="Calibri" panose="020F0502020204030204" pitchFamily="34" charset="0"/>
              </a:rPr>
              <a:t>statorique</a:t>
            </a:r>
            <a:r>
              <a:rPr lang="fr-FR" sz="1400" dirty="0">
                <a:latin typeface="Calibri" panose="020F0502020204030204" pitchFamily="34" charset="0"/>
              </a:rPr>
              <a:t>.</a:t>
            </a:r>
          </a:p>
          <a:p>
            <a:pPr algn="just"/>
            <a:r>
              <a:rPr lang="fr-FR" sz="1400" dirty="0">
                <a:latin typeface="Calibri" panose="020F0502020204030204" pitchFamily="34" charset="0"/>
              </a:rPr>
              <a:t>Si on la compare à la machine asynchrone, la machine synchrone a un rotor froid, donc peu de pertes. Associée à une électronique de puissance, elle assure des asservissements avec une grande précision car pour la piloter il faut la plupart du temps mesurer la position du rotor avec un capteur.</a:t>
            </a:r>
          </a:p>
        </p:txBody>
      </p:sp>
      <p:sp>
        <p:nvSpPr>
          <p:cNvPr id="95" name="Rectangle 224"/>
          <p:cNvSpPr>
            <a:spLocks noChangeArrowheads="1"/>
          </p:cNvSpPr>
          <p:nvPr/>
        </p:nvSpPr>
        <p:spPr bwMode="auto">
          <a:xfrm>
            <a:off x="6629" y="8692047"/>
            <a:ext cx="4322700" cy="95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0000" tIns="46800" rIns="90000" bIns="4680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kumimoji="0" lang="fr-FR" altLang="fr-FR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</a:rPr>
              <a:t> : Tension d’alimentation, tension simple </a:t>
            </a:r>
            <a:r>
              <a:rPr lang="fr-FR" altLang="fr-FR" sz="1400" i="1" dirty="0">
                <a:solidFill>
                  <a:srgbClr val="000000"/>
                </a:solidFill>
                <a:latin typeface="Calibri" pitchFamily="34" charset="0"/>
              </a:rPr>
              <a:t>(phase neutre)</a:t>
            </a:r>
            <a:endParaRPr lang="fr-FR" altLang="fr-FR" sz="1400" dirty="0">
              <a:latin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</a:t>
            </a:r>
            <a:r>
              <a:rPr kumimoji="0" lang="fr-FR" altLang="fr-FR" sz="14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(ou </a:t>
            </a:r>
            <a:r>
              <a:rPr kumimoji="0" lang="fr-FR" altLang="fr-FR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J</a:t>
            </a:r>
            <a:r>
              <a:rPr kumimoji="0" lang="fr-FR" altLang="fr-FR" sz="14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: Courant dans un enroulement du stator</a:t>
            </a:r>
          </a:p>
          <a:p>
            <a:pPr algn="just"/>
            <a:r>
              <a:rPr lang="fr-FR" altLang="fr-FR" sz="1400" b="1" u="sng" dirty="0">
                <a:latin typeface="Calibri" panose="020F0502020204030204" pitchFamily="34" charset="0"/>
              </a:rPr>
              <a:t>E</a:t>
            </a:r>
            <a:r>
              <a:rPr lang="fr-FR" altLang="fr-FR" sz="1400" dirty="0">
                <a:latin typeface="Calibri" panose="020F0502020204030204" pitchFamily="34" charset="0"/>
              </a:rPr>
              <a:t> : F</a:t>
            </a:r>
            <a:r>
              <a:rPr lang="fr-FR" sz="1400" dirty="0">
                <a:latin typeface="Calibri" panose="020F0502020204030204" pitchFamily="34" charset="0"/>
              </a:rPr>
              <a:t>ém développée par la rotation du rotor</a:t>
            </a:r>
          </a:p>
          <a:p>
            <a:pPr algn="just"/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et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: Résistance et inductance d’un enroulement</a:t>
            </a:r>
          </a:p>
        </p:txBody>
      </p:sp>
      <p:sp>
        <p:nvSpPr>
          <p:cNvPr id="419" name="Text Box 2078"/>
          <p:cNvSpPr txBox="1">
            <a:spLocks noChangeArrowheads="1"/>
          </p:cNvSpPr>
          <p:nvPr/>
        </p:nvSpPr>
        <p:spPr bwMode="auto">
          <a:xfrm>
            <a:off x="4560800" y="5604962"/>
            <a:ext cx="4010690" cy="495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rot="0" vert="horz" wrap="square" lIns="90000" tIns="46800" rIns="90000" bIns="46800" anchor="t" anchorCtr="0" upright="1">
            <a:noAutofit/>
          </a:bodyPr>
          <a:lstStyle/>
          <a:p>
            <a:pPr>
              <a:spcAft>
                <a:spcPts val="0"/>
              </a:spcAft>
            </a:pPr>
            <a:r>
              <a:rPr lang="fr-FR" sz="1400" dirty="0">
                <a:latin typeface="Calibri" panose="020F0502020204030204" pitchFamily="34" charset="0"/>
                <a:ea typeface="Times New Roman"/>
              </a:rPr>
              <a:t>R</a:t>
            </a:r>
            <a:r>
              <a:rPr lang="fr-FR" sz="1400" dirty="0">
                <a:effectLst/>
                <a:latin typeface="Calibri" panose="020F0502020204030204" pitchFamily="34" charset="0"/>
                <a:ea typeface="Times New Roman"/>
              </a:rPr>
              <a:t> est généralement négligeable devant X, on obtient alors le diagramme </a:t>
            </a:r>
            <a:r>
              <a:rPr lang="fr-FR" sz="1400" dirty="0">
                <a:latin typeface="Calibri" panose="020F0502020204030204" pitchFamily="34" charset="0"/>
                <a:ea typeface="Times New Roman"/>
              </a:rPr>
              <a:t>vectoriel </a:t>
            </a:r>
            <a:r>
              <a:rPr lang="fr-FR" sz="1400" dirty="0">
                <a:effectLst/>
                <a:latin typeface="Calibri" panose="020F0502020204030204" pitchFamily="34" charset="0"/>
                <a:ea typeface="Times New Roman"/>
              </a:rPr>
              <a:t>suivant :</a:t>
            </a:r>
          </a:p>
          <a:p>
            <a:pPr>
              <a:spcAft>
                <a:spcPts val="0"/>
              </a:spcAft>
            </a:pPr>
            <a:r>
              <a:rPr lang="fr-FR" sz="1400" dirty="0">
                <a:effectLst/>
                <a:latin typeface="Calibri" panose="020F0502020204030204" pitchFamily="34" charset="0"/>
                <a:ea typeface="Times New Roman"/>
              </a:rPr>
              <a:t> </a:t>
            </a:r>
          </a:p>
        </p:txBody>
      </p:sp>
      <p:sp>
        <p:nvSpPr>
          <p:cNvPr id="448" name="Text Box 246"/>
          <p:cNvSpPr txBox="1">
            <a:spLocks noChangeArrowheads="1"/>
          </p:cNvSpPr>
          <p:nvPr/>
        </p:nvSpPr>
        <p:spPr bwMode="auto">
          <a:xfrm>
            <a:off x="-34925" y="-1588"/>
            <a:ext cx="2174875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279525" eaLnBrk="0" hangingPunct="0">
              <a:spcBef>
                <a:spcPct val="20000"/>
              </a:spcBef>
              <a:buChar char="•"/>
              <a:defRPr sz="45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1279525" eaLnBrk="0" hangingPunct="0">
              <a:spcBef>
                <a:spcPct val="20000"/>
              </a:spcBef>
              <a:buChar char="–"/>
              <a:defRPr sz="3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1279525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1279525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1279525" eaLnBrk="0" hangingPunct="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12795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12795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12795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12795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400" i="1" u="sng" dirty="0">
                <a:solidFill>
                  <a:schemeClr val="bg2"/>
                </a:solidFill>
                <a:latin typeface="Calibri" pitchFamily="34" charset="0"/>
              </a:rPr>
              <a:t>ATS - Lycée R.DOISNEAU</a:t>
            </a:r>
          </a:p>
        </p:txBody>
      </p:sp>
      <p:sp>
        <p:nvSpPr>
          <p:cNvPr id="449" name="ZoneTexte 114"/>
          <p:cNvSpPr txBox="1">
            <a:spLocks noChangeArrowheads="1"/>
          </p:cNvSpPr>
          <p:nvPr/>
        </p:nvSpPr>
        <p:spPr bwMode="auto">
          <a:xfrm>
            <a:off x="3852863" y="47625"/>
            <a:ext cx="5500687" cy="400050"/>
          </a:xfrm>
          <a:prstGeom prst="rect">
            <a:avLst/>
          </a:prstGeom>
          <a:solidFill>
            <a:srgbClr val="3399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4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3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3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000" b="1" u="sng" dirty="0">
                <a:solidFill>
                  <a:schemeClr val="bg1"/>
                </a:solidFill>
                <a:latin typeface="Calibri" pitchFamily="34" charset="0"/>
              </a:rPr>
              <a:t>MACHINE SYNCHRONE</a:t>
            </a:r>
          </a:p>
        </p:txBody>
      </p:sp>
      <p:sp>
        <p:nvSpPr>
          <p:cNvPr id="452" name="ZoneTexte 43"/>
          <p:cNvSpPr txBox="1"/>
          <p:nvPr/>
        </p:nvSpPr>
        <p:spPr>
          <a:xfrm>
            <a:off x="404804" y="6620938"/>
            <a:ext cx="647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fr-FR" altLang="fr-FR" sz="1400" dirty="0">
                <a:solidFill>
                  <a:srgbClr val="FF6600"/>
                </a:solidFill>
                <a:latin typeface="Calibri" pitchFamily="34" charset="0"/>
              </a:rPr>
              <a:t>tr/s</a:t>
            </a:r>
          </a:p>
        </p:txBody>
      </p:sp>
      <p:sp>
        <p:nvSpPr>
          <p:cNvPr id="453" name="Line 37"/>
          <p:cNvSpPr>
            <a:spLocks noChangeShapeType="1"/>
          </p:cNvSpPr>
          <p:nvPr/>
        </p:nvSpPr>
        <p:spPr bwMode="auto">
          <a:xfrm>
            <a:off x="315605" y="6424979"/>
            <a:ext cx="132151" cy="3175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38" name="Groupe 37"/>
          <p:cNvGrpSpPr/>
          <p:nvPr/>
        </p:nvGrpSpPr>
        <p:grpSpPr>
          <a:xfrm>
            <a:off x="365929" y="7418345"/>
            <a:ext cx="3399953" cy="1242137"/>
            <a:chOff x="421346" y="7189302"/>
            <a:chExt cx="3399953" cy="1242137"/>
          </a:xfrm>
        </p:grpSpPr>
        <p:sp>
          <p:nvSpPr>
            <p:cNvPr id="52" name="Rectangle 182"/>
            <p:cNvSpPr>
              <a:spLocks noChangeArrowheads="1"/>
            </p:cNvSpPr>
            <p:nvPr/>
          </p:nvSpPr>
          <p:spPr bwMode="auto">
            <a:xfrm>
              <a:off x="1065893" y="7504163"/>
              <a:ext cx="741264" cy="184963"/>
            </a:xfrm>
            <a:prstGeom prst="rect">
              <a:avLst/>
            </a:prstGeom>
            <a:noFill/>
            <a:ln w="190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183"/>
            <p:cNvSpPr>
              <a:spLocks/>
            </p:cNvSpPr>
            <p:nvPr/>
          </p:nvSpPr>
          <p:spPr bwMode="auto">
            <a:xfrm>
              <a:off x="2083895" y="7457569"/>
              <a:ext cx="184963" cy="139782"/>
            </a:xfrm>
            <a:custGeom>
              <a:avLst/>
              <a:gdLst>
                <a:gd name="T0" fmla="*/ 131 w 131"/>
                <a:gd name="T1" fmla="*/ 97 h 99"/>
                <a:gd name="T2" fmla="*/ 66 w 131"/>
                <a:gd name="T3" fmla="*/ 0 h 99"/>
                <a:gd name="T4" fmla="*/ 0 w 131"/>
                <a:gd name="T5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1" h="99">
                  <a:moveTo>
                    <a:pt x="131" y="97"/>
                  </a:moveTo>
                  <a:cubicBezTo>
                    <a:pt x="131" y="44"/>
                    <a:pt x="102" y="0"/>
                    <a:pt x="66" y="0"/>
                  </a:cubicBezTo>
                  <a:cubicBezTo>
                    <a:pt x="30" y="0"/>
                    <a:pt x="0" y="45"/>
                    <a:pt x="0" y="99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184"/>
            <p:cNvSpPr>
              <a:spLocks/>
            </p:cNvSpPr>
            <p:nvPr/>
          </p:nvSpPr>
          <p:spPr bwMode="auto">
            <a:xfrm>
              <a:off x="2268857" y="7457569"/>
              <a:ext cx="186375" cy="138369"/>
            </a:xfrm>
            <a:custGeom>
              <a:avLst/>
              <a:gdLst>
                <a:gd name="T0" fmla="*/ 132 w 132"/>
                <a:gd name="T1" fmla="*/ 97 h 98"/>
                <a:gd name="T2" fmla="*/ 66 w 132"/>
                <a:gd name="T3" fmla="*/ 0 h 98"/>
                <a:gd name="T4" fmla="*/ 0 w 132"/>
                <a:gd name="T5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98">
                  <a:moveTo>
                    <a:pt x="132" y="97"/>
                  </a:moveTo>
                  <a:cubicBezTo>
                    <a:pt x="131" y="43"/>
                    <a:pt x="102" y="0"/>
                    <a:pt x="66" y="0"/>
                  </a:cubicBezTo>
                  <a:cubicBezTo>
                    <a:pt x="30" y="0"/>
                    <a:pt x="0" y="44"/>
                    <a:pt x="0" y="98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185"/>
            <p:cNvSpPr>
              <a:spLocks/>
            </p:cNvSpPr>
            <p:nvPr/>
          </p:nvSpPr>
          <p:spPr bwMode="auto">
            <a:xfrm>
              <a:off x="2455232" y="7457569"/>
              <a:ext cx="184963" cy="138369"/>
            </a:xfrm>
            <a:custGeom>
              <a:avLst/>
              <a:gdLst>
                <a:gd name="T0" fmla="*/ 131 w 131"/>
                <a:gd name="T1" fmla="*/ 97 h 98"/>
                <a:gd name="T2" fmla="*/ 65 w 131"/>
                <a:gd name="T3" fmla="*/ 0 h 98"/>
                <a:gd name="T4" fmla="*/ 0 w 131"/>
                <a:gd name="T5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1" h="98">
                  <a:moveTo>
                    <a:pt x="131" y="97"/>
                  </a:moveTo>
                  <a:cubicBezTo>
                    <a:pt x="130" y="43"/>
                    <a:pt x="101" y="0"/>
                    <a:pt x="65" y="0"/>
                  </a:cubicBezTo>
                  <a:cubicBezTo>
                    <a:pt x="29" y="0"/>
                    <a:pt x="0" y="44"/>
                    <a:pt x="0" y="98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Freeform 186"/>
            <p:cNvSpPr>
              <a:spLocks/>
            </p:cNvSpPr>
            <p:nvPr/>
          </p:nvSpPr>
          <p:spPr bwMode="auto">
            <a:xfrm>
              <a:off x="2640196" y="7457569"/>
              <a:ext cx="184963" cy="138369"/>
            </a:xfrm>
            <a:custGeom>
              <a:avLst/>
              <a:gdLst>
                <a:gd name="T0" fmla="*/ 131 w 131"/>
                <a:gd name="T1" fmla="*/ 97 h 98"/>
                <a:gd name="T2" fmla="*/ 65 w 131"/>
                <a:gd name="T3" fmla="*/ 0 h 98"/>
                <a:gd name="T4" fmla="*/ 0 w 131"/>
                <a:gd name="T5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1" h="98">
                  <a:moveTo>
                    <a:pt x="131" y="97"/>
                  </a:moveTo>
                  <a:cubicBezTo>
                    <a:pt x="130" y="43"/>
                    <a:pt x="101" y="0"/>
                    <a:pt x="65" y="0"/>
                  </a:cubicBezTo>
                  <a:cubicBezTo>
                    <a:pt x="29" y="0"/>
                    <a:pt x="0" y="44"/>
                    <a:pt x="0" y="98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Line 187"/>
            <p:cNvSpPr>
              <a:spLocks noChangeShapeType="1"/>
            </p:cNvSpPr>
            <p:nvPr/>
          </p:nvSpPr>
          <p:spPr bwMode="auto">
            <a:xfrm>
              <a:off x="1807157" y="7595938"/>
              <a:ext cx="276738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8" name="Line 188"/>
            <p:cNvSpPr>
              <a:spLocks noChangeShapeType="1"/>
            </p:cNvSpPr>
            <p:nvPr/>
          </p:nvSpPr>
          <p:spPr bwMode="auto">
            <a:xfrm>
              <a:off x="2825158" y="7595938"/>
              <a:ext cx="509707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9" name="Line 189"/>
            <p:cNvSpPr>
              <a:spLocks noChangeShapeType="1"/>
            </p:cNvSpPr>
            <p:nvPr/>
          </p:nvSpPr>
          <p:spPr bwMode="auto">
            <a:xfrm>
              <a:off x="602779" y="7595938"/>
              <a:ext cx="463113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Oval 190"/>
            <p:cNvSpPr>
              <a:spLocks noChangeArrowheads="1"/>
            </p:cNvSpPr>
            <p:nvPr/>
          </p:nvSpPr>
          <p:spPr bwMode="auto">
            <a:xfrm>
              <a:off x="3125990" y="7804814"/>
              <a:ext cx="432000" cy="432000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Line 191"/>
            <p:cNvSpPr>
              <a:spLocks noChangeShapeType="1"/>
            </p:cNvSpPr>
            <p:nvPr/>
          </p:nvSpPr>
          <p:spPr bwMode="auto">
            <a:xfrm>
              <a:off x="602779" y="8431439"/>
              <a:ext cx="2732086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2" name="Line 192"/>
            <p:cNvSpPr>
              <a:spLocks noChangeShapeType="1"/>
            </p:cNvSpPr>
            <p:nvPr/>
          </p:nvSpPr>
          <p:spPr bwMode="auto">
            <a:xfrm>
              <a:off x="3334865" y="7595938"/>
              <a:ext cx="0" cy="83445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5" name="Rectangle 195"/>
            <p:cNvSpPr>
              <a:spLocks noChangeArrowheads="1"/>
            </p:cNvSpPr>
            <p:nvPr/>
          </p:nvSpPr>
          <p:spPr bwMode="auto">
            <a:xfrm>
              <a:off x="3732905" y="7929087"/>
              <a:ext cx="88394" cy="21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600" b="1" u="sng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E</a:t>
              </a:r>
              <a:endParaRPr kumimoji="0" lang="fr-FR" altLang="fr-FR" sz="1800" b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endParaRPr>
            </a:p>
          </p:txBody>
        </p:sp>
        <p:sp>
          <p:nvSpPr>
            <p:cNvPr id="69" name="Rectangle 199"/>
            <p:cNvSpPr>
              <a:spLocks noChangeArrowheads="1"/>
            </p:cNvSpPr>
            <p:nvPr/>
          </p:nvSpPr>
          <p:spPr bwMode="auto">
            <a:xfrm>
              <a:off x="421346" y="7935249"/>
              <a:ext cx="256149" cy="21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600" b="1" u="sng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V</a:t>
              </a:r>
              <a:endParaRPr kumimoji="0" lang="fr-FR" altLang="fr-FR" sz="1800" b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endParaRPr>
            </a:p>
          </p:txBody>
        </p:sp>
        <p:sp>
          <p:nvSpPr>
            <p:cNvPr id="73" name="Rectangle 203"/>
            <p:cNvSpPr>
              <a:spLocks noChangeArrowheads="1"/>
            </p:cNvSpPr>
            <p:nvPr/>
          </p:nvSpPr>
          <p:spPr bwMode="auto">
            <a:xfrm>
              <a:off x="1390281" y="7251427"/>
              <a:ext cx="99800" cy="21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600" b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R</a:t>
              </a:r>
              <a:endParaRPr kumimoji="0" lang="fr-FR" altLang="fr-FR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endParaRPr>
            </a:p>
          </p:txBody>
        </p:sp>
        <p:sp>
          <p:nvSpPr>
            <p:cNvPr id="75" name="Rectangle 205"/>
            <p:cNvSpPr>
              <a:spLocks noChangeArrowheads="1"/>
            </p:cNvSpPr>
            <p:nvPr/>
          </p:nvSpPr>
          <p:spPr bwMode="auto">
            <a:xfrm>
              <a:off x="2219988" y="7214252"/>
              <a:ext cx="158088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600" b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X = L</a:t>
              </a:r>
              <a:r>
                <a:rPr kumimoji="0" lang="fr-FR" altLang="fr-FR" sz="1600" b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  <a:sym typeface="Symbol"/>
                </a:rPr>
                <a:t> = Réactance</a:t>
              </a:r>
              <a:endParaRPr kumimoji="0" lang="fr-FR" altLang="fr-FR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endParaRPr>
            </a:p>
          </p:txBody>
        </p:sp>
        <p:sp>
          <p:nvSpPr>
            <p:cNvPr id="77" name="Rectangle 207"/>
            <p:cNvSpPr>
              <a:spLocks noChangeArrowheads="1"/>
            </p:cNvSpPr>
            <p:nvPr/>
          </p:nvSpPr>
          <p:spPr bwMode="auto">
            <a:xfrm>
              <a:off x="2688201" y="7189302"/>
              <a:ext cx="144017" cy="289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6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 </a:t>
              </a:r>
              <a:endPara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8" name="Rectangle 208"/>
            <p:cNvSpPr>
              <a:spLocks noChangeArrowheads="1"/>
            </p:cNvSpPr>
            <p:nvPr/>
          </p:nvSpPr>
          <p:spPr bwMode="auto">
            <a:xfrm>
              <a:off x="1357438" y="7813244"/>
              <a:ext cx="200513" cy="21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600" b="1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R.</a:t>
              </a:r>
              <a:r>
                <a:rPr kumimoji="0" lang="fr-FR" altLang="fr-FR" sz="1600" b="1" u="sng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I</a:t>
              </a:r>
              <a:endParaRPr kumimoji="0" lang="fr-FR" altLang="fr-FR" sz="1800" b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endParaRPr>
            </a:p>
          </p:txBody>
        </p:sp>
        <p:sp>
          <p:nvSpPr>
            <p:cNvPr id="83" name="Rectangle 213"/>
            <p:cNvSpPr>
              <a:spLocks noChangeArrowheads="1"/>
            </p:cNvSpPr>
            <p:nvPr/>
          </p:nvSpPr>
          <p:spPr bwMode="auto">
            <a:xfrm>
              <a:off x="2332461" y="7733146"/>
              <a:ext cx="245224" cy="21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600" b="1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jX.</a:t>
              </a:r>
              <a:r>
                <a:rPr kumimoji="0" lang="fr-FR" altLang="fr-FR" sz="1600" b="1" u="sng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I</a:t>
              </a:r>
              <a:endParaRPr kumimoji="0" lang="fr-FR" altLang="fr-FR" sz="1800" b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endParaRPr>
            </a:p>
          </p:txBody>
        </p:sp>
        <p:sp>
          <p:nvSpPr>
            <p:cNvPr id="87" name="Rectangle 217"/>
            <p:cNvSpPr>
              <a:spLocks noChangeArrowheads="1"/>
            </p:cNvSpPr>
            <p:nvPr/>
          </p:nvSpPr>
          <p:spPr bwMode="auto">
            <a:xfrm>
              <a:off x="766839" y="7251286"/>
              <a:ext cx="48474" cy="21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600" b="1" u="sng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I</a:t>
              </a:r>
              <a:endParaRPr kumimoji="0" lang="fr-FR" altLang="fr-FR" sz="1800" b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endParaRPr>
            </a:p>
          </p:txBody>
        </p:sp>
        <p:cxnSp>
          <p:nvCxnSpPr>
            <p:cNvPr id="32" name="Connecteur droit avec flèche 31"/>
            <p:cNvCxnSpPr/>
            <p:nvPr/>
          </p:nvCxnSpPr>
          <p:spPr bwMode="auto">
            <a:xfrm flipV="1">
              <a:off x="641588" y="7689126"/>
              <a:ext cx="0" cy="68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  <a:effectLst/>
          </p:spPr>
        </p:cxnSp>
        <p:cxnSp>
          <p:nvCxnSpPr>
            <p:cNvPr id="454" name="Connecteur droit avec flèche 453"/>
            <p:cNvCxnSpPr/>
            <p:nvPr/>
          </p:nvCxnSpPr>
          <p:spPr bwMode="auto">
            <a:xfrm flipH="1">
              <a:off x="1006964" y="7794905"/>
              <a:ext cx="82173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  <a:effectLst/>
          </p:spPr>
        </p:cxnSp>
        <p:cxnSp>
          <p:nvCxnSpPr>
            <p:cNvPr id="455" name="Connecteur droit avec flèche 454"/>
            <p:cNvCxnSpPr/>
            <p:nvPr/>
          </p:nvCxnSpPr>
          <p:spPr bwMode="auto">
            <a:xfrm flipH="1">
              <a:off x="2043656" y="7718855"/>
              <a:ext cx="82173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  <a:effectLst/>
          </p:spPr>
        </p:cxnSp>
        <p:cxnSp>
          <p:nvCxnSpPr>
            <p:cNvPr id="35" name="Connecteur droit avec flèche 34"/>
            <p:cNvCxnSpPr/>
            <p:nvPr/>
          </p:nvCxnSpPr>
          <p:spPr bwMode="auto">
            <a:xfrm>
              <a:off x="709582" y="7600174"/>
              <a:ext cx="16009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56" name="Connecteur droit avec flèche 455"/>
            <p:cNvCxnSpPr/>
            <p:nvPr/>
          </p:nvCxnSpPr>
          <p:spPr bwMode="auto">
            <a:xfrm flipV="1">
              <a:off x="3647494" y="7730145"/>
              <a:ext cx="0" cy="57633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  <a:effectLst/>
          </p:spPr>
        </p:cxnSp>
      </p:grpSp>
      <p:sp>
        <p:nvSpPr>
          <p:cNvPr id="39" name="Rectangle 38"/>
          <p:cNvSpPr/>
          <p:nvPr/>
        </p:nvSpPr>
        <p:spPr>
          <a:xfrm>
            <a:off x="-16874" y="7141378"/>
            <a:ext cx="40176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fr-FR" sz="1400" dirty="0">
                <a:solidFill>
                  <a:srgbClr val="000000"/>
                </a:solidFill>
              </a:rPr>
              <a:t>Ce modèle est réduit à un </a:t>
            </a:r>
            <a:r>
              <a:rPr lang="fr-FR" sz="1400" b="1" dirty="0">
                <a:solidFill>
                  <a:srgbClr val="C00000"/>
                </a:solidFill>
              </a:rPr>
              <a:t>circuit R, L, E série</a:t>
            </a:r>
            <a:r>
              <a:rPr lang="fr-FR" sz="1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59" name="Rectangle 1280"/>
          <p:cNvSpPr>
            <a:spLocks noChangeArrowheads="1"/>
          </p:cNvSpPr>
          <p:nvPr/>
        </p:nvSpPr>
        <p:spPr bwMode="auto">
          <a:xfrm>
            <a:off x="4547925" y="720900"/>
            <a:ext cx="2448000" cy="2160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460" name="ZoneTexte 21"/>
          <p:cNvSpPr txBox="1">
            <a:spLocks noChangeArrowheads="1"/>
          </p:cNvSpPr>
          <p:nvPr/>
        </p:nvSpPr>
        <p:spPr bwMode="auto">
          <a:xfrm>
            <a:off x="4500042" y="665305"/>
            <a:ext cx="3565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alt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altLang="fr-FR" sz="1600" b="1" dirty="0">
                <a:solidFill>
                  <a:srgbClr val="00B050"/>
                </a:solidFill>
                <a:latin typeface="Calibri" pitchFamily="34" charset="0"/>
              </a:rPr>
              <a:t> Equations fondamentales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3127" y="936900"/>
            <a:ext cx="400523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</a:rPr>
              <a:t>La fém E est directement proportionnelle à la vitesse et au flux </a:t>
            </a:r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  <a:sym typeface="Symbol"/>
              </a:rPr>
              <a:t></a:t>
            </a:r>
            <a:r>
              <a:rPr lang="fr-FR" sz="1400" dirty="0">
                <a:solidFill>
                  <a:srgbClr val="000000"/>
                </a:solidFill>
                <a:latin typeface="Calibri" panose="020F0502020204030204" pitchFamily="34" charset="0"/>
              </a:rPr>
              <a:t> sous un pôle qui dépend de l’excitation magnétique fournie par l’inducteur tournant.</a:t>
            </a:r>
          </a:p>
        </p:txBody>
      </p:sp>
      <p:sp>
        <p:nvSpPr>
          <p:cNvPr id="461" name="Rectangle à coins arrondis 460"/>
          <p:cNvSpPr/>
          <p:nvPr/>
        </p:nvSpPr>
        <p:spPr bwMode="auto">
          <a:xfrm>
            <a:off x="5116628" y="2382105"/>
            <a:ext cx="2808172" cy="611998"/>
          </a:xfrm>
          <a:prstGeom prst="roundRect">
            <a:avLst>
              <a:gd name="adj" fmla="val 18035"/>
            </a:avLst>
          </a:prstGeom>
          <a:solidFill>
            <a:srgbClr val="94BEF0"/>
          </a:solidFill>
          <a:ln w="19050" cap="rnd" cmpd="sng" algn="ctr">
            <a:solidFill>
              <a:srgbClr val="FF31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sx="102000" sy="102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  <a:scene3d>
            <a:camera prst="orthographicFront"/>
            <a:lightRig rig="threePt" dir="tl"/>
          </a:scene3d>
          <a:sp3d extrusionH="76200" contourW="25400">
            <a:bevelT w="127000" h="127000"/>
            <a:extrusionClr>
              <a:srgbClr val="FF0000"/>
            </a:extrusionClr>
            <a:contourClr>
              <a:srgbClr val="FF0000"/>
            </a:contourClr>
          </a:sp3d>
        </p:spPr>
        <p:txBody>
          <a:bodyPr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defTabSz="957263">
              <a:defRPr/>
            </a:pPr>
            <a:endParaRPr lang="fr-FR" b="1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462" name="Rectangle à coins arrondis 461"/>
          <p:cNvSpPr/>
          <p:nvPr/>
        </p:nvSpPr>
        <p:spPr bwMode="auto">
          <a:xfrm>
            <a:off x="5885607" y="2040580"/>
            <a:ext cx="1296000" cy="263474"/>
          </a:xfrm>
          <a:prstGeom prst="roundRect">
            <a:avLst>
              <a:gd name="adj" fmla="val 18035"/>
            </a:avLst>
          </a:prstGeom>
          <a:solidFill>
            <a:srgbClr val="94BEF0"/>
          </a:solidFill>
          <a:ln w="19050" cap="rnd" cmpd="sng" algn="ctr">
            <a:solidFill>
              <a:srgbClr val="FF31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sx="102000" sy="102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  <a:scene3d>
            <a:camera prst="orthographicFront"/>
            <a:lightRig rig="threePt" dir="tl"/>
          </a:scene3d>
          <a:sp3d extrusionH="76200" contourW="25400">
            <a:bevelT w="127000" h="127000"/>
            <a:extrusionClr>
              <a:srgbClr val="FF0000"/>
            </a:extrusionClr>
            <a:contourClr>
              <a:srgbClr val="FF0000"/>
            </a:contourClr>
          </a:sp3d>
        </p:spPr>
        <p:txBody>
          <a:bodyPr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defTabSz="957263">
              <a:defRPr/>
            </a:pPr>
            <a:endParaRPr lang="fr-FR" b="1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465" name="ZoneTexte 43"/>
          <p:cNvSpPr txBox="1">
            <a:spLocks noChangeArrowheads="1"/>
          </p:cNvSpPr>
          <p:nvPr/>
        </p:nvSpPr>
        <p:spPr bwMode="auto">
          <a:xfrm>
            <a:off x="6322378" y="1631232"/>
            <a:ext cx="18230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Aft>
                <a:spcPts val="0"/>
              </a:spcAft>
            </a:pPr>
            <a:r>
              <a:rPr lang="fr-FR" sz="1400" dirty="0">
                <a:ea typeface="Calibri"/>
                <a:cs typeface="Arial"/>
              </a:rPr>
              <a:t>En complexe, </a:t>
            </a:r>
            <a:r>
              <a:rPr lang="fr-FR" sz="1400" i="1" u="sng" dirty="0">
                <a:solidFill>
                  <a:srgbClr val="FF6600"/>
                </a:solidFill>
                <a:ea typeface="Calibri"/>
                <a:cs typeface="Arial"/>
              </a:rPr>
              <a:t>E</a:t>
            </a:r>
            <a:r>
              <a:rPr lang="fr-FR" sz="1400" i="1" dirty="0">
                <a:solidFill>
                  <a:srgbClr val="FF6600"/>
                </a:solidFill>
                <a:ea typeface="Calibri"/>
                <a:cs typeface="Arial"/>
              </a:rPr>
              <a:t> = j</a:t>
            </a:r>
            <a:r>
              <a:rPr lang="fr-FR" sz="1400" i="1" dirty="0">
                <a:solidFill>
                  <a:srgbClr val="FF6600"/>
                </a:solidFill>
                <a:ea typeface="Calibri"/>
                <a:cs typeface="Arial"/>
                <a:sym typeface="Symbol"/>
              </a:rPr>
              <a:t>.</a:t>
            </a:r>
            <a:r>
              <a:rPr lang="fr-FR" sz="1400" i="1" u="sng" dirty="0">
                <a:solidFill>
                  <a:srgbClr val="FF6600"/>
                </a:solidFill>
                <a:ea typeface="Calibri"/>
                <a:cs typeface="Arial"/>
                <a:sym typeface="Symbol"/>
              </a:rPr>
              <a:t></a:t>
            </a:r>
            <a:endParaRPr lang="fr-FR" sz="1400" i="1" u="sng" dirty="0">
              <a:solidFill>
                <a:srgbClr val="FF6600"/>
              </a:solidFill>
              <a:effectLst/>
              <a:ea typeface="Calibri"/>
              <a:cs typeface="Times New Roman"/>
            </a:endParaRPr>
          </a:p>
        </p:txBody>
      </p:sp>
      <p:sp>
        <p:nvSpPr>
          <p:cNvPr id="466" name="Rectangle 465"/>
          <p:cNvSpPr/>
          <p:nvPr/>
        </p:nvSpPr>
        <p:spPr>
          <a:xfrm>
            <a:off x="4481998" y="1634141"/>
            <a:ext cx="20878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  <a:ea typeface="Calibri"/>
                <a:cs typeface="Arial"/>
              </a:rPr>
              <a:t>E = </a:t>
            </a:r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  <a:ea typeface="Calibri"/>
                <a:cs typeface="Arial"/>
                <a:sym typeface="Symbol"/>
              </a:rPr>
              <a:t>. </a:t>
            </a:r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</a:rPr>
              <a:t>= </a:t>
            </a:r>
            <a:r>
              <a:rPr lang="fr-FR" sz="1400" dirty="0" err="1">
                <a:solidFill>
                  <a:srgbClr val="003378"/>
                </a:solidFill>
                <a:latin typeface="Calibri" panose="020F0502020204030204" pitchFamily="34" charset="0"/>
              </a:rPr>
              <a:t>p.</a:t>
            </a:r>
            <a:r>
              <a:rPr lang="fr-FR" sz="1400" dirty="0" err="1">
                <a:solidFill>
                  <a:srgbClr val="003378"/>
                </a:solidFill>
                <a:latin typeface="Calibri" panose="020F0502020204030204" pitchFamily="34" charset="0"/>
                <a:sym typeface="Symbol"/>
              </a:rPr>
              <a:t></a:t>
            </a:r>
            <a:r>
              <a:rPr lang="fr-FR" sz="1400" baseline="-25000" dirty="0" err="1">
                <a:solidFill>
                  <a:srgbClr val="003378"/>
                </a:solidFill>
                <a:latin typeface="Calibri" panose="020F0502020204030204" pitchFamily="34" charset="0"/>
              </a:rPr>
              <a:t>s</a:t>
            </a:r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</a:rPr>
              <a:t>.</a:t>
            </a:r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  <a:sym typeface="Symbol"/>
              </a:rPr>
              <a:t></a:t>
            </a:r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</a:rPr>
              <a:t> = </a:t>
            </a:r>
            <a:r>
              <a:rPr lang="fr-FR" sz="1400" dirty="0" err="1">
                <a:solidFill>
                  <a:srgbClr val="003378"/>
                </a:solidFill>
                <a:latin typeface="Calibri" panose="020F0502020204030204" pitchFamily="34" charset="0"/>
              </a:rPr>
              <a:t>K</a:t>
            </a:r>
            <a:r>
              <a:rPr lang="fr-FR" sz="1400" baseline="-25000" dirty="0" err="1">
                <a:solidFill>
                  <a:srgbClr val="003378"/>
                </a:solidFill>
                <a:latin typeface="Calibri" panose="020F0502020204030204" pitchFamily="34" charset="0"/>
              </a:rPr>
              <a:t>e</a:t>
            </a:r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</a:rPr>
              <a:t>.</a:t>
            </a:r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  <a:sym typeface="Symbol"/>
              </a:rPr>
              <a:t></a:t>
            </a:r>
            <a:r>
              <a:rPr lang="fr-FR" sz="1400" baseline="-25000" dirty="0">
                <a:solidFill>
                  <a:srgbClr val="003378"/>
                </a:solidFill>
                <a:latin typeface="Calibri" panose="020F0502020204030204" pitchFamily="34" charset="0"/>
              </a:rPr>
              <a:t>s</a:t>
            </a:r>
            <a:endParaRPr lang="fr-FR" sz="1400" dirty="0">
              <a:solidFill>
                <a:srgbClr val="003378"/>
              </a:solidFill>
              <a:latin typeface="Calibri" panose="020F0502020204030204" pitchFamily="34" charset="0"/>
            </a:endParaRPr>
          </a:p>
        </p:txBody>
      </p:sp>
      <p:sp>
        <p:nvSpPr>
          <p:cNvPr id="467" name="ZoneTexte 43"/>
          <p:cNvSpPr txBox="1">
            <a:spLocks noChangeArrowheads="1"/>
          </p:cNvSpPr>
          <p:nvPr/>
        </p:nvSpPr>
        <p:spPr bwMode="auto">
          <a:xfrm>
            <a:off x="4470717" y="2009585"/>
            <a:ext cx="31061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>
              <a:spcAft>
                <a:spcPts val="0"/>
              </a:spcAft>
            </a:pPr>
            <a:r>
              <a:rPr lang="fr-FR" sz="1400" dirty="0">
                <a:ea typeface="Calibri"/>
                <a:cs typeface="Arial"/>
              </a:rPr>
              <a:t>Loi des mailles </a:t>
            </a:r>
            <a:r>
              <a:rPr lang="fr-FR" sz="1400" dirty="0">
                <a:ea typeface="Calibri"/>
                <a:cs typeface="Arial"/>
                <a:sym typeface="Symbol"/>
              </a:rPr>
              <a:t>  </a:t>
            </a:r>
            <a:r>
              <a:rPr lang="fr-FR" sz="1400" u="sng" dirty="0">
                <a:solidFill>
                  <a:srgbClr val="003378"/>
                </a:solidFill>
                <a:sym typeface="Symbol"/>
              </a:rPr>
              <a:t>V</a:t>
            </a:r>
            <a:r>
              <a:rPr lang="fr-FR" sz="1400" dirty="0">
                <a:solidFill>
                  <a:srgbClr val="003378"/>
                </a:solidFill>
                <a:sym typeface="Symbol"/>
              </a:rPr>
              <a:t> = </a:t>
            </a:r>
            <a:r>
              <a:rPr lang="fr-FR" sz="1400" u="sng" dirty="0">
                <a:solidFill>
                  <a:srgbClr val="003378"/>
                </a:solidFill>
                <a:sym typeface="Symbol"/>
              </a:rPr>
              <a:t>E</a:t>
            </a:r>
            <a:r>
              <a:rPr lang="fr-FR" sz="1400" dirty="0">
                <a:solidFill>
                  <a:srgbClr val="003378"/>
                </a:solidFill>
                <a:sym typeface="Symbol"/>
              </a:rPr>
              <a:t> </a:t>
            </a:r>
            <a:r>
              <a:rPr lang="fr-FR" sz="1400" dirty="0">
                <a:solidFill>
                  <a:srgbClr val="FF0000"/>
                </a:solidFill>
                <a:sym typeface="Symbol"/>
              </a:rPr>
              <a:t>+</a:t>
            </a:r>
            <a:r>
              <a:rPr lang="fr-FR" sz="1400" dirty="0">
                <a:solidFill>
                  <a:srgbClr val="003378"/>
                </a:solidFill>
                <a:sym typeface="Symbol"/>
              </a:rPr>
              <a:t> R.</a:t>
            </a:r>
            <a:r>
              <a:rPr lang="fr-FR" sz="1400" u="sng" dirty="0">
                <a:solidFill>
                  <a:srgbClr val="003378"/>
                </a:solidFill>
                <a:sym typeface="Symbol"/>
              </a:rPr>
              <a:t>I</a:t>
            </a:r>
            <a:r>
              <a:rPr lang="fr-FR" sz="1400" dirty="0">
                <a:solidFill>
                  <a:srgbClr val="003378"/>
                </a:solidFill>
                <a:sym typeface="Symbol"/>
              </a:rPr>
              <a:t> </a:t>
            </a:r>
            <a:r>
              <a:rPr lang="fr-FR" sz="1400" dirty="0">
                <a:solidFill>
                  <a:srgbClr val="FF0000"/>
                </a:solidFill>
                <a:sym typeface="Symbol"/>
              </a:rPr>
              <a:t>+</a:t>
            </a:r>
            <a:r>
              <a:rPr lang="fr-FR" sz="1400" dirty="0">
                <a:solidFill>
                  <a:srgbClr val="003378"/>
                </a:solidFill>
                <a:sym typeface="Symbol"/>
              </a:rPr>
              <a:t> </a:t>
            </a:r>
            <a:r>
              <a:rPr lang="fr-FR" sz="1400" dirty="0" err="1">
                <a:solidFill>
                  <a:srgbClr val="003378"/>
                </a:solidFill>
                <a:sym typeface="Symbol"/>
              </a:rPr>
              <a:t>jL</a:t>
            </a:r>
            <a:r>
              <a:rPr lang="fr-FR" sz="1400" dirty="0">
                <a:solidFill>
                  <a:srgbClr val="003378"/>
                </a:solidFill>
                <a:sym typeface="Symbol"/>
              </a:rPr>
              <a:t>.</a:t>
            </a:r>
            <a:r>
              <a:rPr lang="fr-FR" sz="1400" u="sng" dirty="0">
                <a:solidFill>
                  <a:srgbClr val="003378"/>
                </a:solidFill>
                <a:sym typeface="Symbol"/>
              </a:rPr>
              <a:t>I</a:t>
            </a:r>
          </a:p>
        </p:txBody>
      </p:sp>
      <p:sp>
        <p:nvSpPr>
          <p:cNvPr id="469" name="ZoneTexte 43"/>
          <p:cNvSpPr txBox="1">
            <a:spLocks noChangeArrowheads="1"/>
          </p:cNvSpPr>
          <p:nvPr/>
        </p:nvSpPr>
        <p:spPr bwMode="auto">
          <a:xfrm>
            <a:off x="4470717" y="2519346"/>
            <a:ext cx="7781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>
              <a:spcAft>
                <a:spcPts val="0"/>
              </a:spcAft>
            </a:pPr>
            <a:r>
              <a:rPr lang="fr-FR" sz="1400" dirty="0">
                <a:ea typeface="Calibri"/>
                <a:cs typeface="Arial"/>
              </a:rPr>
              <a:t>PFD </a:t>
            </a:r>
            <a:r>
              <a:rPr lang="fr-FR" sz="1400" dirty="0">
                <a:ea typeface="Calibri"/>
                <a:cs typeface="Arial"/>
                <a:sym typeface="Symbol"/>
              </a:rPr>
              <a:t> </a:t>
            </a:r>
            <a:endParaRPr lang="fr-FR" sz="1400" dirty="0">
              <a:effectLst/>
              <a:ea typeface="Calibri"/>
              <a:cs typeface="Times New Roman"/>
            </a:endParaRPr>
          </a:p>
        </p:txBody>
      </p:sp>
      <p:graphicFrame>
        <p:nvGraphicFramePr>
          <p:cNvPr id="470" name="Objet 4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262907"/>
              </p:ext>
            </p:extLst>
          </p:nvPr>
        </p:nvGraphicFramePr>
        <p:xfrm>
          <a:off x="5108806" y="2369816"/>
          <a:ext cx="2804300" cy="574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4" name="Equation" r:id="rId6" imgW="1916868" imgH="393529" progId="">
                  <p:embed/>
                </p:oleObj>
              </mc:Choice>
              <mc:Fallback>
                <p:oleObj name="Equation" r:id="rId6" imgW="1916868" imgH="393529" progId="">
                  <p:embed/>
                  <p:pic>
                    <p:nvPicPr>
                      <p:cNvPr id="0" name="Picture 1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806" y="2369816"/>
                        <a:ext cx="2804300" cy="5743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" name="Rectangle 1280"/>
          <p:cNvSpPr>
            <a:spLocks noChangeArrowheads="1"/>
          </p:cNvSpPr>
          <p:nvPr/>
        </p:nvSpPr>
        <p:spPr bwMode="auto">
          <a:xfrm>
            <a:off x="4614137" y="3332435"/>
            <a:ext cx="3096000" cy="217488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472" name="ZoneTexte 21"/>
          <p:cNvSpPr txBox="1">
            <a:spLocks noChangeArrowheads="1"/>
          </p:cNvSpPr>
          <p:nvPr/>
        </p:nvSpPr>
        <p:spPr bwMode="auto">
          <a:xfrm>
            <a:off x="4566254" y="3262985"/>
            <a:ext cx="35655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alt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altLang="fr-FR" sz="1600" b="1" dirty="0">
                <a:solidFill>
                  <a:srgbClr val="00B050"/>
                </a:solidFill>
                <a:latin typeface="Calibri" pitchFamily="34" charset="0"/>
              </a:rPr>
              <a:t> Diagramme de </a:t>
            </a:r>
            <a:r>
              <a:rPr lang="fr-FR" altLang="fr-FR" sz="1600" b="1" dirty="0" err="1">
                <a:solidFill>
                  <a:srgbClr val="00B050"/>
                </a:solidFill>
                <a:latin typeface="Calibri" pitchFamily="34" charset="0"/>
              </a:rPr>
              <a:t>Behn-Eschenburg</a:t>
            </a:r>
            <a:endParaRPr lang="fr-FR" altLang="fr-FR" sz="1600" b="1" dirty="0">
              <a:solidFill>
                <a:srgbClr val="00B050"/>
              </a:solidFill>
              <a:latin typeface="Calibri" pitchFamily="34" charset="0"/>
            </a:endParaRPr>
          </a:p>
        </p:txBody>
      </p:sp>
      <p:sp>
        <p:nvSpPr>
          <p:cNvPr id="473" name="Rectangle 472"/>
          <p:cNvSpPr/>
          <p:nvPr/>
        </p:nvSpPr>
        <p:spPr>
          <a:xfrm>
            <a:off x="4551940" y="3549923"/>
            <a:ext cx="40052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fr-FR" sz="1400" b="1" dirty="0">
                <a:solidFill>
                  <a:srgbClr val="C00000"/>
                </a:solidFill>
                <a:latin typeface="Calibri" panose="020F0502020204030204" pitchFamily="34" charset="0"/>
              </a:rPr>
              <a:t>= diagramme de Fresnel de la loi des mailles</a:t>
            </a:r>
          </a:p>
        </p:txBody>
      </p:sp>
      <p:grpSp>
        <p:nvGrpSpPr>
          <p:cNvPr id="187" name="Groupe 186"/>
          <p:cNvGrpSpPr/>
          <p:nvPr/>
        </p:nvGrpSpPr>
        <p:grpSpPr>
          <a:xfrm>
            <a:off x="4593755" y="6103131"/>
            <a:ext cx="3723355" cy="1056614"/>
            <a:chOff x="4510628" y="5840391"/>
            <a:chExt cx="3723355" cy="1056614"/>
          </a:xfrm>
        </p:grpSpPr>
        <p:sp>
          <p:nvSpPr>
            <p:cNvPr id="399" name="Arc 2000"/>
            <p:cNvSpPr>
              <a:spLocks/>
            </p:cNvSpPr>
            <p:nvPr/>
          </p:nvSpPr>
          <p:spPr bwMode="auto">
            <a:xfrm rot="1667900">
              <a:off x="4510628" y="5956418"/>
              <a:ext cx="1266590" cy="650964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593 w 21593"/>
                <a:gd name="T1" fmla="*/ 562 h 11436"/>
                <a:gd name="T2" fmla="*/ 18324 w 21593"/>
                <a:gd name="T3" fmla="*/ 11436 h 11436"/>
                <a:gd name="T4" fmla="*/ 0 w 21593"/>
                <a:gd name="T5" fmla="*/ 0 h 1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3" h="11436" fill="none" extrusionOk="0">
                  <a:moveTo>
                    <a:pt x="21592" y="561"/>
                  </a:moveTo>
                  <a:cubicBezTo>
                    <a:pt x="21492" y="4413"/>
                    <a:pt x="20363" y="8167"/>
                    <a:pt x="18324" y="11436"/>
                  </a:cubicBezTo>
                </a:path>
                <a:path w="21593" h="11436" stroke="0" extrusionOk="0">
                  <a:moveTo>
                    <a:pt x="21592" y="561"/>
                  </a:moveTo>
                  <a:cubicBezTo>
                    <a:pt x="21492" y="4413"/>
                    <a:pt x="20363" y="8167"/>
                    <a:pt x="18324" y="11436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triangle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389" name="Line 1989"/>
            <p:cNvCxnSpPr/>
            <p:nvPr/>
          </p:nvCxnSpPr>
          <p:spPr bwMode="auto">
            <a:xfrm flipV="1">
              <a:off x="4784779" y="5891105"/>
              <a:ext cx="3449204" cy="28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0" name="Line 1991"/>
            <p:cNvCxnSpPr/>
            <p:nvPr/>
          </p:nvCxnSpPr>
          <p:spPr bwMode="auto">
            <a:xfrm flipV="1">
              <a:off x="6999400" y="5891106"/>
              <a:ext cx="1234583" cy="8997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1" name="Line 1992"/>
            <p:cNvCxnSpPr/>
            <p:nvPr/>
          </p:nvCxnSpPr>
          <p:spPr bwMode="auto">
            <a:xfrm>
              <a:off x="4784779" y="5893960"/>
              <a:ext cx="2259963" cy="8969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2" name="Arc 1993"/>
            <p:cNvSpPr>
              <a:spLocks/>
            </p:cNvSpPr>
            <p:nvPr/>
          </p:nvSpPr>
          <p:spPr bwMode="auto">
            <a:xfrm rot="430026">
              <a:off x="4704529" y="5851374"/>
              <a:ext cx="483038" cy="433426"/>
            </a:xfrm>
            <a:custGeom>
              <a:avLst/>
              <a:gdLst>
                <a:gd name="G0" fmla="+- 0 0 0"/>
                <a:gd name="G1" fmla="+- 778 0 0"/>
                <a:gd name="G2" fmla="+- 21600 0 0"/>
                <a:gd name="T0" fmla="*/ 21586 w 21600"/>
                <a:gd name="T1" fmla="*/ 0 h 14000"/>
                <a:gd name="T2" fmla="*/ 17080 w 21600"/>
                <a:gd name="T3" fmla="*/ 14000 h 14000"/>
                <a:gd name="T4" fmla="*/ 0 w 21600"/>
                <a:gd name="T5" fmla="*/ 778 h 14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4000" fill="none" extrusionOk="0">
                  <a:moveTo>
                    <a:pt x="21585" y="0"/>
                  </a:moveTo>
                  <a:cubicBezTo>
                    <a:pt x="21595" y="259"/>
                    <a:pt x="21600" y="518"/>
                    <a:pt x="21600" y="778"/>
                  </a:cubicBezTo>
                  <a:cubicBezTo>
                    <a:pt x="21600" y="5564"/>
                    <a:pt x="20010" y="10215"/>
                    <a:pt x="17080" y="14000"/>
                  </a:cubicBezTo>
                </a:path>
                <a:path w="21600" h="14000" stroke="0" extrusionOk="0">
                  <a:moveTo>
                    <a:pt x="21585" y="0"/>
                  </a:moveTo>
                  <a:cubicBezTo>
                    <a:pt x="21595" y="259"/>
                    <a:pt x="21600" y="518"/>
                    <a:pt x="21600" y="778"/>
                  </a:cubicBezTo>
                  <a:cubicBezTo>
                    <a:pt x="21600" y="5564"/>
                    <a:pt x="20010" y="10215"/>
                    <a:pt x="17080" y="14000"/>
                  </a:cubicBezTo>
                  <a:lnTo>
                    <a:pt x="0" y="77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393" name="Text Box 1994"/>
            <p:cNvSpPr txBox="1">
              <a:spLocks noChangeArrowheads="1"/>
            </p:cNvSpPr>
            <p:nvPr/>
          </p:nvSpPr>
          <p:spPr bwMode="auto">
            <a:xfrm>
              <a:off x="6456834" y="5893960"/>
              <a:ext cx="334411" cy="352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u="sng">
                  <a:effectLst/>
                  <a:latin typeface="Calibri" panose="020F0502020204030204" pitchFamily="34" charset="0"/>
                  <a:ea typeface="Times New Roman"/>
                </a:rPr>
                <a:t>V</a:t>
              </a:r>
              <a:endParaRPr lang="fr-FR" sz="1400" b="1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394" name="Text Box 1995"/>
            <p:cNvSpPr txBox="1">
              <a:spLocks noChangeArrowheads="1"/>
            </p:cNvSpPr>
            <p:nvPr/>
          </p:nvSpPr>
          <p:spPr bwMode="auto">
            <a:xfrm>
              <a:off x="7476547" y="6373383"/>
              <a:ext cx="467393" cy="352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dirty="0" err="1">
                  <a:effectLst/>
                  <a:latin typeface="Calibri" panose="020F0502020204030204" pitchFamily="34" charset="0"/>
                  <a:ea typeface="Times New Roman"/>
                </a:rPr>
                <a:t>jX.</a:t>
              </a:r>
              <a:r>
                <a:rPr lang="fr-FR" sz="1400" b="1" u="sng" dirty="0" err="1">
                  <a:effectLst/>
                  <a:latin typeface="Calibri" panose="020F0502020204030204" pitchFamily="34" charset="0"/>
                  <a:ea typeface="Times New Roman"/>
                </a:rPr>
                <a:t>I</a:t>
              </a:r>
              <a:endParaRPr lang="fr-FR" sz="1400" b="1" dirty="0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395" name="Text Box 1996"/>
            <p:cNvSpPr txBox="1">
              <a:spLocks noChangeArrowheads="1"/>
            </p:cNvSpPr>
            <p:nvPr/>
          </p:nvSpPr>
          <p:spPr bwMode="auto">
            <a:xfrm>
              <a:off x="5064117" y="6095797"/>
              <a:ext cx="334411" cy="352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dirty="0">
                  <a:effectLst/>
                  <a:latin typeface="Calibri" panose="020F0502020204030204" pitchFamily="34" charset="0"/>
                  <a:ea typeface="Times New Roman"/>
                  <a:sym typeface="Symbol"/>
                </a:rPr>
                <a:t></a:t>
              </a:r>
              <a:endParaRPr lang="fr-FR" sz="1400" b="1" dirty="0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398" name="Text Box 1999"/>
            <p:cNvSpPr txBox="1">
              <a:spLocks noChangeArrowheads="1"/>
            </p:cNvSpPr>
            <p:nvPr/>
          </p:nvSpPr>
          <p:spPr bwMode="auto">
            <a:xfrm>
              <a:off x="4951704" y="6490295"/>
              <a:ext cx="371568" cy="376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u="sng" dirty="0">
                  <a:solidFill>
                    <a:srgbClr val="008000"/>
                  </a:solidFill>
                  <a:effectLst/>
                  <a:latin typeface="Calibri" panose="020F0502020204030204" pitchFamily="34" charset="0"/>
                  <a:ea typeface="Times New Roman"/>
                </a:rPr>
                <a:t>I</a:t>
              </a:r>
              <a:endParaRPr lang="fr-FR" sz="1400" b="1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402" name="Text Box 2004"/>
            <p:cNvSpPr txBox="1">
              <a:spLocks noChangeArrowheads="1"/>
            </p:cNvSpPr>
            <p:nvPr/>
          </p:nvSpPr>
          <p:spPr bwMode="auto">
            <a:xfrm>
              <a:off x="6010953" y="6448568"/>
              <a:ext cx="252275" cy="342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u="sng" dirty="0">
                  <a:effectLst/>
                  <a:latin typeface="Calibri" panose="020F0502020204030204" pitchFamily="34" charset="0"/>
                  <a:ea typeface="Times New Roman"/>
                </a:rPr>
                <a:t>E</a:t>
              </a:r>
              <a:endParaRPr lang="fr-FR" sz="1400" b="1" dirty="0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404" name="Text Box 2006"/>
            <p:cNvSpPr txBox="1">
              <a:spLocks noChangeArrowheads="1"/>
            </p:cNvSpPr>
            <p:nvPr/>
          </p:nvSpPr>
          <p:spPr bwMode="auto">
            <a:xfrm>
              <a:off x="5642856" y="6525922"/>
              <a:ext cx="260098" cy="302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dirty="0">
                  <a:effectLst/>
                  <a:latin typeface="Calibri" panose="020F0502020204030204" pitchFamily="34" charset="0"/>
                  <a:ea typeface="Times New Roman"/>
                  <a:sym typeface="Symbol"/>
                </a:rPr>
                <a:t></a:t>
              </a:r>
              <a:endParaRPr lang="fr-FR" sz="1400" b="1" dirty="0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406" name="Text Box 2022"/>
            <p:cNvSpPr txBox="1">
              <a:spLocks noChangeArrowheads="1"/>
            </p:cNvSpPr>
            <p:nvPr/>
          </p:nvSpPr>
          <p:spPr bwMode="auto">
            <a:xfrm>
              <a:off x="5708210" y="6013186"/>
              <a:ext cx="306642" cy="264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Times New Roman"/>
                  <a:sym typeface="Symbol"/>
                </a:rPr>
                <a:t></a:t>
              </a:r>
              <a:endParaRPr lang="fr-FR" sz="1400" b="1" dirty="0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407" name="Arc 2023"/>
            <p:cNvSpPr>
              <a:spLocks/>
            </p:cNvSpPr>
            <p:nvPr/>
          </p:nvSpPr>
          <p:spPr bwMode="auto">
            <a:xfrm rot="17207332">
              <a:off x="5375920" y="5815430"/>
              <a:ext cx="364381" cy="414304"/>
            </a:xfrm>
            <a:custGeom>
              <a:avLst/>
              <a:gdLst>
                <a:gd name="G0" fmla="+- 9105 0 0"/>
                <a:gd name="G1" fmla="+- 0 0 0"/>
                <a:gd name="G2" fmla="+- 21600 0 0"/>
                <a:gd name="T0" fmla="*/ 20944 w 20944"/>
                <a:gd name="T1" fmla="*/ 18067 h 21600"/>
                <a:gd name="T2" fmla="*/ 0 w 20944"/>
                <a:gd name="T3" fmla="*/ 19587 h 21600"/>
                <a:gd name="T4" fmla="*/ 9105 w 2094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944" h="21600" fill="none" extrusionOk="0">
                  <a:moveTo>
                    <a:pt x="20943" y="18066"/>
                  </a:moveTo>
                  <a:cubicBezTo>
                    <a:pt x="17425" y="20371"/>
                    <a:pt x="13311" y="21599"/>
                    <a:pt x="9105" y="21600"/>
                  </a:cubicBezTo>
                  <a:cubicBezTo>
                    <a:pt x="5959" y="21600"/>
                    <a:pt x="2852" y="20913"/>
                    <a:pt x="-1" y="19587"/>
                  </a:cubicBezTo>
                </a:path>
                <a:path w="20944" h="21600" stroke="0" extrusionOk="0">
                  <a:moveTo>
                    <a:pt x="20943" y="18066"/>
                  </a:moveTo>
                  <a:cubicBezTo>
                    <a:pt x="17425" y="20371"/>
                    <a:pt x="13311" y="21599"/>
                    <a:pt x="9105" y="21600"/>
                  </a:cubicBezTo>
                  <a:cubicBezTo>
                    <a:pt x="5959" y="21600"/>
                    <a:pt x="2852" y="20913"/>
                    <a:pt x="-1" y="19587"/>
                  </a:cubicBezTo>
                  <a:lnTo>
                    <a:pt x="9105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 type="triangle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405" name="Line 2021"/>
            <p:cNvCxnSpPr/>
            <p:nvPr/>
          </p:nvCxnSpPr>
          <p:spPr bwMode="auto">
            <a:xfrm>
              <a:off x="4784452" y="5894403"/>
              <a:ext cx="688693" cy="1002602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61" name="ZoneTexte 260"/>
          <p:cNvSpPr txBox="1"/>
          <p:nvPr/>
        </p:nvSpPr>
        <p:spPr>
          <a:xfrm>
            <a:off x="4545895" y="8862536"/>
            <a:ext cx="34455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tabLst>
                <a:tab pos="1884363" algn="l"/>
              </a:tabLst>
            </a:pPr>
            <a:r>
              <a:rPr lang="fr-FR" sz="1400" u="sng" dirty="0">
                <a:latin typeface="Calibri" panose="020F0502020204030204" pitchFamily="34" charset="0"/>
              </a:rPr>
              <a:t>Relations géométriques :</a:t>
            </a:r>
            <a:r>
              <a:rPr lang="fr-FR" sz="1400" dirty="0">
                <a:latin typeface="Calibri" panose="020F0502020204030204" pitchFamily="34" charset="0"/>
              </a:rPr>
              <a:t>	</a:t>
            </a:r>
            <a:r>
              <a:rPr lang="fr-FR" altLang="fr-FR" sz="1400" dirty="0" err="1">
                <a:solidFill>
                  <a:srgbClr val="003378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itchFamily="18" charset="0"/>
              </a:rPr>
              <a:t>V.cos</a:t>
            </a:r>
            <a:r>
              <a:rPr lang="fr-FR" altLang="fr-FR" sz="1400" dirty="0">
                <a:solidFill>
                  <a:srgbClr val="003378"/>
                </a:solidFill>
                <a:latin typeface="Calibri" panose="020F0502020204030204" pitchFamily="34" charset="0"/>
                <a:ea typeface="Calibri" pitchFamily="34" charset="0"/>
                <a:cs typeface="Times New Roman" pitchFamily="18" charset="0"/>
                <a:sym typeface="Symbol"/>
              </a:rPr>
              <a:t> = </a:t>
            </a:r>
            <a:r>
              <a:rPr lang="fr-FR" altLang="fr-FR" sz="1400" dirty="0" err="1">
                <a:solidFill>
                  <a:srgbClr val="003378"/>
                </a:solidFill>
                <a:latin typeface="Calibri" panose="020F0502020204030204" pitchFamily="34" charset="0"/>
                <a:ea typeface="Calibri" pitchFamily="34" charset="0"/>
                <a:cs typeface="Times New Roman" pitchFamily="18" charset="0"/>
                <a:sym typeface="Symbol"/>
              </a:rPr>
              <a:t>E.cos</a:t>
            </a:r>
            <a:r>
              <a:rPr lang="fr-FR" altLang="fr-FR" sz="1400" dirty="0">
                <a:solidFill>
                  <a:srgbClr val="003378"/>
                </a:solidFill>
                <a:latin typeface="Calibri" panose="020F0502020204030204" pitchFamily="34" charset="0"/>
                <a:ea typeface="Calibri" pitchFamily="34" charset="0"/>
                <a:cs typeface="Times New Roman" pitchFamily="18" charset="0"/>
                <a:sym typeface="Symbol"/>
              </a:rPr>
              <a:t></a:t>
            </a:r>
            <a:endParaRPr lang="fr-FR" altLang="fr-FR" sz="1400" dirty="0">
              <a:solidFill>
                <a:srgbClr val="003378"/>
              </a:solidFill>
              <a:latin typeface="Calibri" panose="020F0502020204030204" pitchFamily="34" charset="0"/>
              <a:cs typeface="Arial" pitchFamily="34" charset="0"/>
            </a:endParaRPr>
          </a:p>
          <a:p>
            <a:pPr>
              <a:tabLst>
                <a:tab pos="1884363" algn="l"/>
              </a:tabLst>
            </a:pPr>
            <a:r>
              <a:rPr lang="fr-FR" sz="1400" dirty="0">
                <a:latin typeface="Calibri" panose="020F0502020204030204" pitchFamily="34" charset="0"/>
              </a:rPr>
              <a:t>	</a:t>
            </a:r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</a:rPr>
              <a:t>sin</a:t>
            </a:r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  <a:sym typeface="Symbol"/>
              </a:rPr>
              <a:t></a:t>
            </a:r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</a:rPr>
              <a:t> = cos</a:t>
            </a:r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  <a:sym typeface="Symbol"/>
              </a:rPr>
              <a:t></a:t>
            </a:r>
          </a:p>
          <a:p>
            <a:pPr algn="just">
              <a:tabLst>
                <a:tab pos="1884363" algn="l"/>
              </a:tabLst>
            </a:pPr>
            <a:r>
              <a:rPr lang="fr-FR" sz="1400" dirty="0">
                <a:solidFill>
                  <a:srgbClr val="003378"/>
                </a:solidFill>
                <a:latin typeface="Calibri" panose="020F0502020204030204" pitchFamily="34" charset="0"/>
                <a:sym typeface="Symbol"/>
              </a:rPr>
              <a:t>	 +  = /2</a:t>
            </a:r>
          </a:p>
        </p:txBody>
      </p:sp>
      <p:sp>
        <p:nvSpPr>
          <p:cNvPr id="628" name="Rectangle 627"/>
          <p:cNvSpPr/>
          <p:nvPr/>
        </p:nvSpPr>
        <p:spPr>
          <a:xfrm>
            <a:off x="9372937" y="60444"/>
            <a:ext cx="30525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fr-FR" sz="1600" b="1" i="1" dirty="0">
                <a:solidFill>
                  <a:srgbClr val="FF6600"/>
                </a:solidFill>
                <a:latin typeface="Calibri" panose="020F0502020204030204" pitchFamily="34" charset="0"/>
                <a:ea typeface="Calibri"/>
                <a:cs typeface="Arial"/>
              </a:rPr>
              <a:t>(convention récepteur ou moteur)</a:t>
            </a:r>
          </a:p>
        </p:txBody>
      </p:sp>
      <p:sp>
        <p:nvSpPr>
          <p:cNvPr id="640" name="Rectangle 1280"/>
          <p:cNvSpPr>
            <a:spLocks noChangeArrowheads="1"/>
          </p:cNvSpPr>
          <p:nvPr/>
        </p:nvSpPr>
        <p:spPr bwMode="auto">
          <a:xfrm>
            <a:off x="8706376" y="3211172"/>
            <a:ext cx="3807264" cy="2160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641" name="ZoneTexte 21"/>
          <p:cNvSpPr txBox="1">
            <a:spLocks noChangeArrowheads="1"/>
          </p:cNvSpPr>
          <p:nvPr/>
        </p:nvSpPr>
        <p:spPr bwMode="auto">
          <a:xfrm>
            <a:off x="8658493" y="3144152"/>
            <a:ext cx="409695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alt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altLang="fr-FR" sz="1600" b="1" dirty="0">
                <a:solidFill>
                  <a:srgbClr val="00B050"/>
                </a:solidFill>
                <a:latin typeface="Calibri" pitchFamily="34" charset="0"/>
              </a:rPr>
              <a:t> Expressions du couple électromagnétique</a:t>
            </a:r>
          </a:p>
        </p:txBody>
      </p:sp>
      <p:graphicFrame>
        <p:nvGraphicFramePr>
          <p:cNvPr id="64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705465"/>
              </p:ext>
            </p:extLst>
          </p:nvPr>
        </p:nvGraphicFramePr>
        <p:xfrm>
          <a:off x="8706376" y="3540041"/>
          <a:ext cx="2867871" cy="58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5" name="Equation" r:id="rId8" imgW="1917700" imgH="431800" progId="">
                  <p:embed/>
                </p:oleObj>
              </mc:Choice>
              <mc:Fallback>
                <p:oleObj name="Equation" r:id="rId8" imgW="1917700" imgH="431800" progId="">
                  <p:embed/>
                  <p:pic>
                    <p:nvPicPr>
                      <p:cNvPr id="0" name="Picture 1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6376" y="3540041"/>
                        <a:ext cx="2867871" cy="585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" name="Objet 2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564910"/>
              </p:ext>
            </p:extLst>
          </p:nvPr>
        </p:nvGraphicFramePr>
        <p:xfrm>
          <a:off x="8703851" y="4178430"/>
          <a:ext cx="1541189" cy="556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6" name="Equation" r:id="rId10" imgW="1091726" imgH="393529" progId="">
                  <p:embed/>
                </p:oleObj>
              </mc:Choice>
              <mc:Fallback>
                <p:oleObj name="Equation" r:id="rId10" imgW="1091726" imgH="393529" progId="">
                  <p:embed/>
                  <p:pic>
                    <p:nvPicPr>
                      <p:cNvPr id="0" name="Picture 1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3851" y="4178430"/>
                        <a:ext cx="1541189" cy="5564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" name="Rectangle 1280"/>
          <p:cNvSpPr>
            <a:spLocks noChangeArrowheads="1"/>
          </p:cNvSpPr>
          <p:nvPr/>
        </p:nvSpPr>
        <p:spPr bwMode="auto">
          <a:xfrm>
            <a:off x="8695358" y="4748904"/>
            <a:ext cx="2340000" cy="2160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646" name="ZoneTexte 21"/>
          <p:cNvSpPr txBox="1">
            <a:spLocks noChangeArrowheads="1"/>
          </p:cNvSpPr>
          <p:nvPr/>
        </p:nvSpPr>
        <p:spPr bwMode="auto">
          <a:xfrm>
            <a:off x="8647475" y="4668437"/>
            <a:ext cx="409695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alt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altLang="fr-FR" sz="1600" b="1" dirty="0">
                <a:solidFill>
                  <a:srgbClr val="00B050"/>
                </a:solidFill>
                <a:latin typeface="Calibri" pitchFamily="34" charset="0"/>
              </a:rPr>
              <a:t> Structure de commande</a:t>
            </a:r>
          </a:p>
        </p:txBody>
      </p:sp>
      <p:graphicFrame>
        <p:nvGraphicFramePr>
          <p:cNvPr id="21567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918139"/>
              </p:ext>
            </p:extLst>
          </p:nvPr>
        </p:nvGraphicFramePr>
        <p:xfrm>
          <a:off x="115737" y="5460555"/>
          <a:ext cx="88106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7" name="Equation" r:id="rId12" imgW="698500" imgH="419100" progId="">
                  <p:embed/>
                </p:oleObj>
              </mc:Choice>
              <mc:Fallback>
                <p:oleObj name="Equation" r:id="rId12" imgW="698500" imgH="419100" progId="">
                  <p:embed/>
                  <p:pic>
                    <p:nvPicPr>
                      <p:cNvPr id="0" name="Picture 12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37" y="5460555"/>
                        <a:ext cx="88106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6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737329"/>
              </p:ext>
            </p:extLst>
          </p:nvPr>
        </p:nvGraphicFramePr>
        <p:xfrm>
          <a:off x="96842" y="6088063"/>
          <a:ext cx="80168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8" name="Equation" r:id="rId14" imgW="609600" imgH="419100" progId="">
                  <p:embed/>
                </p:oleObj>
              </mc:Choice>
              <mc:Fallback>
                <p:oleObj name="Equation" r:id="rId14" imgW="609600" imgH="419100" progId="">
                  <p:embed/>
                  <p:pic>
                    <p:nvPicPr>
                      <p:cNvPr id="0" name="Picture 1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42" y="6088063"/>
                        <a:ext cx="801688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8" name="Groupe 187"/>
          <p:cNvGrpSpPr/>
          <p:nvPr/>
        </p:nvGrpSpPr>
        <p:grpSpPr>
          <a:xfrm>
            <a:off x="4480861" y="3798011"/>
            <a:ext cx="4044404" cy="1903137"/>
            <a:chOff x="4397734" y="3535271"/>
            <a:chExt cx="4044404" cy="1903137"/>
          </a:xfrm>
        </p:grpSpPr>
        <p:sp>
          <p:nvSpPr>
            <p:cNvPr id="525" name="Arc 2000"/>
            <p:cNvSpPr>
              <a:spLocks/>
            </p:cNvSpPr>
            <p:nvPr/>
          </p:nvSpPr>
          <p:spPr bwMode="auto">
            <a:xfrm rot="1667900">
              <a:off x="4757565" y="3670161"/>
              <a:ext cx="1266590" cy="650964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593 w 21593"/>
                <a:gd name="T1" fmla="*/ 562 h 11436"/>
                <a:gd name="T2" fmla="*/ 18324 w 21593"/>
                <a:gd name="T3" fmla="*/ 11436 h 11436"/>
                <a:gd name="T4" fmla="*/ 0 w 21593"/>
                <a:gd name="T5" fmla="*/ 0 h 1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3" h="11436" fill="none" extrusionOk="0">
                  <a:moveTo>
                    <a:pt x="21592" y="561"/>
                  </a:moveTo>
                  <a:cubicBezTo>
                    <a:pt x="21492" y="4413"/>
                    <a:pt x="20363" y="8167"/>
                    <a:pt x="18324" y="11436"/>
                  </a:cubicBezTo>
                </a:path>
                <a:path w="21593" h="11436" stroke="0" extrusionOk="0">
                  <a:moveTo>
                    <a:pt x="21592" y="561"/>
                  </a:moveTo>
                  <a:cubicBezTo>
                    <a:pt x="21492" y="4413"/>
                    <a:pt x="20363" y="8167"/>
                    <a:pt x="18324" y="11436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triangle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516" name="Line 1989"/>
            <p:cNvCxnSpPr/>
            <p:nvPr/>
          </p:nvCxnSpPr>
          <p:spPr bwMode="auto">
            <a:xfrm flipV="1">
              <a:off x="4992934" y="3618653"/>
              <a:ext cx="3449204" cy="28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7" name="Line 1991"/>
            <p:cNvCxnSpPr/>
            <p:nvPr/>
          </p:nvCxnSpPr>
          <p:spPr bwMode="auto">
            <a:xfrm flipV="1">
              <a:off x="7044742" y="3618653"/>
              <a:ext cx="1397396" cy="100119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8" name="Line 1992"/>
            <p:cNvCxnSpPr/>
            <p:nvPr/>
          </p:nvCxnSpPr>
          <p:spPr bwMode="auto">
            <a:xfrm>
              <a:off x="4992934" y="3621508"/>
              <a:ext cx="1839260" cy="7257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9" name="Arc 1993"/>
            <p:cNvSpPr>
              <a:spLocks/>
            </p:cNvSpPr>
            <p:nvPr/>
          </p:nvSpPr>
          <p:spPr bwMode="auto">
            <a:xfrm rot="430026">
              <a:off x="4912684" y="3578922"/>
              <a:ext cx="483038" cy="433426"/>
            </a:xfrm>
            <a:custGeom>
              <a:avLst/>
              <a:gdLst>
                <a:gd name="G0" fmla="+- 0 0 0"/>
                <a:gd name="G1" fmla="+- 778 0 0"/>
                <a:gd name="G2" fmla="+- 21600 0 0"/>
                <a:gd name="T0" fmla="*/ 21586 w 21600"/>
                <a:gd name="T1" fmla="*/ 0 h 14000"/>
                <a:gd name="T2" fmla="*/ 17080 w 21600"/>
                <a:gd name="T3" fmla="*/ 14000 h 14000"/>
                <a:gd name="T4" fmla="*/ 0 w 21600"/>
                <a:gd name="T5" fmla="*/ 778 h 14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4000" fill="none" extrusionOk="0">
                  <a:moveTo>
                    <a:pt x="21585" y="0"/>
                  </a:moveTo>
                  <a:cubicBezTo>
                    <a:pt x="21595" y="259"/>
                    <a:pt x="21600" y="518"/>
                    <a:pt x="21600" y="778"/>
                  </a:cubicBezTo>
                  <a:cubicBezTo>
                    <a:pt x="21600" y="5564"/>
                    <a:pt x="20010" y="10215"/>
                    <a:pt x="17080" y="14000"/>
                  </a:cubicBezTo>
                </a:path>
                <a:path w="21600" h="14000" stroke="0" extrusionOk="0">
                  <a:moveTo>
                    <a:pt x="21585" y="0"/>
                  </a:moveTo>
                  <a:cubicBezTo>
                    <a:pt x="21595" y="259"/>
                    <a:pt x="21600" y="518"/>
                    <a:pt x="21600" y="778"/>
                  </a:cubicBezTo>
                  <a:cubicBezTo>
                    <a:pt x="21600" y="5564"/>
                    <a:pt x="20010" y="10215"/>
                    <a:pt x="17080" y="14000"/>
                  </a:cubicBezTo>
                  <a:lnTo>
                    <a:pt x="0" y="77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520" name="Text Box 1994"/>
            <p:cNvSpPr txBox="1">
              <a:spLocks noChangeArrowheads="1"/>
            </p:cNvSpPr>
            <p:nvPr/>
          </p:nvSpPr>
          <p:spPr bwMode="auto">
            <a:xfrm>
              <a:off x="6664989" y="3621508"/>
              <a:ext cx="334411" cy="352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u="sng">
                  <a:effectLst/>
                  <a:latin typeface="Calibri" panose="020F0502020204030204" pitchFamily="34" charset="0"/>
                  <a:ea typeface="Times New Roman"/>
                </a:rPr>
                <a:t>V</a:t>
              </a:r>
              <a:endParaRPr lang="fr-FR" sz="1400" b="1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521" name="Text Box 1995"/>
            <p:cNvSpPr txBox="1">
              <a:spLocks noChangeArrowheads="1"/>
            </p:cNvSpPr>
            <p:nvPr/>
          </p:nvSpPr>
          <p:spPr bwMode="auto">
            <a:xfrm>
              <a:off x="7684702" y="4100931"/>
              <a:ext cx="467393" cy="352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dirty="0" err="1">
                  <a:effectLst/>
                  <a:latin typeface="Calibri" panose="020F0502020204030204" pitchFamily="34" charset="0"/>
                  <a:ea typeface="Times New Roman"/>
                </a:rPr>
                <a:t>jX.</a:t>
              </a:r>
              <a:r>
                <a:rPr lang="fr-FR" sz="1400" b="1" u="sng" dirty="0" err="1">
                  <a:effectLst/>
                  <a:latin typeface="Calibri" panose="020F0502020204030204" pitchFamily="34" charset="0"/>
                  <a:ea typeface="Times New Roman"/>
                </a:rPr>
                <a:t>I</a:t>
              </a:r>
              <a:endParaRPr lang="fr-FR" sz="1400" b="1" dirty="0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522" name="Text Box 1996"/>
            <p:cNvSpPr txBox="1">
              <a:spLocks noChangeArrowheads="1"/>
            </p:cNvSpPr>
            <p:nvPr/>
          </p:nvSpPr>
          <p:spPr bwMode="auto">
            <a:xfrm>
              <a:off x="5272272" y="3823345"/>
              <a:ext cx="334411" cy="352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dirty="0">
                  <a:effectLst/>
                  <a:latin typeface="Calibri" panose="020F0502020204030204" pitchFamily="34" charset="0"/>
                  <a:ea typeface="Times New Roman"/>
                  <a:sym typeface="Symbol"/>
                </a:rPr>
                <a:t></a:t>
              </a:r>
              <a:endParaRPr lang="fr-FR" sz="1400" b="1" dirty="0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cxnSp>
          <p:nvCxnSpPr>
            <p:cNvPr id="523" name="Line 1997"/>
            <p:cNvCxnSpPr/>
            <p:nvPr/>
          </p:nvCxnSpPr>
          <p:spPr bwMode="auto">
            <a:xfrm>
              <a:off x="4992607" y="3621951"/>
              <a:ext cx="1145511" cy="16449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4" name="Text Box 1999"/>
            <p:cNvSpPr txBox="1">
              <a:spLocks noChangeArrowheads="1"/>
            </p:cNvSpPr>
            <p:nvPr/>
          </p:nvSpPr>
          <p:spPr bwMode="auto">
            <a:xfrm>
              <a:off x="5447037" y="4095292"/>
              <a:ext cx="371568" cy="376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u="sng" dirty="0">
                  <a:solidFill>
                    <a:srgbClr val="008000"/>
                  </a:solidFill>
                  <a:effectLst/>
                  <a:latin typeface="Calibri" panose="020F0502020204030204" pitchFamily="34" charset="0"/>
                  <a:ea typeface="Times New Roman"/>
                </a:rPr>
                <a:t>I</a:t>
              </a:r>
              <a:endParaRPr lang="fr-FR" sz="1400" b="1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cxnSp>
          <p:nvCxnSpPr>
            <p:cNvPr id="526" name="Line 2001"/>
            <p:cNvCxnSpPr/>
            <p:nvPr/>
          </p:nvCxnSpPr>
          <p:spPr bwMode="auto">
            <a:xfrm rot="5400000" flipH="1" flipV="1">
              <a:off x="4399611" y="3906801"/>
              <a:ext cx="880860" cy="313059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prstDash val="dash"/>
              <a:round/>
              <a:headEnd type="arrow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7" name="Text Box 2003"/>
            <p:cNvSpPr txBox="1">
              <a:spLocks noChangeArrowheads="1"/>
            </p:cNvSpPr>
            <p:nvPr/>
          </p:nvSpPr>
          <p:spPr bwMode="auto">
            <a:xfrm>
              <a:off x="6584426" y="4396404"/>
              <a:ext cx="371568" cy="302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dirty="0">
                  <a:effectLst/>
                  <a:latin typeface="Calibri" panose="020F0502020204030204" pitchFamily="34" charset="0"/>
                  <a:ea typeface="Times New Roman"/>
                </a:rPr>
                <a:t>R.</a:t>
              </a:r>
              <a:r>
                <a:rPr lang="fr-FR" sz="1400" b="1" u="sng" dirty="0">
                  <a:effectLst/>
                  <a:latin typeface="Calibri" panose="020F0502020204030204" pitchFamily="34" charset="0"/>
                  <a:ea typeface="Times New Roman"/>
                </a:rPr>
                <a:t>I</a:t>
              </a:r>
              <a:endParaRPr lang="fr-FR" sz="1400" b="1" dirty="0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528" name="Text Box 2004"/>
            <p:cNvSpPr txBox="1">
              <a:spLocks noChangeArrowheads="1"/>
            </p:cNvSpPr>
            <p:nvPr/>
          </p:nvSpPr>
          <p:spPr bwMode="auto">
            <a:xfrm>
              <a:off x="6219108" y="4176116"/>
              <a:ext cx="252275" cy="342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u="sng">
                  <a:effectLst/>
                  <a:latin typeface="Calibri" panose="020F0502020204030204" pitchFamily="34" charset="0"/>
                  <a:ea typeface="Times New Roman"/>
                </a:rPr>
                <a:t>E</a:t>
              </a:r>
              <a:endParaRPr lang="fr-FR" sz="1400" b="1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cxnSp>
          <p:nvCxnSpPr>
            <p:cNvPr id="529" name="Line 2005"/>
            <p:cNvCxnSpPr/>
            <p:nvPr/>
          </p:nvCxnSpPr>
          <p:spPr bwMode="auto">
            <a:xfrm>
              <a:off x="6822181" y="4347275"/>
              <a:ext cx="222561" cy="2725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30" name="Text Box 2006"/>
            <p:cNvSpPr txBox="1">
              <a:spLocks noChangeArrowheads="1"/>
            </p:cNvSpPr>
            <p:nvPr/>
          </p:nvSpPr>
          <p:spPr bwMode="auto">
            <a:xfrm>
              <a:off x="5876970" y="4268493"/>
              <a:ext cx="260098" cy="302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dirty="0">
                  <a:effectLst/>
                  <a:latin typeface="Calibri" panose="020F0502020204030204" pitchFamily="34" charset="0"/>
                  <a:ea typeface="Times New Roman"/>
                  <a:sym typeface="Symbol"/>
                </a:rPr>
                <a:t></a:t>
              </a:r>
              <a:endParaRPr lang="fr-FR" sz="1400" b="1" dirty="0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531" name="Text Box 2022"/>
            <p:cNvSpPr txBox="1">
              <a:spLocks noChangeArrowheads="1"/>
            </p:cNvSpPr>
            <p:nvPr/>
          </p:nvSpPr>
          <p:spPr bwMode="auto">
            <a:xfrm>
              <a:off x="5880737" y="3740734"/>
              <a:ext cx="383494" cy="264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Times New Roman"/>
                  <a:sym typeface="Symbol"/>
                </a:rPr>
                <a:t></a:t>
              </a:r>
              <a:endParaRPr lang="fr-FR" sz="1400" b="1" dirty="0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532" name="Arc 2023"/>
            <p:cNvSpPr>
              <a:spLocks/>
            </p:cNvSpPr>
            <p:nvPr/>
          </p:nvSpPr>
          <p:spPr bwMode="auto">
            <a:xfrm rot="17207332">
              <a:off x="5584075" y="3542978"/>
              <a:ext cx="364381" cy="414304"/>
            </a:xfrm>
            <a:custGeom>
              <a:avLst/>
              <a:gdLst>
                <a:gd name="G0" fmla="+- 9105 0 0"/>
                <a:gd name="G1" fmla="+- 0 0 0"/>
                <a:gd name="G2" fmla="+- 21600 0 0"/>
                <a:gd name="T0" fmla="*/ 20944 w 20944"/>
                <a:gd name="T1" fmla="*/ 18067 h 21600"/>
                <a:gd name="T2" fmla="*/ 0 w 20944"/>
                <a:gd name="T3" fmla="*/ 19587 h 21600"/>
                <a:gd name="T4" fmla="*/ 9105 w 2094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944" h="21600" fill="none" extrusionOk="0">
                  <a:moveTo>
                    <a:pt x="20943" y="18066"/>
                  </a:moveTo>
                  <a:cubicBezTo>
                    <a:pt x="17425" y="20371"/>
                    <a:pt x="13311" y="21599"/>
                    <a:pt x="9105" y="21600"/>
                  </a:cubicBezTo>
                  <a:cubicBezTo>
                    <a:pt x="5959" y="21600"/>
                    <a:pt x="2852" y="20913"/>
                    <a:pt x="-1" y="19587"/>
                  </a:cubicBezTo>
                </a:path>
                <a:path w="20944" h="21600" stroke="0" extrusionOk="0">
                  <a:moveTo>
                    <a:pt x="20943" y="18066"/>
                  </a:moveTo>
                  <a:cubicBezTo>
                    <a:pt x="17425" y="20371"/>
                    <a:pt x="13311" y="21599"/>
                    <a:pt x="9105" y="21600"/>
                  </a:cubicBezTo>
                  <a:cubicBezTo>
                    <a:pt x="5959" y="21600"/>
                    <a:pt x="2852" y="20913"/>
                    <a:pt x="-1" y="19587"/>
                  </a:cubicBezTo>
                  <a:lnTo>
                    <a:pt x="9105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 type="triangle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grpSp>
          <p:nvGrpSpPr>
            <p:cNvPr id="533" name="Group 2030"/>
            <p:cNvGrpSpPr>
              <a:grpSpLocks/>
            </p:cNvGrpSpPr>
            <p:nvPr/>
          </p:nvGrpSpPr>
          <p:grpSpPr bwMode="auto">
            <a:xfrm>
              <a:off x="4603601" y="3766132"/>
              <a:ext cx="334411" cy="302513"/>
              <a:chOff x="2742" y="13121"/>
              <a:chExt cx="513" cy="342"/>
            </a:xfrm>
          </p:grpSpPr>
          <p:sp>
            <p:nvSpPr>
              <p:cNvPr id="544" name="Text Box 2002"/>
              <p:cNvSpPr txBox="1">
                <a:spLocks noChangeArrowheads="1"/>
              </p:cNvSpPr>
              <p:nvPr/>
            </p:nvSpPr>
            <p:spPr bwMode="auto">
              <a:xfrm>
                <a:off x="2742" y="13121"/>
                <a:ext cx="513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fr-FR" sz="1400" b="1" dirty="0" err="1">
                    <a:solidFill>
                      <a:srgbClr val="000080"/>
                    </a:solidFill>
                    <a:effectLst/>
                    <a:latin typeface="Calibri" panose="020F0502020204030204" pitchFamily="34" charset="0"/>
                    <a:ea typeface="Times New Roman"/>
                  </a:rPr>
                  <a:t>B</a:t>
                </a:r>
                <a:r>
                  <a:rPr lang="fr-FR" sz="1400" b="1" baseline="-25000" dirty="0" err="1">
                    <a:solidFill>
                      <a:srgbClr val="000080"/>
                    </a:solidFill>
                    <a:effectLst/>
                    <a:latin typeface="Calibri" panose="020F0502020204030204" pitchFamily="34" charset="0"/>
                    <a:ea typeface="Times New Roman"/>
                  </a:rPr>
                  <a:t>r</a:t>
                </a:r>
                <a:endParaRPr lang="fr-FR" sz="1400" b="1" baseline="-25000" dirty="0">
                  <a:effectLst/>
                  <a:latin typeface="Calibri" panose="020F0502020204030204" pitchFamily="34" charset="0"/>
                  <a:ea typeface="Times New Roman"/>
                </a:endParaRPr>
              </a:p>
            </p:txBody>
          </p:sp>
          <p:cxnSp>
            <p:nvCxnSpPr>
              <p:cNvPr id="545" name="Line 2024"/>
              <p:cNvCxnSpPr/>
              <p:nvPr/>
            </p:nvCxnSpPr>
            <p:spPr bwMode="auto">
              <a:xfrm>
                <a:off x="2855" y="13131"/>
                <a:ext cx="228" cy="0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/>
                <a:tailEnd type="arrow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34" name="Group 2073"/>
            <p:cNvGrpSpPr>
              <a:grpSpLocks/>
            </p:cNvGrpSpPr>
            <p:nvPr/>
          </p:nvGrpSpPr>
          <p:grpSpPr bwMode="auto">
            <a:xfrm>
              <a:off x="5468447" y="4747091"/>
              <a:ext cx="334411" cy="302512"/>
              <a:chOff x="2479" y="11257"/>
              <a:chExt cx="513" cy="342"/>
            </a:xfrm>
          </p:grpSpPr>
          <p:sp>
            <p:nvSpPr>
              <p:cNvPr id="542" name="Text Box 2032"/>
              <p:cNvSpPr txBox="1">
                <a:spLocks noChangeArrowheads="1"/>
              </p:cNvSpPr>
              <p:nvPr/>
            </p:nvSpPr>
            <p:spPr bwMode="auto">
              <a:xfrm>
                <a:off x="2479" y="11257"/>
                <a:ext cx="513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fr-FR" sz="1400" b="1" dirty="0">
                    <a:solidFill>
                      <a:srgbClr val="FF6600"/>
                    </a:solidFill>
                    <a:effectLst/>
                    <a:latin typeface="Calibri" panose="020F0502020204030204" pitchFamily="34" charset="0"/>
                    <a:ea typeface="Times New Roman"/>
                  </a:rPr>
                  <a:t>B</a:t>
                </a:r>
                <a:r>
                  <a:rPr lang="fr-FR" sz="1400" b="1" baseline="-25000" dirty="0">
                    <a:solidFill>
                      <a:srgbClr val="FF6600"/>
                    </a:solidFill>
                    <a:effectLst/>
                    <a:latin typeface="Calibri" panose="020F0502020204030204" pitchFamily="34" charset="0"/>
                    <a:ea typeface="Times New Roman"/>
                  </a:rPr>
                  <a:t>s</a:t>
                </a:r>
                <a:endParaRPr lang="fr-FR" sz="1400" b="1" baseline="-25000" dirty="0">
                  <a:effectLst/>
                  <a:latin typeface="Calibri" panose="020F0502020204030204" pitchFamily="34" charset="0"/>
                  <a:ea typeface="Times New Roman"/>
                </a:endParaRPr>
              </a:p>
            </p:txBody>
          </p:sp>
          <p:cxnSp>
            <p:nvCxnSpPr>
              <p:cNvPr id="543" name="Line 2033"/>
              <p:cNvCxnSpPr/>
              <p:nvPr/>
            </p:nvCxnSpPr>
            <p:spPr bwMode="auto">
              <a:xfrm>
                <a:off x="2587" y="11260"/>
                <a:ext cx="228" cy="0"/>
              </a:xfrm>
              <a:prstGeom prst="line">
                <a:avLst/>
              </a:prstGeom>
              <a:noFill/>
              <a:ln w="9525">
                <a:solidFill>
                  <a:srgbClr val="FF6600"/>
                </a:solidFill>
                <a:round/>
                <a:headEnd/>
                <a:tailEnd type="arrow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535" name="Line 2037"/>
            <p:cNvCxnSpPr/>
            <p:nvPr/>
          </p:nvCxnSpPr>
          <p:spPr bwMode="auto">
            <a:xfrm>
              <a:off x="6167613" y="5060223"/>
              <a:ext cx="81357" cy="1106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6" name="Line 2038"/>
            <p:cNvCxnSpPr/>
            <p:nvPr/>
          </p:nvCxnSpPr>
          <p:spPr bwMode="auto">
            <a:xfrm flipV="1">
              <a:off x="6066372" y="5062269"/>
              <a:ext cx="107179" cy="835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7" name="Line 2021"/>
            <p:cNvCxnSpPr/>
            <p:nvPr/>
          </p:nvCxnSpPr>
          <p:spPr bwMode="auto">
            <a:xfrm>
              <a:off x="4992607" y="3621951"/>
              <a:ext cx="546244" cy="774455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8" name="Line 2029"/>
            <p:cNvCxnSpPr/>
            <p:nvPr/>
          </p:nvCxnSpPr>
          <p:spPr bwMode="auto">
            <a:xfrm>
              <a:off x="5003316" y="3639289"/>
              <a:ext cx="783013" cy="1110461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9" name="Line 1997"/>
            <p:cNvCxnSpPr/>
            <p:nvPr/>
          </p:nvCxnSpPr>
          <p:spPr bwMode="auto">
            <a:xfrm flipH="1">
              <a:off x="6131891" y="3639291"/>
              <a:ext cx="2275620" cy="16276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40" name="Text Box 2022"/>
            <p:cNvSpPr txBox="1">
              <a:spLocks noChangeArrowheads="1"/>
            </p:cNvSpPr>
            <p:nvPr/>
          </p:nvSpPr>
          <p:spPr bwMode="auto">
            <a:xfrm>
              <a:off x="4914176" y="4362887"/>
              <a:ext cx="391222" cy="264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fr-FR" sz="1400" b="1" dirty="0">
                  <a:solidFill>
                    <a:srgbClr val="FF0000"/>
                  </a:solidFill>
                  <a:latin typeface="Calibri" panose="020F0502020204030204" pitchFamily="34" charset="0"/>
                  <a:ea typeface="Times New Roman"/>
                  <a:sym typeface="Symbol"/>
                </a:rPr>
                <a:t></a:t>
              </a:r>
              <a:endParaRPr lang="fr-FR" sz="1400" b="1" dirty="0">
                <a:effectLst/>
                <a:latin typeface="Calibri" panose="020F0502020204030204" pitchFamily="34" charset="0"/>
                <a:ea typeface="Times New Roman"/>
              </a:endParaRPr>
            </a:p>
          </p:txBody>
        </p:sp>
        <p:sp>
          <p:nvSpPr>
            <p:cNvPr id="541" name="Arc 2023"/>
            <p:cNvSpPr>
              <a:spLocks/>
            </p:cNvSpPr>
            <p:nvPr/>
          </p:nvSpPr>
          <p:spPr bwMode="auto">
            <a:xfrm rot="217109">
              <a:off x="4802629" y="3535271"/>
              <a:ext cx="638138" cy="822799"/>
            </a:xfrm>
            <a:custGeom>
              <a:avLst/>
              <a:gdLst>
                <a:gd name="G0" fmla="+- 9105 0 0"/>
                <a:gd name="G1" fmla="+- 0 0 0"/>
                <a:gd name="G2" fmla="+- 21600 0 0"/>
                <a:gd name="T0" fmla="*/ 20944 w 20944"/>
                <a:gd name="T1" fmla="*/ 18067 h 21600"/>
                <a:gd name="T2" fmla="*/ 0 w 20944"/>
                <a:gd name="T3" fmla="*/ 19587 h 21600"/>
                <a:gd name="T4" fmla="*/ 9105 w 2094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944" h="21600" fill="none" extrusionOk="0">
                  <a:moveTo>
                    <a:pt x="20943" y="18066"/>
                  </a:moveTo>
                  <a:cubicBezTo>
                    <a:pt x="17425" y="20371"/>
                    <a:pt x="13311" y="21599"/>
                    <a:pt x="9105" y="21600"/>
                  </a:cubicBezTo>
                  <a:cubicBezTo>
                    <a:pt x="5959" y="21600"/>
                    <a:pt x="2852" y="20913"/>
                    <a:pt x="-1" y="19587"/>
                  </a:cubicBezTo>
                </a:path>
                <a:path w="20944" h="21600" stroke="0" extrusionOk="0">
                  <a:moveTo>
                    <a:pt x="20943" y="18066"/>
                  </a:moveTo>
                  <a:cubicBezTo>
                    <a:pt x="17425" y="20371"/>
                    <a:pt x="13311" y="21599"/>
                    <a:pt x="9105" y="21600"/>
                  </a:cubicBezTo>
                  <a:cubicBezTo>
                    <a:pt x="5959" y="21600"/>
                    <a:pt x="2852" y="20913"/>
                    <a:pt x="-1" y="19587"/>
                  </a:cubicBezTo>
                  <a:lnTo>
                    <a:pt x="9105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 type="triangle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257" name="Rectangle 256"/>
            <p:cNvSpPr/>
            <p:nvPr/>
          </p:nvSpPr>
          <p:spPr>
            <a:xfrm rot="16200000">
              <a:off x="4035604" y="4196650"/>
              <a:ext cx="124748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400" dirty="0">
                  <a:solidFill>
                    <a:srgbClr val="000080"/>
                  </a:solidFill>
                  <a:latin typeface="Calibri" panose="020F0502020204030204" pitchFamily="34" charset="0"/>
                </a:rPr>
                <a:t>Axe du champ polaire</a:t>
              </a:r>
              <a:endParaRPr lang="fr-FR" dirty="0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4490915" y="4915188"/>
              <a:ext cx="152648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r-FR" sz="1400" dirty="0">
                  <a:solidFill>
                    <a:srgbClr val="FF6600"/>
                  </a:solidFill>
                  <a:latin typeface="Calibri" panose="020F0502020204030204" pitchFamily="34" charset="0"/>
                </a:rPr>
                <a:t>Axe du champ tournant</a:t>
              </a:r>
              <a:endParaRPr lang="fr-FR" dirty="0"/>
            </a:p>
          </p:txBody>
        </p:sp>
        <p:cxnSp>
          <p:nvCxnSpPr>
            <p:cNvPr id="177" name="Line 2037"/>
            <p:cNvCxnSpPr/>
            <p:nvPr/>
          </p:nvCxnSpPr>
          <p:spPr bwMode="auto">
            <a:xfrm>
              <a:off x="4950256" y="3776122"/>
              <a:ext cx="144258" cy="566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8" name="Line 2038"/>
            <p:cNvCxnSpPr/>
            <p:nvPr/>
          </p:nvCxnSpPr>
          <p:spPr bwMode="auto">
            <a:xfrm rot="5400000" flipH="1" flipV="1">
              <a:off x="5040544" y="3736322"/>
              <a:ext cx="153928" cy="428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" name="Groupe 9"/>
          <p:cNvGrpSpPr/>
          <p:nvPr/>
        </p:nvGrpSpPr>
        <p:grpSpPr>
          <a:xfrm>
            <a:off x="8560594" y="0"/>
            <a:ext cx="4241008" cy="3222610"/>
            <a:chOff x="8560594" y="0"/>
            <a:chExt cx="4241008" cy="3222610"/>
          </a:xfrm>
        </p:grpSpPr>
        <p:sp>
          <p:nvSpPr>
            <p:cNvPr id="614" name="Text Box 56"/>
            <p:cNvSpPr txBox="1">
              <a:spLocks noChangeArrowheads="1"/>
            </p:cNvSpPr>
            <p:nvPr/>
          </p:nvSpPr>
          <p:spPr bwMode="auto">
            <a:xfrm rot="16200000">
              <a:off x="11891590" y="425672"/>
              <a:ext cx="1335683" cy="4843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134682" tIns="67341" rIns="134682" bIns="67341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/>
              <a:r>
                <a:rPr lang="fr-FR" altLang="fr-FR" sz="1200" b="1" dirty="0">
                  <a:solidFill>
                    <a:srgbClr val="003366"/>
                  </a:solidFill>
                </a:rPr>
                <a:t>Puissance mécanique utile</a:t>
              </a:r>
              <a:endParaRPr lang="fr-FR" altLang="fr-FR" sz="1200" dirty="0"/>
            </a:p>
          </p:txBody>
        </p:sp>
        <p:graphicFrame>
          <p:nvGraphicFramePr>
            <p:cNvPr id="21528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0376251"/>
                </p:ext>
              </p:extLst>
            </p:nvPr>
          </p:nvGraphicFramePr>
          <p:xfrm>
            <a:off x="11956252" y="449941"/>
            <a:ext cx="387350" cy="439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79" name="Equation" r:id="rId16" imgW="380835" imgH="431613" progId="">
                    <p:embed/>
                  </p:oleObj>
                </mc:Choice>
                <mc:Fallback>
                  <p:oleObj name="Equation" r:id="rId16" imgW="380835" imgH="431613" progId="">
                    <p:embed/>
                    <p:pic>
                      <p:nvPicPr>
                        <p:cNvPr id="0" name="Picture 12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56252" y="449941"/>
                          <a:ext cx="387350" cy="439737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4F81BD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EEECE1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2" name="ZoneTexte 43"/>
            <p:cNvSpPr txBox="1">
              <a:spLocks noChangeArrowheads="1"/>
            </p:cNvSpPr>
            <p:nvPr/>
          </p:nvSpPr>
          <p:spPr bwMode="auto">
            <a:xfrm>
              <a:off x="9579522" y="840191"/>
              <a:ext cx="125487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/>
              <a:r>
                <a:rPr lang="fr-FR" altLang="fr-FR" sz="1200" b="1" dirty="0">
                  <a:solidFill>
                    <a:srgbClr val="FF9933"/>
                  </a:solidFill>
                </a:rPr>
                <a:t>STATOR (induit)</a:t>
              </a:r>
            </a:p>
          </p:txBody>
        </p:sp>
        <p:sp>
          <p:nvSpPr>
            <p:cNvPr id="563" name="ZoneTexte 43"/>
            <p:cNvSpPr txBox="1">
              <a:spLocks noChangeArrowheads="1"/>
            </p:cNvSpPr>
            <p:nvPr/>
          </p:nvSpPr>
          <p:spPr bwMode="auto">
            <a:xfrm>
              <a:off x="10981098" y="845295"/>
              <a:ext cx="142237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1168400" algn="l"/>
                </a:tabLs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/>
              <a:r>
                <a:rPr lang="fr-FR" altLang="fr-FR" sz="1200" b="1" dirty="0">
                  <a:solidFill>
                    <a:srgbClr val="FF9933"/>
                  </a:solidFill>
                </a:rPr>
                <a:t>ROTOR (inducteur)</a:t>
              </a:r>
            </a:p>
          </p:txBody>
        </p:sp>
        <p:sp>
          <p:nvSpPr>
            <p:cNvPr id="564" name="Line 140"/>
            <p:cNvSpPr>
              <a:spLocks noChangeShapeType="1"/>
            </p:cNvSpPr>
            <p:nvPr/>
          </p:nvSpPr>
          <p:spPr bwMode="auto">
            <a:xfrm>
              <a:off x="10892837" y="875647"/>
              <a:ext cx="0" cy="1856838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578" name="Line 46"/>
            <p:cNvSpPr>
              <a:spLocks noChangeShapeType="1"/>
            </p:cNvSpPr>
            <p:nvPr/>
          </p:nvSpPr>
          <p:spPr bwMode="auto">
            <a:xfrm>
              <a:off x="11911802" y="1538097"/>
              <a:ext cx="612000" cy="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580" name="Line 44"/>
            <p:cNvSpPr>
              <a:spLocks noChangeShapeType="1"/>
            </p:cNvSpPr>
            <p:nvPr/>
          </p:nvSpPr>
          <p:spPr bwMode="auto">
            <a:xfrm>
              <a:off x="10860865" y="1703106"/>
              <a:ext cx="113650" cy="22730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582" name="AutoShape 47"/>
            <p:cNvSpPr>
              <a:spLocks noChangeArrowheads="1"/>
            </p:cNvSpPr>
            <p:nvPr/>
          </p:nvSpPr>
          <p:spPr bwMode="auto">
            <a:xfrm rot="9198024">
              <a:off x="10939178" y="1915607"/>
              <a:ext cx="227300" cy="151254"/>
            </a:xfrm>
            <a:prstGeom prst="triangle">
              <a:avLst>
                <a:gd name="adj" fmla="val 50000"/>
              </a:avLst>
            </a:prstGeom>
            <a:noFill/>
            <a:ln w="25400">
              <a:solidFill>
                <a:srgbClr val="0033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endParaRPr lang="fr-FR" altLang="fr-FR" sz="1200"/>
            </a:p>
          </p:txBody>
        </p:sp>
        <p:sp>
          <p:nvSpPr>
            <p:cNvPr id="583" name="Text Box 86"/>
            <p:cNvSpPr txBox="1">
              <a:spLocks noChangeArrowheads="1"/>
            </p:cNvSpPr>
            <p:nvPr/>
          </p:nvSpPr>
          <p:spPr bwMode="auto">
            <a:xfrm>
              <a:off x="10492095" y="1831138"/>
              <a:ext cx="1788587" cy="9970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134682" tIns="67341" rIns="134682" bIns="67341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Aft>
                  <a:spcPts val="0"/>
                </a:spcAft>
              </a:pPr>
              <a:r>
                <a:rPr lang="fr-FR" altLang="fr-FR" sz="1200" b="1" dirty="0">
                  <a:solidFill>
                    <a:srgbClr val="003366"/>
                  </a:solidFill>
                </a:rPr>
                <a:t>Pertes</a:t>
              </a:r>
            </a:p>
            <a:p>
              <a:pPr algn="ctr" eaLnBrk="1" hangingPunct="1">
                <a:spcAft>
                  <a:spcPts val="0"/>
                </a:spcAft>
              </a:pPr>
              <a:r>
                <a:rPr lang="fr-FR" altLang="fr-FR" sz="1200" b="1" dirty="0">
                  <a:solidFill>
                    <a:srgbClr val="003366"/>
                  </a:solidFill>
                </a:rPr>
                <a:t>d’excitation</a:t>
              </a:r>
            </a:p>
            <a:p>
              <a:pPr algn="ctr" eaLnBrk="1" hangingPunct="1"/>
              <a:r>
                <a:rPr lang="fr-FR" altLang="fr-FR" sz="1100" dirty="0">
                  <a:solidFill>
                    <a:srgbClr val="003366"/>
                  </a:solidFill>
                </a:rPr>
                <a:t>Si l’inducteur de résistance </a:t>
              </a:r>
              <a:r>
                <a:rPr lang="fr-FR" altLang="fr-FR" sz="1100" dirty="0" err="1">
                  <a:solidFill>
                    <a:srgbClr val="003366"/>
                  </a:solidFill>
                </a:rPr>
                <a:t>R</a:t>
              </a:r>
              <a:r>
                <a:rPr lang="fr-FR" altLang="fr-FR" sz="1100" baseline="-25000" dirty="0" err="1">
                  <a:solidFill>
                    <a:srgbClr val="003366"/>
                  </a:solidFill>
                </a:rPr>
                <a:t>e</a:t>
              </a:r>
              <a:r>
                <a:rPr lang="fr-FR" altLang="fr-FR" sz="1100" dirty="0">
                  <a:solidFill>
                    <a:srgbClr val="003366"/>
                  </a:solidFill>
                </a:rPr>
                <a:t> est bobiné</a:t>
              </a:r>
              <a:endParaRPr lang="fr-FR" altLang="fr-FR" sz="1100" dirty="0"/>
            </a:p>
          </p:txBody>
        </p:sp>
        <p:graphicFrame>
          <p:nvGraphicFramePr>
            <p:cNvPr id="58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2080142"/>
                </p:ext>
              </p:extLst>
            </p:nvPr>
          </p:nvGraphicFramePr>
          <p:xfrm>
            <a:off x="10948275" y="1158442"/>
            <a:ext cx="964098" cy="4350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80" name="Equation" r:id="rId18" imgW="863225" imgH="431613" progId="">
                    <p:embed/>
                  </p:oleObj>
                </mc:Choice>
                <mc:Fallback>
                  <p:oleObj name="Equation" r:id="rId18" imgW="863225" imgH="431613" progId="">
                    <p:embed/>
                    <p:pic>
                      <p:nvPicPr>
                        <p:cNvPr id="0" name="Picture 12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48275" y="1158442"/>
                          <a:ext cx="964098" cy="4350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6" name="Line 36"/>
            <p:cNvSpPr>
              <a:spLocks noChangeShapeType="1"/>
            </p:cNvSpPr>
            <p:nvPr/>
          </p:nvSpPr>
          <p:spPr bwMode="auto">
            <a:xfrm>
              <a:off x="10320937" y="1705230"/>
              <a:ext cx="540035" cy="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587" name="Line 55"/>
            <p:cNvSpPr>
              <a:spLocks noChangeShapeType="1"/>
            </p:cNvSpPr>
            <p:nvPr/>
          </p:nvSpPr>
          <p:spPr bwMode="auto">
            <a:xfrm flipH="1">
              <a:off x="10892419" y="1098540"/>
              <a:ext cx="418" cy="60669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588" name="Line 35"/>
            <p:cNvSpPr>
              <a:spLocks noChangeShapeType="1"/>
            </p:cNvSpPr>
            <p:nvPr/>
          </p:nvSpPr>
          <p:spPr bwMode="auto">
            <a:xfrm>
              <a:off x="10652569" y="1098540"/>
              <a:ext cx="1328678" cy="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590" name="Text Box 87"/>
            <p:cNvSpPr txBox="1">
              <a:spLocks noChangeArrowheads="1"/>
            </p:cNvSpPr>
            <p:nvPr/>
          </p:nvSpPr>
          <p:spPr bwMode="auto">
            <a:xfrm>
              <a:off x="8560594" y="2347385"/>
              <a:ext cx="2169319" cy="58549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134682" tIns="67341" rIns="134682" bIns="67341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/>
              <a:r>
                <a:rPr lang="fr-FR" altLang="fr-FR" sz="1200" b="1" dirty="0">
                  <a:solidFill>
                    <a:srgbClr val="003366"/>
                  </a:solidFill>
                </a:rPr>
                <a:t>Pertes Joule</a:t>
              </a:r>
            </a:p>
            <a:p>
              <a:pPr algn="ctr" eaLnBrk="1" hangingPunct="1"/>
              <a:r>
                <a:rPr lang="fr-FR" altLang="fr-FR" sz="1200" b="1" dirty="0">
                  <a:solidFill>
                    <a:srgbClr val="003366"/>
                  </a:solidFill>
                </a:rPr>
                <a:t>statoriques</a:t>
              </a:r>
            </a:p>
            <a:p>
              <a:pPr eaLnBrk="1" hangingPunct="1"/>
              <a:r>
                <a:rPr lang="fr-FR" altLang="fr-FR" sz="1100" dirty="0">
                  <a:solidFill>
                    <a:srgbClr val="003366"/>
                  </a:solidFill>
                </a:rPr>
                <a:t>R est la résistance statorique</a:t>
              </a:r>
              <a:endParaRPr lang="fr-FR" altLang="fr-FR" sz="1100" dirty="0"/>
            </a:p>
          </p:txBody>
        </p:sp>
        <p:graphicFrame>
          <p:nvGraphicFramePr>
            <p:cNvPr id="591" name="Object 1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4417012"/>
                </p:ext>
              </p:extLst>
            </p:nvPr>
          </p:nvGraphicFramePr>
          <p:xfrm>
            <a:off x="9370189" y="2214608"/>
            <a:ext cx="620907" cy="234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81" name="Equation" r:id="rId20" imgW="634725" imgH="241195" progId="">
                    <p:embed/>
                  </p:oleObj>
                </mc:Choice>
                <mc:Fallback>
                  <p:oleObj name="Equation" r:id="rId20" imgW="634725" imgH="241195" progId="">
                    <p:embed/>
                    <p:pic>
                      <p:nvPicPr>
                        <p:cNvPr id="0" name="Picture 12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0189" y="2214608"/>
                          <a:ext cx="620907" cy="2345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2" name="Line 130"/>
            <p:cNvSpPr>
              <a:spLocks noChangeShapeType="1"/>
            </p:cNvSpPr>
            <p:nvPr/>
          </p:nvSpPr>
          <p:spPr bwMode="auto">
            <a:xfrm>
              <a:off x="9657274" y="1871526"/>
              <a:ext cx="113650" cy="22730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593" name="Line 131"/>
            <p:cNvSpPr>
              <a:spLocks noChangeShapeType="1"/>
            </p:cNvSpPr>
            <p:nvPr/>
          </p:nvSpPr>
          <p:spPr bwMode="auto">
            <a:xfrm>
              <a:off x="9732483" y="1787960"/>
              <a:ext cx="132870" cy="26574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594" name="AutoShape 132"/>
            <p:cNvSpPr>
              <a:spLocks noChangeArrowheads="1"/>
            </p:cNvSpPr>
            <p:nvPr/>
          </p:nvSpPr>
          <p:spPr bwMode="auto">
            <a:xfrm rot="9198024">
              <a:off x="9732483" y="2068742"/>
              <a:ext cx="227300" cy="151255"/>
            </a:xfrm>
            <a:prstGeom prst="triangle">
              <a:avLst>
                <a:gd name="adj" fmla="val 50000"/>
              </a:avLst>
            </a:prstGeom>
            <a:noFill/>
            <a:ln w="25400">
              <a:solidFill>
                <a:srgbClr val="0033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endParaRPr lang="fr-FR" altLang="fr-FR" sz="1200"/>
            </a:p>
          </p:txBody>
        </p:sp>
        <p:sp>
          <p:nvSpPr>
            <p:cNvPr id="595" name="Line 139"/>
            <p:cNvSpPr>
              <a:spLocks noChangeShapeType="1"/>
            </p:cNvSpPr>
            <p:nvPr/>
          </p:nvSpPr>
          <p:spPr bwMode="auto">
            <a:xfrm>
              <a:off x="9731495" y="1792139"/>
              <a:ext cx="511661" cy="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598" name="Line 128"/>
            <p:cNvSpPr>
              <a:spLocks noChangeShapeType="1"/>
            </p:cNvSpPr>
            <p:nvPr/>
          </p:nvSpPr>
          <p:spPr bwMode="auto">
            <a:xfrm>
              <a:off x="9407412" y="1097704"/>
              <a:ext cx="1245158" cy="836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599" name="Line 129"/>
            <p:cNvSpPr>
              <a:spLocks noChangeShapeType="1"/>
            </p:cNvSpPr>
            <p:nvPr/>
          </p:nvSpPr>
          <p:spPr bwMode="auto">
            <a:xfrm>
              <a:off x="9407412" y="1866664"/>
              <a:ext cx="249863" cy="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600" name="Line 144"/>
            <p:cNvSpPr>
              <a:spLocks noChangeShapeType="1"/>
            </p:cNvSpPr>
            <p:nvPr/>
          </p:nvSpPr>
          <p:spPr bwMode="auto">
            <a:xfrm>
              <a:off x="9582081" y="1101882"/>
              <a:ext cx="0" cy="75801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601" name="Text Box 33"/>
            <p:cNvSpPr txBox="1">
              <a:spLocks noChangeArrowheads="1"/>
            </p:cNvSpPr>
            <p:nvPr/>
          </p:nvSpPr>
          <p:spPr bwMode="auto">
            <a:xfrm>
              <a:off x="8560594" y="1008850"/>
              <a:ext cx="944457" cy="6536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134682" tIns="67341" rIns="134682" bIns="67341"/>
            <a:lstStyle/>
            <a:p>
              <a:pPr algn="ctr"/>
              <a:r>
                <a:rPr lang="fr-FR" sz="1200" b="1" dirty="0">
                  <a:solidFill>
                    <a:srgbClr val="003366"/>
                  </a:solidFill>
                  <a:latin typeface="Calibri" panose="020F0502020204030204" pitchFamily="34" charset="0"/>
                </a:rPr>
                <a:t>Puissance  électrique absorbée</a:t>
              </a:r>
            </a:p>
          </p:txBody>
        </p:sp>
        <p:graphicFrame>
          <p:nvGraphicFramePr>
            <p:cNvPr id="602" name="Objet 60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8907570"/>
                </p:ext>
              </p:extLst>
            </p:nvPr>
          </p:nvGraphicFramePr>
          <p:xfrm>
            <a:off x="8663450" y="1586060"/>
            <a:ext cx="899714" cy="262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82" name="Equation" r:id="rId22" imgW="787400" imgH="228600" progId="">
                    <p:embed/>
                  </p:oleObj>
                </mc:Choice>
                <mc:Fallback>
                  <p:oleObj name="Equation" r:id="rId22" imgW="787400" imgH="228600" progId="">
                    <p:embed/>
                    <p:pic>
                      <p:nvPicPr>
                        <p:cNvPr id="0" name="Picture 12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63450" y="1586060"/>
                          <a:ext cx="899714" cy="2623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" name="Line 38"/>
            <p:cNvSpPr>
              <a:spLocks noChangeShapeType="1"/>
            </p:cNvSpPr>
            <p:nvPr/>
          </p:nvSpPr>
          <p:spPr bwMode="auto">
            <a:xfrm>
              <a:off x="11830685" y="1618047"/>
              <a:ext cx="113650" cy="22730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605" name="Line 41"/>
            <p:cNvSpPr>
              <a:spLocks noChangeShapeType="1"/>
            </p:cNvSpPr>
            <p:nvPr/>
          </p:nvSpPr>
          <p:spPr bwMode="auto">
            <a:xfrm>
              <a:off x="11905894" y="1534481"/>
              <a:ext cx="132870" cy="26574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606" name="Line 42"/>
            <p:cNvSpPr>
              <a:spLocks noChangeShapeType="1"/>
            </p:cNvSpPr>
            <p:nvPr/>
          </p:nvSpPr>
          <p:spPr bwMode="auto">
            <a:xfrm>
              <a:off x="10919958" y="1621663"/>
              <a:ext cx="924870" cy="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607" name="AutoShape 43"/>
            <p:cNvSpPr>
              <a:spLocks noChangeArrowheads="1"/>
            </p:cNvSpPr>
            <p:nvPr/>
          </p:nvSpPr>
          <p:spPr bwMode="auto">
            <a:xfrm rot="9198024">
              <a:off x="11905894" y="1815263"/>
              <a:ext cx="227300" cy="151254"/>
            </a:xfrm>
            <a:prstGeom prst="triangle">
              <a:avLst>
                <a:gd name="adj" fmla="val 50000"/>
              </a:avLst>
            </a:prstGeom>
            <a:noFill/>
            <a:ln w="25400">
              <a:solidFill>
                <a:srgbClr val="0033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endParaRPr lang="fr-FR" altLang="fr-FR" sz="1200"/>
            </a:p>
          </p:txBody>
        </p:sp>
        <p:sp>
          <p:nvSpPr>
            <p:cNvPr id="608" name="Text Box 141"/>
            <p:cNvSpPr txBox="1">
              <a:spLocks noChangeArrowheads="1"/>
            </p:cNvSpPr>
            <p:nvPr/>
          </p:nvSpPr>
          <p:spPr bwMode="auto">
            <a:xfrm>
              <a:off x="11693310" y="1895659"/>
              <a:ext cx="1076063" cy="4969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134682" tIns="67341" rIns="134682" bIns="67341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/>
              <a:r>
                <a:rPr lang="fr-FR" altLang="fr-FR" sz="1200" b="1" dirty="0">
                  <a:solidFill>
                    <a:srgbClr val="003366"/>
                  </a:solidFill>
                </a:rPr>
                <a:t>Pertes mécaniques</a:t>
              </a:r>
              <a:endParaRPr lang="fr-FR" altLang="fr-FR" sz="1200" dirty="0"/>
            </a:p>
          </p:txBody>
        </p:sp>
        <p:graphicFrame>
          <p:nvGraphicFramePr>
            <p:cNvPr id="609" name="Objet 60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4539996"/>
                </p:ext>
              </p:extLst>
            </p:nvPr>
          </p:nvGraphicFramePr>
          <p:xfrm>
            <a:off x="12228891" y="2294959"/>
            <a:ext cx="195639" cy="272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83" name="Equation" r:id="rId24" imgW="165028" imgH="228501" progId="">
                    <p:embed/>
                  </p:oleObj>
                </mc:Choice>
                <mc:Fallback>
                  <p:oleObj name="Equation" r:id="rId24" imgW="165028" imgH="228501" progId="">
                    <p:embed/>
                    <p:pic>
                      <p:nvPicPr>
                        <p:cNvPr id="0" name="Picture 12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28891" y="2294959"/>
                          <a:ext cx="195639" cy="2724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1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6554885"/>
                </p:ext>
              </p:extLst>
            </p:nvPr>
          </p:nvGraphicFramePr>
          <p:xfrm>
            <a:off x="12086691" y="1193800"/>
            <a:ext cx="693738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84" name="Equation" r:id="rId26" imgW="596900" imgH="228600" progId="">
                    <p:embed/>
                  </p:oleObj>
                </mc:Choice>
                <mc:Fallback>
                  <p:oleObj name="Equation" r:id="rId26" imgW="596900" imgH="228600" progId="">
                    <p:embed/>
                    <p:pic>
                      <p:nvPicPr>
                        <p:cNvPr id="0" name="Picture 12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86691" y="1193800"/>
                          <a:ext cx="693738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3" name="Line 54"/>
            <p:cNvSpPr>
              <a:spLocks noChangeShapeType="1"/>
            </p:cNvSpPr>
            <p:nvPr/>
          </p:nvSpPr>
          <p:spPr bwMode="auto">
            <a:xfrm>
              <a:off x="12059388" y="1113580"/>
              <a:ext cx="0" cy="41699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615" name="Line 52"/>
            <p:cNvSpPr>
              <a:spLocks noChangeShapeType="1"/>
            </p:cNvSpPr>
            <p:nvPr/>
          </p:nvSpPr>
          <p:spPr bwMode="auto">
            <a:xfrm>
              <a:off x="11971524" y="1098466"/>
              <a:ext cx="542116" cy="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617" name="Text Box 145"/>
            <p:cNvSpPr txBox="1">
              <a:spLocks noChangeArrowheads="1"/>
            </p:cNvSpPr>
            <p:nvPr/>
          </p:nvSpPr>
          <p:spPr bwMode="auto">
            <a:xfrm>
              <a:off x="9775225" y="2039147"/>
              <a:ext cx="1320344" cy="48725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134682" tIns="67341" rIns="134682" bIns="67341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/>
              <a:r>
                <a:rPr lang="fr-FR" altLang="fr-FR" sz="1200" b="1" dirty="0">
                  <a:solidFill>
                    <a:srgbClr val="003366"/>
                  </a:solidFill>
                </a:rPr>
                <a:t>Pertes fers ou magnétiques</a:t>
              </a:r>
              <a:endParaRPr lang="fr-FR" altLang="fr-FR" sz="1200" baseline="-25000" dirty="0"/>
            </a:p>
          </p:txBody>
        </p:sp>
        <p:sp>
          <p:nvSpPr>
            <p:cNvPr id="618" name="Line 136"/>
            <p:cNvSpPr>
              <a:spLocks noChangeShapeType="1"/>
            </p:cNvSpPr>
            <p:nvPr/>
          </p:nvSpPr>
          <p:spPr bwMode="auto">
            <a:xfrm>
              <a:off x="10245728" y="1788796"/>
              <a:ext cx="86761" cy="189277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619" name="Line 137"/>
            <p:cNvSpPr>
              <a:spLocks noChangeShapeType="1"/>
            </p:cNvSpPr>
            <p:nvPr/>
          </p:nvSpPr>
          <p:spPr bwMode="auto">
            <a:xfrm>
              <a:off x="10320937" y="1705230"/>
              <a:ext cx="114187" cy="22730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620" name="AutoShape 138"/>
            <p:cNvSpPr>
              <a:spLocks noChangeArrowheads="1"/>
            </p:cNvSpPr>
            <p:nvPr/>
          </p:nvSpPr>
          <p:spPr bwMode="auto">
            <a:xfrm rot="9198024">
              <a:off x="10307327" y="1945447"/>
              <a:ext cx="227300" cy="151254"/>
            </a:xfrm>
            <a:prstGeom prst="triangle">
              <a:avLst>
                <a:gd name="adj" fmla="val 50000"/>
              </a:avLst>
            </a:prstGeom>
            <a:noFill/>
            <a:ln w="25400">
              <a:solidFill>
                <a:srgbClr val="0033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endParaRPr lang="fr-FR" altLang="fr-FR" sz="1200"/>
            </a:p>
          </p:txBody>
        </p:sp>
        <p:graphicFrame>
          <p:nvGraphicFramePr>
            <p:cNvPr id="621" name="Object 1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8609586"/>
                </p:ext>
              </p:extLst>
            </p:nvPr>
          </p:nvGraphicFramePr>
          <p:xfrm>
            <a:off x="10285464" y="2426113"/>
            <a:ext cx="197158" cy="2527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85" name="Equation" r:id="rId28" imgW="177646" imgH="228402" progId="">
                    <p:embed/>
                  </p:oleObj>
                </mc:Choice>
                <mc:Fallback>
                  <p:oleObj name="Equation" r:id="rId28" imgW="177646" imgH="228402" progId="">
                    <p:embed/>
                    <p:pic>
                      <p:nvPicPr>
                        <p:cNvPr id="0" name="Picture 12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85464" y="2426113"/>
                          <a:ext cx="197158" cy="2527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4" name="Objet 6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8084737"/>
                </p:ext>
              </p:extLst>
            </p:nvPr>
          </p:nvGraphicFramePr>
          <p:xfrm>
            <a:off x="10570748" y="2915600"/>
            <a:ext cx="770306" cy="262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86" name="Equation" r:id="rId30" imgW="672808" imgH="228501" progId="">
                    <p:embed/>
                  </p:oleObj>
                </mc:Choice>
                <mc:Fallback>
                  <p:oleObj name="Equation" r:id="rId30" imgW="672808" imgH="228501" progId="">
                    <p:embed/>
                    <p:pic>
                      <p:nvPicPr>
                        <p:cNvPr id="0" name="Picture 12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70748" y="2915600"/>
                          <a:ext cx="770306" cy="2623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5" name="Text Box 141"/>
            <p:cNvSpPr txBox="1">
              <a:spLocks noChangeArrowheads="1"/>
            </p:cNvSpPr>
            <p:nvPr/>
          </p:nvSpPr>
          <p:spPr bwMode="auto">
            <a:xfrm>
              <a:off x="9267009" y="2874523"/>
              <a:ext cx="1406125" cy="3480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134682" tIns="67341" rIns="134682" bIns="67341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/>
              <a:r>
                <a:rPr lang="fr-FR" altLang="fr-FR" sz="1200" b="1" dirty="0">
                  <a:solidFill>
                    <a:srgbClr val="003366"/>
                  </a:solidFill>
                </a:rPr>
                <a:t>Pertes collectives</a:t>
              </a:r>
              <a:endParaRPr lang="fr-FR" altLang="fr-FR" sz="1200" dirty="0"/>
            </a:p>
          </p:txBody>
        </p:sp>
        <p:sp>
          <p:nvSpPr>
            <p:cNvPr id="581" name="Line 45"/>
            <p:cNvSpPr>
              <a:spLocks noChangeShapeType="1"/>
            </p:cNvSpPr>
            <p:nvPr/>
          </p:nvSpPr>
          <p:spPr bwMode="auto">
            <a:xfrm>
              <a:off x="10919958" y="1625150"/>
              <a:ext cx="132870" cy="265740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34682" tIns="67341" rIns="134682" bIns="67341"/>
            <a:lstStyle/>
            <a:p>
              <a:endParaRPr lang="fr-FR" sz="1200">
                <a:latin typeface="Calibri" panose="020F0502020204030204" pitchFamily="34" charset="0"/>
              </a:endParaRPr>
            </a:p>
          </p:txBody>
        </p:sp>
        <p:sp>
          <p:nvSpPr>
            <p:cNvPr id="176" name="Parenthèse fermante 175"/>
            <p:cNvSpPr/>
            <p:nvPr/>
          </p:nvSpPr>
          <p:spPr bwMode="auto">
            <a:xfrm rot="5400000">
              <a:off x="11253360" y="1827015"/>
              <a:ext cx="218894" cy="1949398"/>
            </a:xfrm>
            <a:prstGeom prst="rightBracket">
              <a:avLst>
                <a:gd name="adj" fmla="val 113419"/>
              </a:avLst>
            </a:prstGeom>
            <a:noFill/>
            <a:ln w="25400" cap="flat" cmpd="sng" algn="ctr">
              <a:solidFill>
                <a:srgbClr val="00337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cxnSp>
          <p:nvCxnSpPr>
            <p:cNvPr id="179" name="Connecteur droit 178"/>
            <p:cNvCxnSpPr/>
            <p:nvPr/>
          </p:nvCxnSpPr>
          <p:spPr bwMode="auto">
            <a:xfrm flipV="1">
              <a:off x="12336247" y="2596040"/>
              <a:ext cx="0" cy="100625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337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aphicFrame>
          <p:nvGraphicFramePr>
            <p:cNvPr id="579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7311484"/>
                </p:ext>
              </p:extLst>
            </p:nvPr>
          </p:nvGraphicFramePr>
          <p:xfrm>
            <a:off x="10735764" y="2617158"/>
            <a:ext cx="1283780" cy="288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87" name="Equation" r:id="rId32" imgW="990170" imgH="241195" progId="">
                    <p:embed/>
                  </p:oleObj>
                </mc:Choice>
                <mc:Fallback>
                  <p:oleObj name="Equation" r:id="rId32" imgW="990170" imgH="241195" progId="">
                    <p:embed/>
                    <p:pic>
                      <p:nvPicPr>
                        <p:cNvPr id="0" name="Picture 12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35764" y="2617158"/>
                          <a:ext cx="1283780" cy="2885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6" name="ZoneTexte 43"/>
          <p:cNvSpPr txBox="1"/>
          <p:nvPr/>
        </p:nvSpPr>
        <p:spPr>
          <a:xfrm>
            <a:off x="4558640" y="7134641"/>
            <a:ext cx="39996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  <a:tab pos="1168400" algn="l"/>
              </a:tabLs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fr-FR" sz="1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  <a:sym typeface="Symbol"/>
              </a:rPr>
              <a:t></a:t>
            </a:r>
            <a:r>
              <a:rPr lang="fr-FR" sz="1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: déphasage entre le courant </a:t>
            </a:r>
            <a:r>
              <a:rPr lang="fr-FR" sz="1400" b="1" u="sng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I</a:t>
            </a:r>
            <a:r>
              <a:rPr lang="fr-FR" sz="1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et la fem </a:t>
            </a:r>
            <a:r>
              <a:rPr lang="fr-FR" sz="1400" b="1" u="sng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</a:t>
            </a:r>
            <a:endParaRPr lang="fr-FR" sz="1400" b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  <a:p>
            <a:pPr algn="just" eaLnBrk="1" hangingPunct="1"/>
            <a:r>
              <a:rPr lang="fr-FR" sz="1400" dirty="0">
                <a:latin typeface="Calibri" pitchFamily="34" charset="0"/>
                <a:cs typeface="Calibri" pitchFamily="34" charset="0"/>
                <a:sym typeface="Symbol"/>
              </a:rPr>
              <a:t> est essentiel pour l’expression du couple électromagnétique C</a:t>
            </a:r>
            <a:r>
              <a:rPr lang="fr-FR" sz="1400" baseline="-25000" dirty="0">
                <a:latin typeface="Calibri" pitchFamily="34" charset="0"/>
                <a:cs typeface="Calibri" pitchFamily="34" charset="0"/>
                <a:sym typeface="Symbol"/>
              </a:rPr>
              <a:t>em</a:t>
            </a:r>
          </a:p>
          <a:p>
            <a:pPr lvl="0" algn="just" eaLnBrk="1" hangingPunct="1"/>
            <a:r>
              <a:rPr lang="fr-FR" sz="1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  <a:sym typeface="Symbol"/>
              </a:rPr>
              <a:t></a:t>
            </a:r>
            <a:r>
              <a:rPr lang="fr-FR" sz="1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: déphasage entre le courant </a:t>
            </a:r>
            <a:r>
              <a:rPr lang="fr-FR" sz="1400" b="1" u="sng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I</a:t>
            </a:r>
            <a:r>
              <a:rPr lang="fr-FR" sz="1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et la tension </a:t>
            </a:r>
            <a:r>
              <a:rPr lang="fr-FR" sz="1400" b="1" u="sng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</a:t>
            </a:r>
            <a:endParaRPr lang="fr-FR" sz="1400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  <a:p>
            <a:pPr lvl="0" algn="just" eaLnBrk="1" hangingPunct="1"/>
            <a:r>
              <a:rPr lang="fr-FR" sz="1400" b="1" dirty="0">
                <a:latin typeface="Calibri" pitchFamily="34" charset="0"/>
                <a:cs typeface="Calibri" pitchFamily="34" charset="0"/>
                <a:sym typeface="Symbol"/>
              </a:rPr>
              <a:t></a:t>
            </a:r>
            <a:r>
              <a:rPr lang="fr-FR" sz="1400" dirty="0">
                <a:latin typeface="Calibri" pitchFamily="34" charset="0"/>
                <a:cs typeface="Calibri" pitchFamily="34" charset="0"/>
              </a:rPr>
              <a:t> : Angle interne, angle de </a:t>
            </a:r>
            <a:r>
              <a:rPr lang="fr-FR" sz="1400" u="sng" dirty="0">
                <a:latin typeface="Calibri" pitchFamily="34" charset="0"/>
                <a:cs typeface="Calibri" pitchFamily="34" charset="0"/>
              </a:rPr>
              <a:t>E</a:t>
            </a:r>
            <a:r>
              <a:rPr lang="fr-FR" sz="1400" dirty="0">
                <a:latin typeface="Calibri" pitchFamily="34" charset="0"/>
                <a:cs typeface="Calibri" pitchFamily="34" charset="0"/>
              </a:rPr>
              <a:t> vers </a:t>
            </a:r>
            <a:r>
              <a:rPr lang="fr-FR" sz="1400" u="sng" dirty="0">
                <a:latin typeface="Calibri" pitchFamily="34" charset="0"/>
                <a:cs typeface="Calibri" pitchFamily="34" charset="0"/>
              </a:rPr>
              <a:t>V</a:t>
            </a:r>
          </a:p>
          <a:p>
            <a:pPr lvl="0" algn="just" eaLnBrk="1" hangingPunct="1"/>
            <a:r>
              <a:rPr lang="fr-FR" sz="1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  <a:sym typeface="Symbol"/>
              </a:rPr>
              <a:t> : Angle géométrique entre </a:t>
            </a:r>
            <a:r>
              <a:rPr lang="fr-FR" sz="1400" b="1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  <a:sym typeface="Symbol"/>
              </a:rPr>
              <a:t>B</a:t>
            </a:r>
            <a:r>
              <a:rPr lang="fr-FR" sz="1400" b="1" baseline="-25000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  <a:sym typeface="Symbol"/>
              </a:rPr>
              <a:t>r</a:t>
            </a:r>
            <a:r>
              <a:rPr lang="fr-FR" sz="1400" b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  <a:sym typeface="Symbol"/>
              </a:rPr>
              <a:t> et B</a:t>
            </a:r>
            <a:r>
              <a:rPr lang="fr-FR" sz="1400" b="1" baseline="-2500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  <a:sym typeface="Symbol"/>
              </a:rPr>
              <a:t>s</a:t>
            </a:r>
          </a:p>
          <a:p>
            <a:pPr lvl="0" algn="just" eaLnBrk="1" hangingPunct="1"/>
            <a:r>
              <a:rPr lang="fr-FR" sz="1400" dirty="0">
                <a:latin typeface="Calibri" pitchFamily="34" charset="0"/>
                <a:cs typeface="Calibri" pitchFamily="34" charset="0"/>
                <a:sym typeface="Symbol"/>
              </a:rPr>
              <a:t> est caractéristique de l’état de charge et du mode de fonctionnement</a:t>
            </a:r>
            <a:endParaRPr lang="fr-FR" altLang="fr-FR" sz="1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4469741" y="3002866"/>
            <a:ext cx="39979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1400" dirty="0">
                <a:latin typeface="Calibri" pitchFamily="34" charset="0"/>
              </a:rPr>
              <a:t>C</a:t>
            </a:r>
            <a:r>
              <a:rPr lang="fr-FR" altLang="fr-FR" sz="1400" baseline="-25000" dirty="0">
                <a:latin typeface="Calibri" pitchFamily="34" charset="0"/>
              </a:rPr>
              <a:t>r</a:t>
            </a:r>
            <a:r>
              <a:rPr lang="fr-FR" altLang="fr-FR" sz="1400" dirty="0">
                <a:latin typeface="Calibri" pitchFamily="34" charset="0"/>
              </a:rPr>
              <a:t> couple résistant      C</a:t>
            </a:r>
            <a:r>
              <a:rPr lang="fr-FR" altLang="fr-FR" sz="1400" baseline="-25000" dirty="0">
                <a:latin typeface="Calibri" pitchFamily="34" charset="0"/>
              </a:rPr>
              <a:t>p</a:t>
            </a:r>
            <a:r>
              <a:rPr lang="fr-FR" altLang="fr-FR" sz="1400" dirty="0">
                <a:latin typeface="Calibri" pitchFamily="34" charset="0"/>
              </a:rPr>
              <a:t> couple de perte     C</a:t>
            </a:r>
            <a:r>
              <a:rPr lang="fr-FR" altLang="fr-FR" sz="1400" baseline="-25000" dirty="0">
                <a:latin typeface="Calibri" pitchFamily="34" charset="0"/>
              </a:rPr>
              <a:t>u</a:t>
            </a:r>
            <a:r>
              <a:rPr lang="fr-FR" altLang="fr-FR" sz="1400" dirty="0">
                <a:latin typeface="Calibri" pitchFamily="34" charset="0"/>
              </a:rPr>
              <a:t> c. utile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94354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3a77ebfda5d2ceab15fb771fdb149690597350c"/>
</p:tagLst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2795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2795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3879</TotalTime>
  <Words>645</Words>
  <Application>Microsoft Office PowerPoint</Application>
  <PresentationFormat>A3 (297 x 420 mm)</PresentationFormat>
  <Paragraphs>86</Paragraphs>
  <Slides>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Symbol</vt:lpstr>
      <vt:lpstr>Modèle par défaut</vt:lpstr>
      <vt:lpstr>Picture</vt:lpstr>
      <vt:lpstr>Equation</vt:lpstr>
      <vt:lpstr>Présentation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jack</dc:creator>
  <cp:lastModifiedBy>Thomas Lusseau</cp:lastModifiedBy>
  <cp:revision>282</cp:revision>
  <cp:lastPrinted>2017-08-23T21:22:09Z</cp:lastPrinted>
  <dcterms:created xsi:type="dcterms:W3CDTF">2008-03-06T09:11:14Z</dcterms:created>
  <dcterms:modified xsi:type="dcterms:W3CDTF">2025-03-30T19:02:11Z</dcterms:modified>
</cp:coreProperties>
</file>